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84448" y="2450592"/>
            <a:ext cx="62179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08FC7"/>
                </a:solidFill>
                <a:latin typeface="Microsoft JhengHei"/>
              </a:rPr>
              <a:t>10 月台股產業投資策略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3965752" y="3026664"/>
            <a:ext cx="4260189" cy="2011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91456" y="3264408"/>
            <a:ext cx="41148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00000"/>
                </a:solidFill>
                <a:latin typeface="Microsoft JhengHei"/>
              </a:rPr>
              <a:t>富邦投顧 廖顯毅、劉立中、黃大仁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7152" y="3419856"/>
            <a:ext cx="11887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>
                <a:solidFill>
                  <a:srgbClr val="3B99CB"/>
                </a:solidFill>
                <a:latin typeface="Microsoft JhengHei"/>
              </a:rPr>
              <a:t>2026.10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22608" y="6510528"/>
            <a:ext cx="38404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_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65960" y="169164"/>
            <a:ext cx="10222992" cy="43891"/>
          </a:xfrm>
          <a:prstGeom prst="rect">
            <a:avLst/>
          </a:prstGeom>
          <a:solidFill>
            <a:srgbClr val="008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2_Image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68" y="216293"/>
            <a:ext cx="517906" cy="537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7430" y="266700"/>
            <a:ext cx="105156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008FC7"/>
                </a:solidFill>
                <a:latin typeface="Microsoft JhengHei"/>
              </a:rPr>
              <a:t>經濟動能強勁 台股挑戰五萬點大關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50976"/>
            <a:ext cx="107899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>
                <a:solidFill>
                  <a:srgbClr val="00829B"/>
                </a:solidFill>
                <a:latin typeface="Microsoft JhengHei"/>
              </a:rPr>
              <a:t>• </a:t>
            </a:r>
            <a:r>
              <a:rPr sz="1550">
                <a:solidFill>
                  <a:srgbClr val="282828"/>
                </a:solidFill>
                <a:latin typeface="Microsoft JhengHei"/>
              </a:rPr>
              <a:t>台灣8月外銷接單創歷史新高突破千億美元（年增71.4%），前8月年增率達55%，全年接單金額可望達到1兆美元；8月景氣對策信號有望挑戰連九紅紀錄。</a:t>
            </a:r>
          </a:p>
          <a:p>
            <a:pPr algn="l">
              <a:spcAft>
                <a:spcPts val="500"/>
              </a:spcAft>
            </a:pPr>
            <a:r>
              <a:rPr sz="1450" b="1">
                <a:solidFill>
                  <a:srgbClr val="00829B"/>
                </a:solidFill>
                <a:latin typeface="Microsoft JhengHei"/>
              </a:rPr>
              <a:t>• </a:t>
            </a:r>
            <a:r>
              <a:rPr sz="1550">
                <a:solidFill>
                  <a:srgbClr val="282828"/>
                </a:solidFill>
                <a:latin typeface="Microsoft JhengHei"/>
              </a:rPr>
              <a:t>聯準會9月升息1碼並上修利率中值至4.1%，美10年債殖利率突破5%；惟美股Q3科技股獲利預估年增64.9%形成估值支撐，政策利多助攻下台股有望挑戰五萬大關。</a:t>
            </a:r>
          </a:p>
        </p:txBody>
      </p:sp>
      <p:pic>
        <p:nvPicPr>
          <p:cNvPr id="7" name="Picture 6" descr="chart_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304288"/>
            <a:ext cx="5486400" cy="4069080"/>
          </a:xfrm>
          <a:prstGeom prst="rect">
            <a:avLst/>
          </a:prstGeom>
        </p:spPr>
      </p:pic>
      <p:pic>
        <p:nvPicPr>
          <p:cNvPr id="8" name="Picture 7" descr="chart_2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304288"/>
            <a:ext cx="5486400" cy="4069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65960" y="6565392"/>
            <a:ext cx="60350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  <a:latin typeface="Microsoft JhengHei"/>
              </a:rPr>
              <a:t>本文內容僅供參考之用，本公司已審慎研究並提供合理依據，恕不負任何法律責任亦不作任何保證。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47104"/>
            <a:ext cx="374903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000000"/>
                </a:solidFill>
                <a:latin typeface="Microsoft JhengHei"/>
              </a:rPr>
              <a:t>資料來源：經濟部、LSEG、富邦投顧整理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22608" y="6510528"/>
            <a:ext cx="38404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492C3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_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65960" y="169164"/>
            <a:ext cx="10222992" cy="43891"/>
          </a:xfrm>
          <a:prstGeom prst="rect">
            <a:avLst/>
          </a:prstGeom>
          <a:solidFill>
            <a:srgbClr val="008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2_Image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68" y="216293"/>
            <a:ext cx="517906" cy="537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7430" y="266700"/>
            <a:ext cx="105156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008FC7"/>
                </a:solidFill>
                <a:latin typeface="Microsoft JhengHei"/>
              </a:rPr>
              <a:t>台積電產能吃緊 訂單外溢效應顯現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50976"/>
            <a:ext cx="107899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>
                <a:solidFill>
                  <a:srgbClr val="00829B"/>
                </a:solidFill>
                <a:latin typeface="Microsoft JhengHei"/>
              </a:rPr>
              <a:t>• </a:t>
            </a:r>
            <a:r>
              <a:rPr sz="1550">
                <a:solidFill>
                  <a:srgbClr val="282828"/>
                </a:solidFill>
                <a:latin typeface="Microsoft JhengHei"/>
              </a:rPr>
              <a:t>台積電先進製程N2與N3產能於2026至2027年持續吃緊，2027年伺服器CPU供需缺口將擴大至15-20%，資本支出預估維持高檔並往750-800億美元靠攏。</a:t>
            </a:r>
          </a:p>
          <a:p>
            <a:pPr algn="l">
              <a:spcAft>
                <a:spcPts val="500"/>
              </a:spcAft>
            </a:pPr>
            <a:r>
              <a:rPr sz="1450" b="1">
                <a:solidFill>
                  <a:srgbClr val="00829B"/>
                </a:solidFill>
                <a:latin typeface="Microsoft JhengHei"/>
              </a:rPr>
              <a:t>• </a:t>
            </a:r>
            <a:r>
              <a:rPr sz="1550">
                <a:solidFill>
                  <a:srgbClr val="282828"/>
                </a:solidFill>
                <a:latin typeface="Microsoft JhengHei"/>
              </a:rPr>
              <a:t>AI ASIC、GPU及HBM需求持續推升CoWoS產能吃緊且難滿足2028年前需求，Google與Meta等自研方案轉向Intel與聯電非台積電體系，帶動獨立封測與製程設備商強勁動能。</a:t>
            </a:r>
          </a:p>
        </p:txBody>
      </p:sp>
      <p:pic>
        <p:nvPicPr>
          <p:cNvPr id="7" name="Picture 6" descr="chart_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304288"/>
            <a:ext cx="5486400" cy="4069080"/>
          </a:xfrm>
          <a:prstGeom prst="rect">
            <a:avLst/>
          </a:prstGeom>
        </p:spPr>
      </p:pic>
      <p:pic>
        <p:nvPicPr>
          <p:cNvPr id="8" name="Picture 7" descr="chart_3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304288"/>
            <a:ext cx="5486400" cy="4069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65960" y="6565392"/>
            <a:ext cx="60350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  <a:latin typeface="Microsoft JhengHei"/>
              </a:rPr>
              <a:t>本文內容僅供參考之用，本公司已審慎研究並提供合理依據，恕不負任何法律責任亦不作任何保證。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47104"/>
            <a:ext cx="374903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000000"/>
                </a:solidFill>
                <a:latin typeface="Microsoft JhengHei"/>
              </a:rPr>
              <a:t>資料來源：富邦投顧整理，2026.9.30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22608" y="6510528"/>
            <a:ext cx="38404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492C3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_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65960" y="169164"/>
            <a:ext cx="10222992" cy="43891"/>
          </a:xfrm>
          <a:prstGeom prst="rect">
            <a:avLst/>
          </a:prstGeom>
          <a:solidFill>
            <a:srgbClr val="008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2_Image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68" y="216293"/>
            <a:ext cx="517906" cy="537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7430" y="266700"/>
            <a:ext cx="105156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008FC7"/>
                </a:solidFill>
                <a:latin typeface="Microsoft JhengHei"/>
              </a:rPr>
              <a:t>規格升級成焦點 引領零組件新動能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50976"/>
            <a:ext cx="107899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>
                <a:solidFill>
                  <a:srgbClr val="00829B"/>
                </a:solidFill>
                <a:latin typeface="Microsoft JhengHei"/>
              </a:rPr>
              <a:t>• </a:t>
            </a:r>
            <a:r>
              <a:rPr sz="1550">
                <a:solidFill>
                  <a:srgbClr val="282828"/>
                </a:solidFill>
                <a:latin typeface="Microsoft JhengHei"/>
              </a:rPr>
              <a:t>零組件調價已反映在市場預期中，4Q26起投資策略轉向下一代AI伺服器規格升級，包括CCL M8/M9升級與高電壓電容，具備領先量產優勢者為核心關注焦點。</a:t>
            </a:r>
          </a:p>
          <a:p>
            <a:pPr algn="l">
              <a:spcAft>
                <a:spcPts val="500"/>
              </a:spcAft>
            </a:pPr>
            <a:r>
              <a:rPr sz="1450" b="1">
                <a:solidFill>
                  <a:srgbClr val="00829B"/>
                </a:solidFill>
                <a:latin typeface="Microsoft JhengHei"/>
              </a:rPr>
              <a:t>• </a:t>
            </a:r>
            <a:r>
              <a:rPr sz="1550">
                <a:solidFill>
                  <a:srgbClr val="282828"/>
                </a:solidFill>
                <a:latin typeface="Microsoft JhengHei"/>
              </a:rPr>
              <a:t>銅箔基板三雄前8月營收年增42%~97%，台光電與台燿4Q26高階M7以上比重挑戰80%與45%；被動元件各大廠法說BB ratio創歷史新高，國巨2Q底達2.2。</a:t>
            </a:r>
          </a:p>
        </p:txBody>
      </p:sp>
      <p:pic>
        <p:nvPicPr>
          <p:cNvPr id="7" name="Picture 6" descr="chart_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304288"/>
            <a:ext cx="5486400" cy="4069080"/>
          </a:xfrm>
          <a:prstGeom prst="rect">
            <a:avLst/>
          </a:prstGeom>
        </p:spPr>
      </p:pic>
      <p:pic>
        <p:nvPicPr>
          <p:cNvPr id="8" name="Picture 7" descr="chart_4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304288"/>
            <a:ext cx="5486400" cy="4069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65960" y="6565392"/>
            <a:ext cx="60350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  <a:latin typeface="Microsoft JhengHei"/>
              </a:rPr>
              <a:t>本文內容僅供參考之用，本公司已審慎研究並提供合理依據，恕不負任何法律責任亦不作任何保證。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47104"/>
            <a:ext cx="374903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000000"/>
                </a:solidFill>
                <a:latin typeface="Microsoft JhengHei"/>
              </a:rPr>
              <a:t>資料來源：各大廠法說會、富邦投顧整理，2026.9.30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22608" y="6510528"/>
            <a:ext cx="38404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492C3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_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65960" y="169164"/>
            <a:ext cx="10222992" cy="43891"/>
          </a:xfrm>
          <a:prstGeom prst="rect">
            <a:avLst/>
          </a:prstGeom>
          <a:solidFill>
            <a:srgbClr val="008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2_Image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68" y="216293"/>
            <a:ext cx="517906" cy="537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7430" y="266700"/>
            <a:ext cx="105156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008FC7"/>
                </a:solidFill>
                <a:latin typeface="Microsoft JhengHei"/>
              </a:rPr>
              <a:t>AI伺服器強勁成長 機櫃出貨逐季攀升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50976"/>
            <a:ext cx="107899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>
                <a:solidFill>
                  <a:srgbClr val="00829B"/>
                </a:solidFill>
                <a:latin typeface="Microsoft JhengHei"/>
              </a:rPr>
              <a:t>• </a:t>
            </a:r>
            <a:r>
              <a:rPr sz="1550">
                <a:solidFill>
                  <a:srgbClr val="282828"/>
                </a:solidFill>
                <a:latin typeface="Microsoft JhengHei"/>
              </a:rPr>
              <a:t>2026年通用型伺服器出貨量上修至年增26.5%（達1,703萬台），AI伺服器出貨預估大幅成長64%且滲透率達16%；四大CSP於2027年資本支出預期年增60%~70%。</a:t>
            </a:r>
          </a:p>
          <a:p>
            <a:pPr algn="l">
              <a:spcAft>
                <a:spcPts val="500"/>
              </a:spcAft>
            </a:pPr>
            <a:r>
              <a:rPr sz="1450" b="1">
                <a:solidFill>
                  <a:srgbClr val="00829B"/>
                </a:solidFill>
                <a:latin typeface="Microsoft JhengHei"/>
              </a:rPr>
              <a:t>• </a:t>
            </a:r>
            <a:r>
              <a:rPr sz="1550">
                <a:solidFill>
                  <a:srgbClr val="282828"/>
                </a:solidFill>
                <a:latin typeface="Microsoft JhengHei"/>
              </a:rPr>
              <a:t>2026年Nvidia AI機櫃出貨量估達80k（GB300 70k、GB200 6k、VR200 4k）；Vera Rubin單櫃功耗逾200kW且PSU功率增至18kW以上，增添CSP導入800VDC電源櫃誘因。</a:t>
            </a:r>
          </a:p>
        </p:txBody>
      </p:sp>
      <p:pic>
        <p:nvPicPr>
          <p:cNvPr id="7" name="Picture 6" descr="chart_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304288"/>
            <a:ext cx="5486400" cy="4069080"/>
          </a:xfrm>
          <a:prstGeom prst="rect">
            <a:avLst/>
          </a:prstGeom>
        </p:spPr>
      </p:pic>
      <p:pic>
        <p:nvPicPr>
          <p:cNvPr id="8" name="Picture 7" descr="chart_5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304288"/>
            <a:ext cx="5486400" cy="4069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65960" y="6565392"/>
            <a:ext cx="60350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  <a:latin typeface="Microsoft JhengHei"/>
              </a:rPr>
              <a:t>本文內容僅供參考之用，本公司已審慎研究並提供合理依據，恕不負任何法律責任亦不作任何保證。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47104"/>
            <a:ext cx="374903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000000"/>
                </a:solidFill>
                <a:latin typeface="Microsoft JhengHei"/>
              </a:rPr>
              <a:t>資料來源：各大供應鏈、富邦投顧整理，2026.9.30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22608" y="6510528"/>
            <a:ext cx="38404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492C3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_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65960" y="169164"/>
            <a:ext cx="10222992" cy="43891"/>
          </a:xfrm>
          <a:prstGeom prst="rect">
            <a:avLst/>
          </a:prstGeom>
          <a:solidFill>
            <a:srgbClr val="008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2_Image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68" y="216293"/>
            <a:ext cx="517906" cy="537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7430" y="266700"/>
            <a:ext cx="105156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008FC7"/>
                </a:solidFill>
                <a:latin typeface="Microsoft JhengHei"/>
              </a:rPr>
              <a:t>傳產迎旺季入帳 金控獲利創歷史新高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50976"/>
            <a:ext cx="107899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>
                <a:solidFill>
                  <a:srgbClr val="00829B"/>
                </a:solidFill>
                <a:latin typeface="Microsoft JhengHei"/>
              </a:rPr>
              <a:t>• </a:t>
            </a:r>
            <a:r>
              <a:rPr sz="1550">
                <a:solidFill>
                  <a:srgbClr val="282828"/>
                </a:solidFill>
                <a:latin typeface="Microsoft JhengHei"/>
              </a:rPr>
              <a:t>全球電網與AI資料中心擴廠推升重電設備，變壓器五年漲幅達81%，美國大型電力變壓器交期拉長至150-200週呈長期失衡；中鋼8月營業利益月增227%，11月盤價估漲500~1000元。</a:t>
            </a:r>
          </a:p>
          <a:p>
            <a:pPr algn="l">
              <a:spcAft>
                <a:spcPts val="500"/>
              </a:spcAft>
            </a:pPr>
            <a:r>
              <a:rPr sz="1450" b="1">
                <a:solidFill>
                  <a:srgbClr val="00829B"/>
                </a:solidFill>
                <a:latin typeface="Microsoft JhengHei"/>
              </a:rPr>
              <a:t>• </a:t>
            </a:r>
            <a:r>
              <a:rPr sz="1550">
                <a:solidFill>
                  <a:srgbClr val="282828"/>
                </a:solidFill>
                <a:latin typeface="Microsoft JhengHei"/>
              </a:rPr>
              <a:t>金控前8月自結稅後淨利達5,789億元（年增59.1%），銀行放款雙位數成長且利差擴大；壽險FVOCI未實現資本利得豐厚且避險前經常性收益率達3.5%，明年配息能力可期。</a:t>
            </a:r>
          </a:p>
        </p:txBody>
      </p:sp>
      <p:pic>
        <p:nvPicPr>
          <p:cNvPr id="7" name="Picture 6" descr="chart_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304288"/>
            <a:ext cx="5486400" cy="4069080"/>
          </a:xfrm>
          <a:prstGeom prst="rect">
            <a:avLst/>
          </a:prstGeom>
        </p:spPr>
      </p:pic>
      <p:pic>
        <p:nvPicPr>
          <p:cNvPr id="8" name="Picture 7" descr="chart_6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304288"/>
            <a:ext cx="5486400" cy="4069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65960" y="6565392"/>
            <a:ext cx="60350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  <a:latin typeface="Microsoft JhengHei"/>
              </a:rPr>
              <a:t>本文內容僅供參考之用，本公司已審慎研究並提供合理依據，恕不負任何法律責任亦不作任何保證。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47104"/>
            <a:ext cx="374903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000000"/>
                </a:solidFill>
                <a:latin typeface="Microsoft JhengHei"/>
              </a:rPr>
              <a:t>資料來源：IEA、各金控、富邦投顧整理，2026.9.30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22608" y="6510528"/>
            <a:ext cx="38404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492C3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_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65960" y="169164"/>
            <a:ext cx="10222992" cy="43891"/>
          </a:xfrm>
          <a:prstGeom prst="rect">
            <a:avLst/>
          </a:prstGeom>
          <a:solidFill>
            <a:srgbClr val="008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2_Image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68" y="216293"/>
            <a:ext cx="517906" cy="537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7430" y="266700"/>
            <a:ext cx="105156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008FC7"/>
                </a:solidFill>
                <a:latin typeface="Microsoft JhengHei"/>
              </a:rPr>
              <a:t>聚焦四大關鍵議題 精選核心投資組合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50976"/>
            <a:ext cx="107899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>
                <a:solidFill>
                  <a:srgbClr val="00829B"/>
                </a:solidFill>
                <a:latin typeface="Microsoft JhengHei"/>
              </a:rPr>
              <a:t>• </a:t>
            </a:r>
            <a:r>
              <a:rPr sz="1550">
                <a:solidFill>
                  <a:srgbClr val="282828"/>
                </a:solidFill>
                <a:latin typeface="Microsoft JhengHei"/>
              </a:rPr>
              <a:t>富邦投資組合超配科技股（82.0% vs 市場80.6%）與金融股（10.0% vs 市場8.7%），非科技傳產降至8.0%，展現積極參與AI趨勢與掌握高股息防禦之配置策略。</a:t>
            </a:r>
          </a:p>
          <a:p>
            <a:pPr algn="l">
              <a:spcAft>
                <a:spcPts val="500"/>
              </a:spcAft>
            </a:pPr>
            <a:r>
              <a:rPr sz="1450" b="1">
                <a:solidFill>
                  <a:srgbClr val="00829B"/>
                </a:solidFill>
                <a:latin typeface="Microsoft JhengHei"/>
              </a:rPr>
              <a:t>• </a:t>
            </a:r>
            <a:r>
              <a:rPr sz="1550">
                <a:solidFill>
                  <a:srgbClr val="282828"/>
                </a:solidFill>
                <a:latin typeface="Microsoft JhengHei"/>
              </a:rPr>
              <a:t>10月精選四大看好議題，核心標的涵蓋台積電外溢（聯發科、志聖、致茂★、萬潤★）、AI基建（台積電、欣興、昇陽半★、創意）、零組件升規（川湖、奇鋐、全新、貿聯）與能源殖利率（華城★、新應材★、國泰金）。</a:t>
            </a:r>
          </a:p>
        </p:txBody>
      </p:sp>
      <p:pic>
        <p:nvPicPr>
          <p:cNvPr id="7" name="Picture 6" descr="chart_7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304288"/>
            <a:ext cx="5486400" cy="4069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17920" y="2304288"/>
            <a:ext cx="548640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F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395728"/>
            <a:ext cx="53949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Microsoft JhengHei"/>
              </a:rPr>
              <a:t>10 月四大看好議題核心推薦個股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2816352"/>
          <a:ext cx="5266944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  <a:gridCol w="1883664"/>
              </a:tblGrid>
              <a:tr h="680313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</a:rPr>
                        <a:t>看好議題</a:t>
                      </a:r>
                    </a:p>
                  </a:txBody>
                  <a:tcPr marL="45720" marR="45720" marT="45720" marB="4572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</a:rPr>
                        <a:t>核心領域</a:t>
                      </a:r>
                    </a:p>
                  </a:txBody>
                  <a:tcPr marL="45720" marR="45720" marT="45720" marB="4572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</a:rPr>
                        <a:t>精選標的 (★新增)</a:t>
                      </a:r>
                    </a:p>
                  </a:txBody>
                  <a:tcPr marL="45720" marR="45720" marT="45720" marB="45720">
                    <a:solidFill>
                      <a:srgbClr val="156082"/>
                    </a:solidFill>
                  </a:tcPr>
                </a:tc>
              </a:tr>
              <a:tr h="680313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56082"/>
                          </a:solidFill>
                          <a:latin typeface="Microsoft JhengHei"/>
                        </a:rPr>
                        <a:t>台積電訂單外溢</a:t>
                      </a:r>
                    </a:p>
                  </a:txBody>
                  <a:tcPr marL="45720" marR="45720" marT="45720" marB="45720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00000"/>
                          </a:solidFill>
                          <a:latin typeface="Microsoft JhengHei"/>
                        </a:rPr>
                        <a:t>ASIC / 封測 / 設備</a:t>
                      </a:r>
                    </a:p>
                  </a:txBody>
                  <a:tcPr marL="45720" marR="45720" marT="45720" marB="45720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00000"/>
                          </a:solidFill>
                          <a:latin typeface="Microsoft JhengHei"/>
                        </a:rPr>
                        <a:t>2454 聯發科、2467 志聖
2360 致茂★、6187 萬潤★</a:t>
                      </a:r>
                    </a:p>
                  </a:txBody>
                  <a:tcPr marL="45720" marR="45720" marT="45720" marB="45720">
                    <a:solidFill>
                      <a:srgbClr val="F5FAFC"/>
                    </a:solidFill>
                  </a:tcPr>
                </a:tc>
              </a:tr>
              <a:tr h="680313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56082"/>
                          </a:solidFill>
                          <a:latin typeface="Microsoft JhengHei"/>
                        </a:rPr>
                        <a:t>Agent AI 與基建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00000"/>
                          </a:solidFill>
                          <a:latin typeface="Microsoft JhengHei"/>
                        </a:rPr>
                        <a:t>GPU/CPU / 高速傳輸 / 載板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00000"/>
                          </a:solidFill>
                          <a:latin typeface="Microsoft JhengHei"/>
                        </a:rPr>
                        <a:t>2330 台積電、3037 欣興
8028 昇陽半★、3443 創意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680313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56082"/>
                          </a:solidFill>
                          <a:latin typeface="Microsoft JhengHei"/>
                        </a:rPr>
                        <a:t>零組件規格升級</a:t>
                      </a:r>
                    </a:p>
                  </a:txBody>
                  <a:tcPr marL="45720" marR="45720" marT="45720" marB="45720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00000"/>
                          </a:solidFill>
                          <a:latin typeface="Microsoft JhengHei"/>
                        </a:rPr>
                        <a:t>滑軌 / 線材 / 雷射 / 散熱</a:t>
                      </a:r>
                    </a:p>
                  </a:txBody>
                  <a:tcPr marL="45720" marR="45720" marT="45720" marB="45720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00000"/>
                          </a:solidFill>
                          <a:latin typeface="Microsoft JhengHei"/>
                        </a:rPr>
                        <a:t>2059 川湖、3017 奇鋐
2455 全新、3665 貿聯-KY</a:t>
                      </a:r>
                    </a:p>
                  </a:txBody>
                  <a:tcPr marL="45720" marR="45720" marT="45720" marB="45720">
                    <a:solidFill>
                      <a:srgbClr val="F5FAFC"/>
                    </a:solidFill>
                  </a:tcPr>
                </a:tc>
              </a:tr>
              <a:tr h="68031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56082"/>
                          </a:solidFill>
                          <a:latin typeface="Microsoft JhengHei"/>
                        </a:rPr>
                        <a:t>能源與高股息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00000"/>
                          </a:solidFill>
                          <a:latin typeface="Microsoft JhengHei"/>
                        </a:rPr>
                        <a:t>重電設備 / 特化 / 金控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00000"/>
                          </a:solidFill>
                          <a:latin typeface="Microsoft JhengHei"/>
                        </a:rPr>
                        <a:t>1519 華城★、1303 南亞
4749 新應材★、2882 國泰金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965960" y="6565392"/>
            <a:ext cx="60350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  <a:latin typeface="Microsoft JhengHei"/>
              </a:rPr>
              <a:t>本文內容僅供參考之用，本公司已審慎研究並提供合理依據，恕不負任何法律責任亦不作任何保證。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547104"/>
            <a:ext cx="374903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000000"/>
                </a:solidFill>
                <a:latin typeface="Microsoft JhengHei"/>
              </a:rPr>
              <a:t>資料來源：CMoney、富邦投顧整理，2026.9.30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22608" y="6510528"/>
            <a:ext cx="38404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492C3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35224" y="2331720"/>
            <a:ext cx="62179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08FC7"/>
                </a:solidFill>
                <a:latin typeface="Microsoft JhengHei"/>
              </a:rPr>
              <a:t>簡報完畢 敬請指教</a:t>
            </a:r>
          </a:p>
        </p:txBody>
      </p:sp>
      <p:sp>
        <p:nvSpPr>
          <p:cNvPr id="4" name="Rectangle 3"/>
          <p:cNvSpPr/>
          <p:nvPr/>
        </p:nvSpPr>
        <p:spPr>
          <a:xfrm>
            <a:off x="3965752" y="3026664"/>
            <a:ext cx="4260189" cy="2011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22608" y="6510528"/>
            <a:ext cx="38404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