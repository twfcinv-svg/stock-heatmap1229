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d1c9e6c9b124110" /><Relationship Type="http://schemas.openxmlformats.org/officeDocument/2006/relationships/extended-properties" Target="/docProps/app.xml" Id="R3bfc0380b1734bed" /><Relationship Type="http://schemas.openxmlformats.org/officeDocument/2006/relationships/officeDocument" Target="/ppt/presentation.xml" Id="R17dc0ccb0196484e" /></Relationships>
</file>

<file path=ppt/presentation.xml><?xml version="1.0" encoding="utf-8"?>
<p:presentation xmlns:p="http://schemas.openxmlformats.org/presentationml/2006/main">
  <p:sldMasterIdLst>
    <p:sldMasterId xmlns:r="http://schemas.openxmlformats.org/officeDocument/2006/relationships" id="2147483648" r:id="Re33074592acc4979"/>
  </p:sldMasterIdLst>
  <p:notesMasterIdLst>
    <p:notesMasterId xmlns:r="http://schemas.openxmlformats.org/officeDocument/2006/relationships" r:id="Rd35d319991854ebb"/>
  </p:notesMasterIdLst>
  <p:sldIdLst>
    <p:sldId xmlns:r="http://schemas.openxmlformats.org/officeDocument/2006/relationships" id="256" r:id="R94912cbf0a784baa"/>
    <p:sldId xmlns:r="http://schemas.openxmlformats.org/officeDocument/2006/relationships" id="257" r:id="R21b8e2cecf6a498b"/>
    <p:sldId xmlns:r="http://schemas.openxmlformats.org/officeDocument/2006/relationships" id="258" r:id="Rc7f0b9e644c5442e"/>
    <p:sldId xmlns:r="http://schemas.openxmlformats.org/officeDocument/2006/relationships" id="259" r:id="Rbe054d6fab634ddc"/>
    <p:sldId xmlns:r="http://schemas.openxmlformats.org/officeDocument/2006/relationships" id="260" r:id="Rf0e102e226dd4a07"/>
    <p:sldId xmlns:r="http://schemas.openxmlformats.org/officeDocument/2006/relationships" id="261" r:id="R4b8bb15071464065"/>
    <p:sldId xmlns:r="http://schemas.openxmlformats.org/officeDocument/2006/relationships" id="262" r:id="Rc0500e1d9b2a40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0731b83cc0f4c84" /><Relationship Type="http://schemas.openxmlformats.org/officeDocument/2006/relationships/slideMaster" Target="/ppt/slideMasters/slideMaster1.xml" Id="Re33074592acc4979" /><Relationship Type="http://schemas.openxmlformats.org/officeDocument/2006/relationships/notesMaster" Target="/ppt/notesMasters/notesMaster1.xml" Id="Rd35d319991854ebb" /><Relationship Type="http://schemas.openxmlformats.org/officeDocument/2006/relationships/presProps" Target="/ppt/presProps.xml" Id="R6262a64411f34168" /><Relationship Type="http://schemas.openxmlformats.org/officeDocument/2006/relationships/viewProps" Target="/ppt/viewProps.xml" Id="R052609bffd894f4e" /><Relationship Type="http://schemas.openxmlformats.org/officeDocument/2006/relationships/tableStyles" Target="/ppt/tableStyles.xml" Id="Rdba6d95bcc30416d" /><Relationship Type="http://schemas.openxmlformats.org/officeDocument/2006/relationships/slide" Target="/ppt/slides/slide1.xml" Id="R94912cbf0a784baa" /><Relationship Type="http://schemas.openxmlformats.org/officeDocument/2006/relationships/slide" Target="/ppt/slides/slide2.xml" Id="R21b8e2cecf6a498b" /><Relationship Type="http://schemas.openxmlformats.org/officeDocument/2006/relationships/slide" Target="/ppt/slides/slide3.xml" Id="Rc7f0b9e644c5442e" /><Relationship Type="http://schemas.openxmlformats.org/officeDocument/2006/relationships/slide" Target="/ppt/slides/slide4.xml" Id="Rbe054d6fab634ddc" /><Relationship Type="http://schemas.openxmlformats.org/officeDocument/2006/relationships/slide" Target="/ppt/slides/slide5.xml" Id="Rf0e102e226dd4a07" /><Relationship Type="http://schemas.openxmlformats.org/officeDocument/2006/relationships/slide" Target="/ppt/slides/slide6.xml" Id="R4b8bb15071464065" /><Relationship Type="http://schemas.openxmlformats.org/officeDocument/2006/relationships/slide" Target="/ppt/slides/slide7.xml" Id="Rc0500e1d9b2a40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78a1adf6a04a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dce31e39144abf" /><Relationship Type="http://schemas.openxmlformats.org/officeDocument/2006/relationships/notesMaster" Target="/ppt/notesMasters/notesMaster1.xml" Id="R1b5a0d18586149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97910490324461" /><Relationship Type="http://schemas.openxmlformats.org/officeDocument/2006/relationships/notesMaster" Target="/ppt/notesMasters/notesMaster1.xml" Id="R9fe2c129532742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71dd82dfb0449d" /><Relationship Type="http://schemas.openxmlformats.org/officeDocument/2006/relationships/notesMaster" Target="/ppt/notesMasters/notesMaster1.xml" Id="R34b3f108e6de4d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d99980a76f4852" /><Relationship Type="http://schemas.openxmlformats.org/officeDocument/2006/relationships/notesMaster" Target="/ppt/notesMasters/notesMaster1.xml" Id="R80324a2938924a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e7877087f14f81" /><Relationship Type="http://schemas.openxmlformats.org/officeDocument/2006/relationships/notesMaster" Target="/ppt/notesMasters/notesMaster1.xml" Id="Rf0a81c666c0541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497bb316504d38" /><Relationship Type="http://schemas.openxmlformats.org/officeDocument/2006/relationships/notesMaster" Target="/ppt/notesMasters/notesMaster1.xml" Id="R95a698cb481b44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f617c26aab4647" /><Relationship Type="http://schemas.openxmlformats.org/officeDocument/2006/relationships/notesMaster" Target="/ppt/notesMasters/notesMaster1.xml" Id="R96f138c2a9614f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富邦投顧《10月台股產業投資策略》，2026年9月30日。簡報依原報告濃縮，所有預測保留原報告時點。</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資料來源：富邦投顧《10月台股產業投資策略》，2026年9月30日。</a:t>
            </a:r>
          </a:p>
          <a:p xmlns:a="http://schemas.openxmlformats.org/drawingml/2006/main">
            <a:r>
              <a:t>左圖：原報告第10頁；指標範圍為富邦核心持股。</a:t>
            </a:r>
          </a:p>
          <a:p xmlns:a="http://schemas.openxmlformats.org/drawingml/2006/main">
            <a:r>
              <a:t>右圖：原報告第11頁圖表2，CMoney、富邦投顧，2026/9/30；</a:t>
            </a:r>
          </a:p>
          <a:p xmlns:a="http://schemas.openxmlformats.org/drawingml/2006/main">
            <a:r>
              <a:t>台灣8月外銷接單年增71.4%，旺季需求續強。核心持股3Q26、4Q26 EPS年增預估79.2%、78.3%，財報兌現為多頭延續關鍵。</a:t>
            </a:r>
          </a:p>
          <a:p xmlns:a="http://schemas.openxmlformats.org/drawingml/2006/main">
            <a:r>
              <a:t>高利率限制評價擴張，「挑戰五萬」仍須獲利兌現。AI續為配置核心，選股聚焦訂單外溢與升規，留意利率政策及11月期中選舉變數。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資料來源：富邦投顧《10月台股產業投資策略》，2026年9月30日。</a:t>
            </a:r>
          </a:p>
          <a:p xmlns:a="http://schemas.openxmlformats.org/drawingml/2006/main">
            <a:r>
              <a:t>左圖：原報告第1、5頁。數字與時程為報告預估。</a:t>
            </a:r>
          </a:p>
          <a:p xmlns:a="http://schemas.openxmlformats.org/drawingml/2006/main">
            <a:r>
              <a:t>右圖：原報告第1–3頁。</a:t>
            </a:r>
          </a:p>
          <a:p xmlns:a="http://schemas.openxmlformats.org/drawingml/2006/main">
            <a:r>
              <a:t>AI ASIC、GPU與HBM推升CoWoS需求，台積電擴產仍難滿足2028年前需求。製程、封裝與載板瓶頸並存，機會延伸至獨立封測、設備及材料。</a:t>
            </a:r>
          </a:p>
          <a:p xmlns:a="http://schemas.openxmlformats.org/drawingml/2006/main">
            <a:r>
              <a:t>Google、Meta自研方案預期尋求Intel、聯電等產能支援。外溢題材須轉為接單與業績，原報告聚焦聯發科、志聖、致茂與萬潤。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資料來源：富邦投顧《10月台股產業投資策略》，2026年9月30日。</a:t>
            </a:r>
          </a:p>
          <a:p xmlns:a="http://schemas.openxmlformats.org/drawingml/2006/main">
            <a:r>
              <a:t>左圖：原報告第2、5頁。全部為報告預估，非已實現數據。</a:t>
            </a:r>
          </a:p>
          <a:p xmlns:a="http://schemas.openxmlformats.org/drawingml/2006/main">
            <a:r>
              <a:t>右圖：原報告第3、5頁。</a:t>
            </a:r>
          </a:p>
          <a:p xmlns:a="http://schemas.openxmlformats.org/drawingml/2006/main">
            <a:r>
              <a:t>四大CSP 2027年資本支出預估年增60–70%，AI推論帶動通用與AI伺服器同步成長，持續支撐晶圓代工、載板及高速介面需求。</a:t>
            </a:r>
          </a:p>
          <a:p xmlns:a="http://schemas.openxmlformats.org/drawingml/2006/main">
            <a:r>
              <a:t>AI叢集擴大推升高速光通訊，CPO商機延伸至EIC／PIC、先進封裝與光學零組件。台廠供應鏈日趨完整，選股重視關鍵技術與量產進度。</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資料來源：富邦投顧《10月台股產業投資策略》，2026年9月30日。</a:t>
            </a:r>
          </a:p>
          <a:p xmlns:a="http://schemas.openxmlformats.org/drawingml/2006/main">
            <a:r>
              <a:t>左圖：原報告第6頁。台達電800VDC／400VDC；光寶科此處為800VDC。</a:t>
            </a:r>
          </a:p>
          <a:p xmlns:a="http://schemas.openxmlformats.org/drawingml/2006/main">
            <a:r>
              <a:t>右圖：原報告第6頁，數字為預估。M8／M9升規方向另見第1頁。</a:t>
            </a:r>
          </a:p>
          <a:p xmlns:a="http://schemas.openxmlformats.org/drawingml/2006/main">
            <a:r>
              <a:t>既有漲價多已納入市場預期，4Q26零組件選股轉看規格升級。CCL M8／M9及高壓電容為AI平台升級重點，率先升規並量產者較具競爭優勢。</a:t>
            </a:r>
          </a:p>
          <a:p xmlns:a="http://schemas.openxmlformats.org/drawingml/2006/main">
            <a:r>
              <a:t>Vera Rubin單櫃功耗將逾200kW，推升高功率電源與800VDC需求，高階CCL亦改善產品組合。原報告升規名單包括川湖、奇鋐、全新及貿聯-KY。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資料來源：富邦投顧《10月台股產業投資策略》，2026年9月30日。</a:t>
            </a:r>
          </a:p>
          <a:p xmlns:a="http://schemas.openxmlformats.org/drawingml/2006/main">
            <a:r>
              <a:t>左圖：原報告第7頁，原文引用IEA與市調。</a:t>
            </a:r>
          </a:p>
          <a:p xmlns:a="http://schemas.openxmlformats.org/drawingml/2006/main">
            <a:r>
              <a:t>右圖：原報告第2–3、8頁。金融短期次產業看法為中性。</a:t>
            </a:r>
          </a:p>
          <a:p xmlns:a="http://schemas.openxmlformats.org/drawingml/2006/main">
            <a:r>
              <a:t>非電配置聚焦重電供需缺口、低基期轉型與股息防禦。電網汰換及AI用電擴大重電需求，聚焦華城。塑化、特化須辨別成本轉嫁能力，關注南亞、新應材。</a:t>
            </a:r>
          </a:p>
          <a:p xmlns:a="http://schemas.openxmlformats.org/drawingml/2006/main">
            <a:r>
              <a:t>銀行放款與證券交投支撐金融獲利，壽險CSM及調整後EPS支持2027配息展望。金融短期仍須留意股息旺季已過及年底提存，宜依個股條件篩選。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台灣股市 | 台股策略</a:t>
            </a:r>
            <a:endParaRPr/>
          </a:p>
          <a:p xmlns:a="http://schemas.openxmlformats.org/drawingml/2006/main">
            <a:r>
              <a:t/>
            </a:r>
            <a:endParaRPr/>
          </a:p>
          <a:p xmlns:a="http://schemas.openxmlformats.org/drawingml/2006/main">
            <a:r>
              <a:t>                                                                                                                              產業投資策略</a:t>
            </a:r>
            <a:endParaRPr/>
          </a:p>
          <a:p xmlns:a="http://schemas.openxmlformats.org/drawingml/2006/main">
            <a:r>
              <a:t/>
            </a:r>
            <a:endParaRPr/>
          </a:p>
          <a:p xmlns:a="http://schemas.openxmlformats.org/drawingml/2006/main">
            <a:r>
              <a:t/>
            </a:r>
            <a:endParaRPr/>
          </a:p>
          <a:p xmlns:a="http://schemas.openxmlformats.org/drawingml/2006/main">
            <a:r>
              <a:t>免責宣言</a:t>
            </a:r>
            <a:endParaRPr/>
          </a:p>
          <a:p xmlns:a="http://schemas.openxmlformats.org/drawingml/2006/main">
            <a:r>
              <a:t>分析師認證</a:t>
            </a:r>
            <a:endParaRPr/>
          </a:p>
          <a:p xmlns:a="http://schemas.openxmlformats.org/drawingml/2006/main">
            <a:r>
              <a:t>負責分析師（或者負責參與的分析師）確認：</a:t>
            </a:r>
            <a:endParaRPr/>
          </a:p>
          <a:p xmlns:a="http://schemas.openxmlformats.org/drawingml/2006/main">
            <a:r>
              <a:t>1. 本研究報告的內容係反映分析師對於相關證券的個人看法。</a:t>
            </a:r>
            <a:endParaRPr/>
          </a:p>
          <a:p xmlns:a="http://schemas.openxmlformats.org/drawingml/2006/main">
            <a:r>
              <a:t>2. 分析師的報酬與本研究報告內容表述的個別建議或觀點無關。</a:t>
            </a:r>
            <a:endParaRPr/>
          </a:p>
          <a:p xmlns:a="http://schemas.openxmlformats.org/drawingml/2006/main">
            <a:r>
              <a:t>免責聲明</a:t>
            </a:r>
            <a:endParaRPr/>
          </a:p>
          <a:p xmlns:a="http://schemas.openxmlformats.org/drawingml/2006/main">
            <a:r>
              <a:t>本研究報告所載資料僅供參考，並不構成要約、招攬、邀請、宣傳、誘使，或任何不論種類或形式之表示、建議或推薦買賣本研究報告所述的任何證券。所載資料</a:t>
            </a:r>
            <a:endParaRPr/>
          </a:p>
          <a:p xmlns:a="http://schemas.openxmlformats.org/drawingml/2006/main">
            <a:r>
              <a:t>乃秉持誠信原則所提供，並取自相信為可靠及準確之資料來源。然而，有關內容及看法並未考慮個別投資人之投資目標，財務狀況及特別需求。本研究報告所載述</a:t>
            </a:r>
            <a:endParaRPr/>
          </a:p>
          <a:p xmlns:a="http://schemas.openxmlformats.org/drawingml/2006/main">
            <a:r>
              <a:t>的意見可隨時予以更改或撤回，恕不另行通知。本公司及任何關係企業等，皆有可能持有報告中提及的證券。本公司或任何關係企業會提供或嘗試提供投資銀行或</a:t>
            </a:r>
            <a:endParaRPr/>
          </a:p>
          <a:p xmlns:a="http://schemas.openxmlformats.org/drawingml/2006/main">
            <a:r>
              <a:t>其他形式的服務給報告中提及的公司。富邦投顧保留報告內容之一切著作權，禁止以任何形式之抄襲及轉寄他人。</a:t>
            </a:r>
            <a:endParaRP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富邦的股票評等標準</a:t>
            </a:r>
            <a:endParaRPr/>
          </a:p>
          <a:p xmlns:a="http://schemas.openxmlformats.org/drawingml/2006/main">
            <a:r>
              <a:t>評等                           定義</a:t>
            </a:r>
            <a:endParaRPr/>
          </a:p>
          <a:p xmlns:a="http://schemas.openxmlformats.org/drawingml/2006/main">
            <a:r>
              <a:t>買進                           預估未來6個月內的絕對報酬超過15%</a:t>
            </a:r>
            <a:endParaRPr/>
          </a:p>
          <a:p xmlns:a="http://schemas.openxmlformats.org/drawingml/2006/main">
            <a:r>
              <a:t>中立                           預估未來6個月內有絕對報酬介於15%與負15%之間</a:t>
            </a:r>
            <a:endParaRPr/>
          </a:p>
          <a:p xmlns:a="http://schemas.openxmlformats.org/drawingml/2006/main">
            <a:r>
              <a:t>賣出                           預估未來6個月內的絕對報酬高於負15%</a:t>
            </a:r>
            <a:endParaRPr/>
          </a:p>
          <a:p xmlns:a="http://schemas.openxmlformats.org/drawingml/2006/main">
            <a:r>
              <a:t>未評等                          由於富邦目前與該公司有特定交易或沒有足夠的基本資料判斷該公司評等</a:t>
            </a:r>
            <a:endParaRPr/>
          </a:p>
          <a:p xmlns:a="http://schemas.openxmlformats.org/drawingml/2006/main">
            <a:r>
              <a:t>評估中                          目前正在研議個股的投資評等，將於3到6個月內提供投資評等</a:t>
            </a:r>
            <a:endParaRPr/>
          </a:p>
          <a:p xmlns:a="http://schemas.openxmlformats.org/drawingml/2006/main">
            <a:r>
              <a:t/>
            </a:r>
            <a:endParaRPr/>
          </a:p>
          <a:p xmlns:a="http://schemas.openxmlformats.org/drawingml/2006/main">
            <a:r>
              <a:t/>
            </a:r>
            <a:endParaRPr/>
          </a:p>
          <a:p xmlns:a="http://schemas.openxmlformats.org/drawingml/2006/main">
            <a:r>
              <a:t>產業評等                         定義</a:t>
            </a:r>
            <a:endParaRPr/>
          </a:p>
          <a:p xmlns:a="http://schemas.openxmlformats.org/drawingml/2006/main">
            <a:r>
              <a:t>優於大盤                         預估該產業在未來6個月內會比大盤指數表現突出</a:t>
            </a:r>
            <a:endParaRPr/>
          </a:p>
          <a:p xmlns:a="http://schemas.openxmlformats.org/drawingml/2006/main">
            <a:r>
              <a:t>持平                           預估該產業在未來6個月內與大盤指數表現相較持平</a:t>
            </a:r>
            <a:endParaRPr/>
          </a:p>
          <a:p xmlns:a="http://schemas.openxmlformats.org/drawingml/2006/main">
            <a:r>
              <a:t>劣於大盤                         預估該產業在未來6個月內會比大盤指數表現較差</a:t>
            </a:r>
            <a:endParaRP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Disclaimer</a:t>
            </a:r>
            <a:endParaRPr/>
          </a:p>
          <a:p xmlns:a="http://schemas.openxmlformats.org/drawingml/2006/main">
            <a:r>
              <a:t>Analyst Certification</a:t>
            </a:r>
            <a:endParaRPr/>
          </a:p>
          <a:p xmlns:a="http://schemas.openxmlformats.org/drawingml/2006/main">
            <a:r>
              <a:t>The research analyst responsible for this report hereby certifies (or, where multiple research analysts are primarily responsible for this report) that:</a:t>
            </a:r>
            <a:endParaRPr/>
          </a:p>
          <a:p xmlns:a="http://schemas.openxmlformats.org/drawingml/2006/main">
            <a:r>
              <a:t>(1) the views expressed in this research report accurately reflect the analyst’s personal views about the subject securities and issuers.</a:t>
            </a:r>
            <a:endParaRPr/>
          </a:p>
          <a:p xmlns:a="http://schemas.openxmlformats.org/drawingml/2006/main">
            <a:r>
              <a:t>(2) the analyst also certifies that no part of his/her compensation was, is, or will be, directly or indirectly, related to the specific recommendations or views expressed in this</a:t>
            </a:r>
            <a:endParaRPr/>
          </a:p>
          <a:p xmlns:a="http://schemas.openxmlformats.org/drawingml/2006/main">
            <a:r>
              <a:t>research report.</a:t>
            </a:r>
            <a:endParaRPr/>
          </a:p>
          <a:p xmlns:a="http://schemas.openxmlformats.org/drawingml/2006/main">
            <a:r>
              <a:t>Disclaimer</a:t>
            </a:r>
            <a:endParaRPr/>
          </a:p>
          <a:p xmlns:a="http://schemas.openxmlformats.org/drawingml/2006/main">
            <a:r>
              <a:t>This document is for informational purposes only and does not constitute a solicitation for the purchase or sale of any securities. The information contained herein was obtained</a:t>
            </a:r>
            <a:endParaRPr/>
          </a:p>
          <a:p xmlns:a="http://schemas.openxmlformats.org/drawingml/2006/main">
            <a:r>
              <a:t>from sources, which we believe to be reliable, but whose accuracy and completeness we do not guarantee. The opinions and recommendations herein do not take into account</a:t>
            </a:r>
            <a:endParaRPr/>
          </a:p>
          <a:p xmlns:a="http://schemas.openxmlformats.org/drawingml/2006/main">
            <a:r>
              <a:t>the investment objectives, financial situation and particular needs of the reader. Opinions expressed are subject to change without notice. Investors should assume that Fubon</a:t>
            </a:r>
            <a:endParaRPr/>
          </a:p>
          <a:p xmlns:a="http://schemas.openxmlformats.org/drawingml/2006/main">
            <a:r>
              <a:t>Securities or its subsidiaries or its affiliates is seeking or will seek investment banking or other business relationships with the companies in this report. Copyright 2025 Fubon</a:t>
            </a:r>
            <a:endParaRPr/>
          </a:p>
          <a:p xmlns:a="http://schemas.openxmlformats.org/drawingml/2006/main">
            <a:r>
              <a:t>Investment Service – All rights reserved. Any duplication or redistribution of this report is prohibited. Additional information is available upon request.</a:t>
            </a:r>
            <a:endParaRPr/>
          </a:p>
          <a:p xmlns:a="http://schemas.openxmlformats.org/drawingml/2006/main">
            <a:r>
              <a:t/>
            </a:r>
            <a:endParaRPr/>
          </a:p>
          <a:p xmlns:a="http://schemas.openxmlformats.org/drawingml/2006/main">
            <a:r>
              <a:t/>
            </a:r>
            <a:endParaRPr/>
          </a:p>
          <a:p xmlns:a="http://schemas.openxmlformats.org/drawingml/2006/main">
            <a:r>
              <a:t>This report has been produced in Chinese. In the event of questions regarding the accuracy of the translation, please refer to the original Chinese version.</a:t>
            </a:r>
            <a:endParaRP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Fubon's Rating System</a:t>
            </a:r>
            <a:endParaRPr/>
          </a:p>
          <a:p xmlns:a="http://schemas.openxmlformats.org/drawingml/2006/main">
            <a:r>
              <a:t>Rating                       Definition</a:t>
            </a:r>
            <a:endParaRPr/>
          </a:p>
          <a:p xmlns:a="http://schemas.openxmlformats.org/drawingml/2006/main">
            <a:r>
              <a:t>Buy                          Expected absolute return to be over 15% within the next 6 months</a:t>
            </a:r>
            <a:endParaRPr/>
          </a:p>
          <a:p xmlns:a="http://schemas.openxmlformats.org/drawingml/2006/main">
            <a:r>
              <a:t>Neutral                      Expected absolute return to be level within the next 6 months</a:t>
            </a:r>
            <a:endParaRPr/>
          </a:p>
          <a:p xmlns:a="http://schemas.openxmlformats.org/drawingml/2006/main">
            <a:r>
              <a:t>Sell                         Expected absolute return to be over negative 15% within the next 6 months</a:t>
            </a:r>
            <a:endParaRPr/>
          </a:p>
          <a:p xmlns:a="http://schemas.openxmlformats.org/drawingml/2006/main">
            <a:r>
              <a:t>Not Rated (NR)               Pursuant to Fubon acting in deals involving the company or there is not a sufficient fundamental basis for determining an investment rating</a:t>
            </a:r>
            <a:endParaRPr/>
          </a:p>
          <a:p xmlns:a="http://schemas.openxmlformats.org/drawingml/2006/main">
            <a:r>
              <a:t>Under Review                 Fubon is in the process of determining an investment rating and will assign a rating within the 3- to 6-month horizon</a:t>
            </a:r>
            <a:endParaRPr/>
          </a:p>
          <a:p xmlns:a="http://schemas.openxmlformats.org/drawingml/2006/main">
            <a:r>
              <a:t/>
            </a:r>
            <a:endParaRPr/>
          </a:p>
          <a:p xmlns:a="http://schemas.openxmlformats.org/drawingml/2006/main">
            <a:r>
              <a:t/>
            </a:r>
            <a:endParaRPr/>
          </a:p>
          <a:p xmlns:a="http://schemas.openxmlformats.org/drawingml/2006/main">
            <a:r>
              <a:t>Sector Rating                Definition</a:t>
            </a:r>
            <a:endParaRPr/>
          </a:p>
          <a:p xmlns:a="http://schemas.openxmlformats.org/drawingml/2006/main">
            <a:r>
              <a:t>Overweight                   Sector expected to outperform the broader market indexes within the next 6-12 months</a:t>
            </a:r>
            <a:endParaRPr/>
          </a:p>
          <a:p xmlns:a="http://schemas.openxmlformats.org/drawingml/2006/main">
            <a:r>
              <a:t>Market Weight                Sector expected to perform in line with the broader market averages within the next 6-12 months</a:t>
            </a:r>
            <a:endParaRPr/>
          </a:p>
          <a:p xmlns:a="http://schemas.openxmlformats.org/drawingml/2006/main">
            <a:r>
              <a:t>Underweight                  Sector expected to underperform the broader market indexes within the next 6-12 months.</a:t>
            </a:r>
            <a:endParaRP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請參閱末頁之免責宣言                                                                                                                                                                      12</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f3a2465eb04a0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3774b897fcd4ff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172801d45a447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5576986bc42431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8983222eb743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4f669113c0c4dd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adb543b50864bc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54f88508044488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7e0c879ad2c421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6e80318ff684d7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b1a0d247d884c94"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b73280bc8825455d" /><Relationship Type="http://schemas.openxmlformats.org/officeDocument/2006/relationships/image" Target="/ppt/media/image.jpeg" Id="Rf6fe304cb1c142ad"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cad515b7b1514625" /><Relationship Type="http://schemas.openxmlformats.org/officeDocument/2006/relationships/image" Target="/ppt/media/image2.jpeg" Id="Ra9027300b54c4262" /><Relationship Type="http://schemas.openxmlformats.org/officeDocument/2006/relationships/image" Target="/ppt/media/image.png" Id="R660623655c2c4f25" /></Relationships>
</file>

<file path=ppt/slideLayouts/slideLayout1.xml><?xml version="1.0" encoding="utf-8"?>
<p:sldLayout xmlns:p="http://schemas.openxmlformats.org/presentationml/2006/main" type="title" preserve="1">
  <p:cSld name="標題投影片">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48F18B3B-C79A-D30A-9E8B-320D35103315}"/>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按一下以編輯母片標題樣式</a:t>
            </a:r>
          </a:p>
        </p:txBody>
      </p:sp>
      <p:sp>
        <p:nvSpPr>
          <p:cNvPr id="3" name="副標題 2">
            <a:extLst xmlns:a="http://schemas.openxmlformats.org/drawingml/2006/main">
              <a:ext uri="{FF2B5EF4-FFF2-40B4-BE49-F238E27FC236}">
                <a16:creationId xmlns:a16="http://schemas.microsoft.com/office/drawing/2014/main" id="{50433205-A250-C04A-19E1-9D36E9A6A139}"/>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按一下以編輯母片子標題樣式</a:t>
            </a:r>
          </a:p>
        </p:txBody>
      </p:sp>
      <p:sp>
        <p:nvSpPr>
          <p:cNvPr id="4" name="日期版面配置區 3">
            <a:extLst xmlns:a="http://schemas.openxmlformats.org/drawingml/2006/main">
              <a:ext uri="{FF2B5EF4-FFF2-40B4-BE49-F238E27FC236}">
                <a16:creationId xmlns:a16="http://schemas.microsoft.com/office/drawing/2014/main" id="{3C3D74FA-60E2-D317-0554-15C634B7A4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5" name="頁尾版面配置區 4">
            <a:extLst xmlns:a="http://schemas.openxmlformats.org/drawingml/2006/main">
              <a:ext uri="{FF2B5EF4-FFF2-40B4-BE49-F238E27FC236}">
                <a16:creationId xmlns:a16="http://schemas.microsoft.com/office/drawing/2014/main" id="{ADC23465-2136-CAB3-6129-F1A5EC39BE7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投影片編號版面配置區 5">
            <a:extLst xmlns:a="http://schemas.openxmlformats.org/drawingml/2006/main">
              <a:ext uri="{FF2B5EF4-FFF2-40B4-BE49-F238E27FC236}">
                <a16:creationId xmlns:a16="http://schemas.microsoft.com/office/drawing/2014/main" id="{D86AFDE9-5BF3-9071-ED63-0955BBE60D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2.xml><?xml version="1.0" encoding="utf-8"?>
<p:sldLayout xmlns:p="http://schemas.openxmlformats.org/presentationml/2006/main" type="obj" preserve="1">
  <p:cSld name="標題及內容">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67875BE7-4E1C-2E0F-8266-89872CBCD7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按一下以編輯母片標題樣式</a:t>
            </a:r>
          </a:p>
        </p:txBody>
      </p:sp>
      <p:sp>
        <p:nvSpPr>
          <p:cNvPr id="3" name="內容版面配置區 2">
            <a:extLst xmlns:a="http://schemas.openxmlformats.org/drawingml/2006/main">
              <a:ext uri="{FF2B5EF4-FFF2-40B4-BE49-F238E27FC236}">
                <a16:creationId xmlns:a16="http://schemas.microsoft.com/office/drawing/2014/main" id="{2612F807-ED48-1C29-9C77-EEAC7890847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4" name="日期版面配置區 3">
            <a:extLst xmlns:a="http://schemas.openxmlformats.org/drawingml/2006/main">
              <a:ext uri="{FF2B5EF4-FFF2-40B4-BE49-F238E27FC236}">
                <a16:creationId xmlns:a16="http://schemas.microsoft.com/office/drawing/2014/main" id="{C6BF9AF9-30AD-A712-3304-37EF504C4CE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5" name="頁尾版面配置區 4">
            <a:extLst xmlns:a="http://schemas.openxmlformats.org/drawingml/2006/main">
              <a:ext uri="{FF2B5EF4-FFF2-40B4-BE49-F238E27FC236}">
                <a16:creationId xmlns:a16="http://schemas.microsoft.com/office/drawing/2014/main" id="{4DCF142E-8734-3821-F4E1-3627E264E42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投影片編號版面配置區 5">
            <a:extLst xmlns:a="http://schemas.openxmlformats.org/drawingml/2006/main">
              <a:ext uri="{FF2B5EF4-FFF2-40B4-BE49-F238E27FC236}">
                <a16:creationId xmlns:a16="http://schemas.microsoft.com/office/drawing/2014/main" id="{0D64D1C3-820E-D7C5-79E1-CFBE18BFCAA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3.xml><?xml version="1.0" encoding="utf-8"?>
<p:sldLayout xmlns:p="http://schemas.openxmlformats.org/presentationml/2006/main" type="secHead" preserve="1">
  <p:cSld name="章節標題">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DAC1A336-5B03-E061-CB74-A989C3573376}"/>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按一下以編輯母片標題樣式</a:t>
            </a:r>
          </a:p>
        </p:txBody>
      </p:sp>
      <p:sp>
        <p:nvSpPr>
          <p:cNvPr id="3" name="文字版面配置區 2">
            <a:extLst xmlns:a="http://schemas.openxmlformats.org/drawingml/2006/main">
              <a:ext uri="{FF2B5EF4-FFF2-40B4-BE49-F238E27FC236}">
                <a16:creationId xmlns:a16="http://schemas.microsoft.com/office/drawing/2014/main" id="{98BCB916-9ED6-B1ED-DB30-4F7C8179497A}"/>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按一下以編輯母片文字樣式</a:t>
            </a:r>
          </a:p>
        </p:txBody>
      </p:sp>
      <p:sp>
        <p:nvSpPr>
          <p:cNvPr id="4" name="日期版面配置區 3">
            <a:extLst xmlns:a="http://schemas.openxmlformats.org/drawingml/2006/main">
              <a:ext uri="{FF2B5EF4-FFF2-40B4-BE49-F238E27FC236}">
                <a16:creationId xmlns:a16="http://schemas.microsoft.com/office/drawing/2014/main" id="{339482BC-D24D-48EE-A684-444E61E7777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5" name="頁尾版面配置區 4">
            <a:extLst xmlns:a="http://schemas.openxmlformats.org/drawingml/2006/main">
              <a:ext uri="{FF2B5EF4-FFF2-40B4-BE49-F238E27FC236}">
                <a16:creationId xmlns:a16="http://schemas.microsoft.com/office/drawing/2014/main" id="{A0237CF6-7732-B956-7FFA-63F7E33F27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投影片編號版面配置區 5">
            <a:extLst xmlns:a="http://schemas.openxmlformats.org/drawingml/2006/main">
              <a:ext uri="{FF2B5EF4-FFF2-40B4-BE49-F238E27FC236}">
                <a16:creationId xmlns:a16="http://schemas.microsoft.com/office/drawing/2014/main" id="{6236DD4A-8DDC-BC56-FDB8-6127B967319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4.xml><?xml version="1.0" encoding="utf-8"?>
<p:sldLayout xmlns:p="http://schemas.openxmlformats.org/presentationml/2006/main" type="twoObj" preserve="1">
  <p:cSld name="兩個內容">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03B8AFB9-8911-2867-76A8-00829619BF3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按一下以編輯母片標題樣式</a:t>
            </a:r>
          </a:p>
        </p:txBody>
      </p:sp>
      <p:sp>
        <p:nvSpPr>
          <p:cNvPr id="3" name="內容版面配置區 2">
            <a:extLst xmlns:a="http://schemas.openxmlformats.org/drawingml/2006/main">
              <a:ext uri="{FF2B5EF4-FFF2-40B4-BE49-F238E27FC236}">
                <a16:creationId xmlns:a16="http://schemas.microsoft.com/office/drawing/2014/main" id="{5E3E4AFC-EBB4-C9AA-8EA7-456AA734E467}"/>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4" name="內容版面配置區 3">
            <a:extLst xmlns:a="http://schemas.openxmlformats.org/drawingml/2006/main">
              <a:ext uri="{FF2B5EF4-FFF2-40B4-BE49-F238E27FC236}">
                <a16:creationId xmlns:a16="http://schemas.microsoft.com/office/drawing/2014/main" id="{49B56454-9B54-3463-3048-4E3B466515A2}"/>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5" name="日期版面配置區 4">
            <a:extLst xmlns:a="http://schemas.openxmlformats.org/drawingml/2006/main">
              <a:ext uri="{FF2B5EF4-FFF2-40B4-BE49-F238E27FC236}">
                <a16:creationId xmlns:a16="http://schemas.microsoft.com/office/drawing/2014/main" id="{D4169BFF-98B8-76A6-972D-E3E5264BD9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6" name="頁尾版面配置區 5">
            <a:extLst xmlns:a="http://schemas.openxmlformats.org/drawingml/2006/main">
              <a:ext uri="{FF2B5EF4-FFF2-40B4-BE49-F238E27FC236}">
                <a16:creationId xmlns:a16="http://schemas.microsoft.com/office/drawing/2014/main" id="{B697A390-A7BC-B145-5A37-CAE3DEACB9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投影片編號版面配置區 6">
            <a:extLst xmlns:a="http://schemas.openxmlformats.org/drawingml/2006/main">
              <a:ext uri="{FF2B5EF4-FFF2-40B4-BE49-F238E27FC236}">
                <a16:creationId xmlns:a16="http://schemas.microsoft.com/office/drawing/2014/main" id="{F178FD82-3A14-FEDF-D9DA-A8294DE66C9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5.xml><?xml version="1.0" encoding="utf-8"?>
<p:sldLayout xmlns:p="http://schemas.openxmlformats.org/presentationml/2006/main" type="twoTxTwoObj" preserve="1">
  <p:cSld name="比較">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3F033680-5195-BB8E-6E18-92D83AB099AF}"/>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按一下以編輯母片標題樣式</a:t>
            </a:r>
          </a:p>
        </p:txBody>
      </p:sp>
      <p:sp>
        <p:nvSpPr>
          <p:cNvPr id="3" name="文字版面配置區 2">
            <a:extLst xmlns:a="http://schemas.openxmlformats.org/drawingml/2006/main">
              <a:ext uri="{FF2B5EF4-FFF2-40B4-BE49-F238E27FC236}">
                <a16:creationId xmlns:a16="http://schemas.microsoft.com/office/drawing/2014/main" id="{635A20DB-19E2-F190-DC0A-8E758AAE104A}"/>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按一下以編輯母片文字樣式</a:t>
            </a:r>
          </a:p>
        </p:txBody>
      </p:sp>
      <p:sp>
        <p:nvSpPr>
          <p:cNvPr id="4" name="內容版面配置區 3">
            <a:extLst xmlns:a="http://schemas.openxmlformats.org/drawingml/2006/main">
              <a:ext uri="{FF2B5EF4-FFF2-40B4-BE49-F238E27FC236}">
                <a16:creationId xmlns:a16="http://schemas.microsoft.com/office/drawing/2014/main" id="{0CAF8388-C939-7F37-3BD7-A635018965EC}"/>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5" name="文字版面配置區 4">
            <a:extLst xmlns:a="http://schemas.openxmlformats.org/drawingml/2006/main">
              <a:ext uri="{FF2B5EF4-FFF2-40B4-BE49-F238E27FC236}">
                <a16:creationId xmlns:a16="http://schemas.microsoft.com/office/drawing/2014/main" id="{6F78B665-569E-FD60-10B0-9F5A6CDB519A}"/>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按一下以編輯母片文字樣式</a:t>
            </a:r>
          </a:p>
        </p:txBody>
      </p:sp>
      <p:sp>
        <p:nvSpPr>
          <p:cNvPr id="6" name="內容版面配置區 5">
            <a:extLst xmlns:a="http://schemas.openxmlformats.org/drawingml/2006/main">
              <a:ext uri="{FF2B5EF4-FFF2-40B4-BE49-F238E27FC236}">
                <a16:creationId xmlns:a16="http://schemas.microsoft.com/office/drawing/2014/main" id="{136857E1-476E-0439-3C44-FDC2DA293BAF}"/>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7" name="日期版面配置區 6">
            <a:extLst xmlns:a="http://schemas.openxmlformats.org/drawingml/2006/main">
              <a:ext uri="{FF2B5EF4-FFF2-40B4-BE49-F238E27FC236}">
                <a16:creationId xmlns:a16="http://schemas.microsoft.com/office/drawing/2014/main" id="{642B7300-999F-E06A-0D11-3E53DC4552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8" name="頁尾版面配置區 7">
            <a:extLst xmlns:a="http://schemas.openxmlformats.org/drawingml/2006/main">
              <a:ext uri="{FF2B5EF4-FFF2-40B4-BE49-F238E27FC236}">
                <a16:creationId xmlns:a16="http://schemas.microsoft.com/office/drawing/2014/main" id="{EA7C6FDF-4C23-9B99-B35D-697C4725CB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投影片編號版面配置區 8">
            <a:extLst xmlns:a="http://schemas.openxmlformats.org/drawingml/2006/main">
              <a:ext uri="{FF2B5EF4-FFF2-40B4-BE49-F238E27FC236}">
                <a16:creationId xmlns:a16="http://schemas.microsoft.com/office/drawing/2014/main" id="{2108BEF8-0F43-F8EF-1867-F003E8CDC0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6.xml><?xml version="1.0" encoding="utf-8"?>
<p:sldLayout xmlns:p="http://schemas.openxmlformats.org/presentationml/2006/main" type="titleOnly" preserve="1">
  <p:cSld name="只有標題">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3D88C7A9-843D-1F49-AF04-F650570ACB1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按一下以編輯母片標題樣式</a:t>
            </a:r>
          </a:p>
        </p:txBody>
      </p:sp>
      <p:sp>
        <p:nvSpPr>
          <p:cNvPr id="3" name="日期版面配置區 2">
            <a:extLst xmlns:a="http://schemas.openxmlformats.org/drawingml/2006/main">
              <a:ext uri="{FF2B5EF4-FFF2-40B4-BE49-F238E27FC236}">
                <a16:creationId xmlns:a16="http://schemas.microsoft.com/office/drawing/2014/main" id="{112FD71F-09C2-3F34-3E05-1D0C541C0E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4" name="頁尾版面配置區 3">
            <a:extLst xmlns:a="http://schemas.openxmlformats.org/drawingml/2006/main">
              <a:ext uri="{FF2B5EF4-FFF2-40B4-BE49-F238E27FC236}">
                <a16:creationId xmlns:a16="http://schemas.microsoft.com/office/drawing/2014/main" id="{7A2B6502-B9C3-EDF5-E1A4-0F6198029E7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投影片編號版面配置區 4">
            <a:extLst xmlns:a="http://schemas.openxmlformats.org/drawingml/2006/main">
              <a:ext uri="{FF2B5EF4-FFF2-40B4-BE49-F238E27FC236}">
                <a16:creationId xmlns:a16="http://schemas.microsoft.com/office/drawing/2014/main" id="{C5558BF7-50A6-DD4B-FF8A-46E8E11C77C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版面配置區 1">
            <a:extLst xmlns:a="http://schemas.openxmlformats.org/drawingml/2006/main">
              <a:ext uri="{FF2B5EF4-FFF2-40B4-BE49-F238E27FC236}">
                <a16:creationId xmlns:a16="http://schemas.microsoft.com/office/drawing/2014/main" id="{3C64C2DF-4284-BFD0-F3F1-FDE993179B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3" name="頁尾版面配置區 2">
            <a:extLst xmlns:a="http://schemas.openxmlformats.org/drawingml/2006/main">
              <a:ext uri="{FF2B5EF4-FFF2-40B4-BE49-F238E27FC236}">
                <a16:creationId xmlns:a16="http://schemas.microsoft.com/office/drawing/2014/main" id="{592C2337-0A5A-1D52-252E-2A47A02546D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投影片編號版面配置區 3">
            <a:extLst xmlns:a="http://schemas.openxmlformats.org/drawingml/2006/main">
              <a:ext uri="{FF2B5EF4-FFF2-40B4-BE49-F238E27FC236}">
                <a16:creationId xmlns:a16="http://schemas.microsoft.com/office/drawing/2014/main" id="{38D476C5-04B7-17DA-3E97-1CA0703CC0E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8.xml><?xml version="1.0" encoding="utf-8"?>
<p:sldLayout xmlns:p="http://schemas.openxmlformats.org/presentationml/2006/main" type="objTx" preserve="1">
  <p:cSld name="含輔助字幕的內容">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370F6F18-540D-5740-EEB2-02C48B0E8B90}"/>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按一下以編輯母片標題樣式</a:t>
            </a:r>
          </a:p>
        </p:txBody>
      </p:sp>
      <p:sp>
        <p:nvSpPr>
          <p:cNvPr id="3" name="內容版面配置區 2">
            <a:extLst xmlns:a="http://schemas.openxmlformats.org/drawingml/2006/main">
              <a:ext uri="{FF2B5EF4-FFF2-40B4-BE49-F238E27FC236}">
                <a16:creationId xmlns:a16="http://schemas.microsoft.com/office/drawing/2014/main" id="{3673054B-70D2-1076-375D-E767B3A3740A}"/>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4" name="文字版面配置區 3">
            <a:extLst xmlns:a="http://schemas.openxmlformats.org/drawingml/2006/main">
              <a:ext uri="{FF2B5EF4-FFF2-40B4-BE49-F238E27FC236}">
                <a16:creationId xmlns:a16="http://schemas.microsoft.com/office/drawing/2014/main" id="{9B7533D9-D590-800E-0422-BF2E8D36B869}"/>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按一下以編輯母片文字樣式</a:t>
            </a:r>
          </a:p>
        </p:txBody>
      </p:sp>
      <p:sp>
        <p:nvSpPr>
          <p:cNvPr id="5" name="日期版面配置區 4">
            <a:extLst xmlns:a="http://schemas.openxmlformats.org/drawingml/2006/main">
              <a:ext uri="{FF2B5EF4-FFF2-40B4-BE49-F238E27FC236}">
                <a16:creationId xmlns:a16="http://schemas.microsoft.com/office/drawing/2014/main" id="{D5527908-F962-1353-1065-54BA574B91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6" name="頁尾版面配置區 5">
            <a:extLst xmlns:a="http://schemas.openxmlformats.org/drawingml/2006/main">
              <a:ext uri="{FF2B5EF4-FFF2-40B4-BE49-F238E27FC236}">
                <a16:creationId xmlns:a16="http://schemas.microsoft.com/office/drawing/2014/main" id="{56F9CD05-FB29-D84E-2486-AC5DC4E74B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投影片編號版面配置區 6">
            <a:extLst xmlns:a="http://schemas.openxmlformats.org/drawingml/2006/main">
              <a:ext uri="{FF2B5EF4-FFF2-40B4-BE49-F238E27FC236}">
                <a16:creationId xmlns:a16="http://schemas.microsoft.com/office/drawing/2014/main" id="{69323C69-22F1-9A6B-0AFA-CFABA37556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9.xml><?xml version="1.0" encoding="utf-8"?>
<p:sldLayout xmlns:p="http://schemas.openxmlformats.org/presentationml/2006/main" type="picTx" preserve="1">
  <p:cSld name="含輔助字幕的圖片">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7D9D226E-CB6E-EF39-3ED2-98851F56E0B7}"/>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按一下以編輯母片標題樣式</a:t>
            </a:r>
          </a:p>
        </p:txBody>
      </p:sp>
      <p:sp>
        <p:nvSpPr>
          <p:cNvPr id="3" name="圖片版面配置區 2">
            <a:extLst xmlns:a="http://schemas.openxmlformats.org/drawingml/2006/main">
              <a:ext uri="{FF2B5EF4-FFF2-40B4-BE49-F238E27FC236}">
                <a16:creationId xmlns:a16="http://schemas.microsoft.com/office/drawing/2014/main" id="{9EDC66BA-E2D1-C5ED-DF8E-5A62660173F5}"/>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文字版面配置區 3">
            <a:extLst xmlns:a="http://schemas.openxmlformats.org/drawingml/2006/main">
              <a:ext uri="{FF2B5EF4-FFF2-40B4-BE49-F238E27FC236}">
                <a16:creationId xmlns:a16="http://schemas.microsoft.com/office/drawing/2014/main" id="{557C06E7-2FBF-CCE2-B6EB-078CED31501A}"/>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按一下以編輯母片文字樣式</a:t>
            </a:r>
          </a:p>
        </p:txBody>
      </p:sp>
      <p:sp>
        <p:nvSpPr>
          <p:cNvPr id="5" name="日期版面配置區 4">
            <a:extLst xmlns:a="http://schemas.openxmlformats.org/drawingml/2006/main">
              <a:ext uri="{FF2B5EF4-FFF2-40B4-BE49-F238E27FC236}">
                <a16:creationId xmlns:a16="http://schemas.microsoft.com/office/drawing/2014/main" id="{02DF25A6-3B3E-D197-98D0-57EEB16EB62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6" name="頁尾版面配置區 5">
            <a:extLst xmlns:a="http://schemas.openxmlformats.org/drawingml/2006/main">
              <a:ext uri="{FF2B5EF4-FFF2-40B4-BE49-F238E27FC236}">
                <a16:creationId xmlns:a16="http://schemas.microsoft.com/office/drawing/2014/main" id="{AA3BEFD8-58B1-8032-E616-1517A6032E0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投影片編號版面配置區 6">
            <a:extLst xmlns:a="http://schemas.openxmlformats.org/drawingml/2006/main">
              <a:ext uri="{FF2B5EF4-FFF2-40B4-BE49-F238E27FC236}">
                <a16:creationId xmlns:a16="http://schemas.microsoft.com/office/drawing/2014/main" id="{AD45CFE7-0AAB-47EC-5109-C314B6E2EA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10.xml><?xml version="1.0" encoding="utf-8"?>
<p:sldLayout xmlns:p="http://schemas.openxmlformats.org/presentationml/2006/main" type="vertTx" preserve="1">
  <p:cSld name="標題及直排文字">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2BC67D65-338F-7646-02B7-E01FD32C2F2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按一下以編輯母片標題樣式</a:t>
            </a:r>
          </a:p>
        </p:txBody>
      </p:sp>
      <p:sp>
        <p:nvSpPr>
          <p:cNvPr id="3" name="直排文字版面配置區 2">
            <a:extLst xmlns:a="http://schemas.openxmlformats.org/drawingml/2006/main">
              <a:ext uri="{FF2B5EF4-FFF2-40B4-BE49-F238E27FC236}">
                <a16:creationId xmlns:a16="http://schemas.microsoft.com/office/drawing/2014/main" id="{6C6774F0-FD16-07B8-0EBB-8753C6DF99C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4" name="日期版面配置區 3">
            <a:extLst xmlns:a="http://schemas.openxmlformats.org/drawingml/2006/main">
              <a:ext uri="{FF2B5EF4-FFF2-40B4-BE49-F238E27FC236}">
                <a16:creationId xmlns:a16="http://schemas.microsoft.com/office/drawing/2014/main" id="{E5E57050-B3D8-98B8-4786-BF412CF346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5" name="頁尾版面配置區 4">
            <a:extLst xmlns:a="http://schemas.openxmlformats.org/drawingml/2006/main">
              <a:ext uri="{FF2B5EF4-FFF2-40B4-BE49-F238E27FC236}">
                <a16:creationId xmlns:a16="http://schemas.microsoft.com/office/drawing/2014/main" id="{EC99B3F5-5643-EE5E-1DAC-94C8A18EED5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投影片編號版面配置區 5">
            <a:extLst xmlns:a="http://schemas.openxmlformats.org/drawingml/2006/main">
              <a:ext uri="{FF2B5EF4-FFF2-40B4-BE49-F238E27FC236}">
                <a16:creationId xmlns:a16="http://schemas.microsoft.com/office/drawing/2014/main" id="{CB94C950-7F11-92CD-8FB4-F5650908788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11.xml><?xml version="1.0" encoding="utf-8"?>
<p:sldLayout xmlns:p="http://schemas.openxmlformats.org/presentationml/2006/main" type="vertTitleAndTx" preserve="1">
  <p:cSld name="直排標題及文字">
    <p:spTree>
      <p:nvGrpSpPr>
        <p:cNvPr id="1" name=""/>
        <p:cNvGrpSpPr/>
        <p:nvPr/>
      </p:nvGrpSpPr>
      <p:grpSpPr>
        <a:xfrm xmlns:a="http://schemas.openxmlformats.org/drawingml/2006/main"/>
      </p:grpSpPr>
      <p:sp>
        <p:nvSpPr>
          <p:cNvPr id="2" name="直排標題 1">
            <a:extLst xmlns:a="http://schemas.openxmlformats.org/drawingml/2006/main">
              <a:ext uri="{FF2B5EF4-FFF2-40B4-BE49-F238E27FC236}">
                <a16:creationId xmlns:a16="http://schemas.microsoft.com/office/drawing/2014/main" id="{FA67ED09-8233-2174-97BA-E0511DFCB42B}"/>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按一下以編輯母片標題樣式</a:t>
            </a:r>
          </a:p>
        </p:txBody>
      </p:sp>
      <p:sp>
        <p:nvSpPr>
          <p:cNvPr id="3" name="直排文字版面配置區 2">
            <a:extLst xmlns:a="http://schemas.openxmlformats.org/drawingml/2006/main">
              <a:ext uri="{FF2B5EF4-FFF2-40B4-BE49-F238E27FC236}">
                <a16:creationId xmlns:a16="http://schemas.microsoft.com/office/drawing/2014/main" id="{E0C5295C-8A98-EA5F-E60C-BEB45531AEB0}"/>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4" name="日期版面配置區 3">
            <a:extLst xmlns:a="http://schemas.openxmlformats.org/drawingml/2006/main">
              <a:ext uri="{FF2B5EF4-FFF2-40B4-BE49-F238E27FC236}">
                <a16:creationId xmlns:a16="http://schemas.microsoft.com/office/drawing/2014/main" id="{4B112FFF-8485-9BCF-5C4A-BCA10664DE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5" name="頁尾版面配置區 4">
            <a:extLst xmlns:a="http://schemas.openxmlformats.org/drawingml/2006/main">
              <a:ext uri="{FF2B5EF4-FFF2-40B4-BE49-F238E27FC236}">
                <a16:creationId xmlns:a16="http://schemas.microsoft.com/office/drawing/2014/main" id="{4A7519FE-F881-9918-F600-C8CAC6C901B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投影片編號版面配置區 5">
            <a:extLst xmlns:a="http://schemas.openxmlformats.org/drawingml/2006/main">
              <a:ext uri="{FF2B5EF4-FFF2-40B4-BE49-F238E27FC236}">
                <a16:creationId xmlns:a16="http://schemas.microsoft.com/office/drawing/2014/main" id="{7B10CD9E-3798-5B1B-D579-3622403407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12.xml><?xml version="1.0" encoding="utf-8"?>
<p:sldLayout xmlns:p="http://schemas.openxmlformats.org/presentationml/2006/main">
  <p:cSld name="封面首頁">
    <p:bg>
      <p:bgPr>
        <a:blipFill xmlns:a="http://schemas.openxmlformats.org/drawingml/2006/main" rotWithShape="1">
          <a:blip xmlns:r="http://schemas.openxmlformats.org/officeDocument/2006/relationships" r:embed="Rf6fe304cb1c142ad">
            <a:lum/>
          </a:blip>
          <a:srcRect l="0" t="0" r="0" b="0"/>
          <a:stretch>
            <a:fillRect l="0" t="0" r="0" b="0"/>
          </a:stretch>
        </a:blipFill>
      </p:bgPr>
    </p:bg>
    <p:spTree>
      <p:nvGrpSpPr>
        <p:cNvPr id="1" name=""/>
        <p:cNvGrpSpPr/>
        <p:nvPr/>
      </p:nvGrpSpPr>
      <p:grpSpPr>
        <a:xfrm xmlns:a="http://schemas.openxmlformats.org/drawingml/2006/main"/>
      </p:grpSpPr>
      <p:sp>
        <p:nvSpPr>
          <p:cNvPr id="6" name="直線接點 5">
            <a:extLst xmlns:a="http://schemas.openxmlformats.org/drawingml/2006/main">
              <a:ext uri="{FF2B5EF4-FFF2-40B4-BE49-F238E27FC236}">
                <a16:creationId xmlns:a16="http://schemas.microsoft.com/office/drawing/2014/main" id="{55EE3285-EFC2-45EA-9F51-75492A79EE50}"/>
              </a:ext>
            </a:extLst>
          </p:cNvPr>
          <p:cNvSpPr>
            <a:spLocks xmlns:a="http://schemas.openxmlformats.org/drawingml/2006/main" noGrp="1"/>
          </p:cNvSpPr>
          <p:nvPr/>
        </p:nvSpPr>
        <p:spPr>
          <a:xfrm xmlns:a="http://schemas.openxmlformats.org/drawingml/2006/main">
            <a:off x="3965985" y="3026391"/>
            <a:ext cx="4260028" cy="0"/>
          </a:xfrm>
          <a:prstGeom xmlns:a="http://schemas.openxmlformats.org/drawingml/2006/main" prst="line">
            <a:avLst/>
          </a:prstGeom>
          <a:ln xmlns:a="http://schemas.openxmlformats.org/drawingml/2006/main" w="1270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投影片編號版面配置區 3">
            <a:extLst xmlns:a="http://schemas.openxmlformats.org/drawingml/2006/main">
              <a:ext uri="{FF2B5EF4-FFF2-40B4-BE49-F238E27FC236}">
                <a16:creationId xmlns:a16="http://schemas.microsoft.com/office/drawing/2014/main" id="{92333323-A73C-5064-B286-84C9CFCF172F}"/>
              </a:ext>
            </a:extLst>
          </p:cNvPr>
          <p:cNvSpPr>
            <a:spLocks xmlns:a="http://schemas.openxmlformats.org/drawingml/2006/main" noGrp="1"/>
          </p:cNvSpPr>
          <p:nvPr/>
        </p:nvSpPr>
        <p:spPr>
          <a:xfrm xmlns:a="http://schemas.openxmlformats.org/drawingml/2006/main">
            <a:off x="11706044" y="6519625"/>
            <a:ext cx="403891" cy="29728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marL="0" algn="r" defTabSz="914400">
              <a:buNone/>
              <a:defRPr sz="1200" kern="1200">
                <a:solidFill>
                  <a:schemeClr val="tx1">
                    <a:lumMod val="75000"/>
                    <a:lumOff val="25000"/>
                  </a:schemeClr>
                </a:solidFill>
                <a:latin typeface="微軟正黑體"/>
                <a:ea typeface="微軟正黑體"/>
                <a:cs typeface="微軟正黑體"/>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ctr">
              <a:buNone/>
            </a:pPr>
            <a:fld id="{D4094CE0-D024-4FC6-B25F-837FC5BFCD48}" type="slidenum">
              <a:rPr sz="1400">
                <a:solidFill>
                  <a:schemeClr val="bg1"/>
                </a:solidFill>
                <a:latin typeface="Arial"/>
                <a:ea typeface="Arial"/>
                <a:cs typeface="Arial"/>
              </a:rPr>
              <a:t>‹#›</a:t>
            </a:fld>
            <a:endParaRPr sz="1400">
              <a:solidFill>
                <a:schemeClr val="bg1"/>
              </a:solidFill>
              <a:latin typeface="Arial"/>
              <a:ea typeface="Arial"/>
              <a:cs typeface="Arial"/>
            </a:endParaRPr>
          </a:p>
        </p:txBody>
      </p:sp>
      <p:sp>
        <p:nvSpPr>
          <p:cNvPr id="12" name="文字版面配置區 5">
            <a:extLst xmlns:a="http://schemas.openxmlformats.org/drawingml/2006/main">
              <a:ext uri="{FF2B5EF4-FFF2-40B4-BE49-F238E27FC236}">
                <a16:creationId xmlns:a16="http://schemas.microsoft.com/office/drawing/2014/main" id="{A68F9533-09CF-4FE2-B780-241EB6E105B5}"/>
              </a:ext>
            </a:extLst>
          </p:cNvPr>
          <p:cNvSpPr>
            <a:spLocks xmlns:a="http://schemas.openxmlformats.org/drawingml/2006/main" noGrp="1"/>
          </p:cNvSpPr>
          <p:nvPr>
            <p:ph type="body" idx="28" hasCustomPrompt="1"/>
          </p:nvPr>
        </p:nvSpPr>
        <p:spPr>
          <a:xfrm xmlns:a="http://schemas.openxmlformats.org/drawingml/2006/main">
            <a:off x="8000731" y="3404763"/>
            <a:ext cx="1006908" cy="329074"/>
          </a:xfrm>
          <a:prstGeom xmlns:a="http://schemas.openxmlformats.org/drawingml/2006/main" prst="rect">
            <a:avLst/>
          </a:prstGeom>
        </p:spPr>
        <p:txBody>
          <a:bodyPr xmlns:a="http://schemas.openxmlformats.org/drawingml/2006/main"/>
          <a:lstStyle xmlns:a="http://schemas.openxmlformats.org/drawingml/2006/main">
            <a:lvl1pPr marL="0" indent="0">
              <a:buNone/>
              <a:defRPr sz="1600" b="0">
                <a:solidFill>
                  <a:srgbClr val="3B99CB"/>
                </a:solidFill>
              </a:defRPr>
            </a:lvl1pPr>
          </a:lstStyle>
          <a:p xmlns:a="http://schemas.openxmlformats.org/drawingml/2006/main">
            <a:pPr lvl="0">
              <a:buNone/>
            </a:pPr>
            <a:r>
              <a:t>日期</a:t>
            </a:r>
          </a:p>
        </p:txBody>
      </p:sp>
      <p:sp>
        <p:nvSpPr>
          <p:cNvPr id="2" name="標題 1">
            <a:extLst xmlns:a="http://schemas.openxmlformats.org/drawingml/2006/main">
              <a:ext uri="{FF2B5EF4-FFF2-40B4-BE49-F238E27FC236}">
                <a16:creationId xmlns:a16="http://schemas.microsoft.com/office/drawing/2014/main" id="{7823FF69-4328-4C0F-E732-F62BA488011D}"/>
              </a:ext>
            </a:extLst>
          </p:cNvPr>
          <p:cNvSpPr>
            <a:spLocks xmlns:a="http://schemas.openxmlformats.org/drawingml/2006/main" noGrp="1"/>
          </p:cNvSpPr>
          <p:nvPr>
            <p:ph type="title" idx="0"/>
          </p:nvPr>
        </p:nvSpPr>
        <p:spPr>
          <a:xfrm xmlns:a="http://schemas.openxmlformats.org/drawingml/2006/main">
            <a:off x="2936396" y="2227456"/>
            <a:ext cx="6434027" cy="659975"/>
          </a:xfrm>
          <a:prstGeom xmlns:a="http://schemas.openxmlformats.org/drawingml/2006/main" prst="rect">
            <a:avLst/>
          </a:prstGeom>
        </p:spPr>
        <p:txBody>
          <a:bodyPr xmlns:a="http://schemas.openxmlformats.org/drawingml/2006/main"/>
          <a:lstStyle xmlns:a="http://schemas.openxmlformats.org/drawingml/2006/main">
            <a:lvl1pPr algn="l">
              <a:buNone/>
              <a:defRPr sz="4000">
                <a:solidFill>
                  <a:srgbClr val="008FC7"/>
                </a:solidFill>
              </a:defRPr>
            </a:lvl1pPr>
          </a:lstStyle>
          <a:p xmlns:a="http://schemas.openxmlformats.org/drawingml/2006/main">
            <a:r>
              <a:t>按一下以編輯母片標題樣式</a:t>
            </a:r>
            <a:endParaRPr/>
          </a:p>
        </p:txBody>
      </p:sp>
      <p:sp>
        <p:nvSpPr>
          <p:cNvPr id="7" name="圖片版面配置區 6">
            <a:extLst xmlns:a="http://schemas.openxmlformats.org/drawingml/2006/main">
              <a:ext uri="{FF2B5EF4-FFF2-40B4-BE49-F238E27FC236}">
                <a16:creationId xmlns:a16="http://schemas.microsoft.com/office/drawing/2014/main" id="{8D6A3F6E-2392-4DF6-BEE3-FD6E06BFA71B}"/>
              </a:ext>
            </a:extLst>
          </p:cNvPr>
          <p:cNvSpPr>
            <a:spLocks xmlns:a="http://schemas.openxmlformats.org/drawingml/2006/main" noGrp="1"/>
          </p:cNvSpPr>
          <p:nvPr>
            <p:ph type="pic" idx="29"/>
          </p:nvPr>
        </p:nvSpPr>
        <p:spPr>
          <a:xfrm xmlns:a="http://schemas.openxmlformats.org/drawingml/2006/main">
            <a:off x="9859963" y="241300"/>
            <a:ext cx="1992312" cy="569913"/>
          </a:xfrm>
          <a:prstGeom xmlns:a="http://schemas.openxmlformats.org/drawingml/2006/main" prst="rect">
            <a:avLst/>
          </a:prstGeom>
        </p:spPr>
        <p:txBody>
          <a:bodyPr xmlns:a="http://schemas.openxmlformats.org/drawingml/2006/main"/>
          <a:lstStyle xmlns:a="http://schemas.openxmlformats.org/drawingml/2006/main">
            <a:lvl1pPr marL="0" indent="0">
              <a:buNone/>
              <a:defRPr/>
            </a:lvl1pPr>
          </a:lstStyle>
          <a:p xmlns:a="http://schemas.openxmlformats.org/drawingml/2006/main">
            <a:r>
              <a:t>按一下圖示以新增圖片</a:t>
            </a:r>
          </a:p>
        </p:txBody>
      </p:sp>
      <p:sp>
        <p:nvSpPr>
          <p:cNvPr id="5" name="文字版面配置區 4">
            <a:extLst xmlns:a="http://schemas.openxmlformats.org/drawingml/2006/main">
              <a:ext uri="{FF2B5EF4-FFF2-40B4-BE49-F238E27FC236}">
                <a16:creationId xmlns:a16="http://schemas.microsoft.com/office/drawing/2014/main" id="{A8263612-F03C-9DA9-D88C-4746CC9739DA}"/>
              </a:ext>
            </a:extLst>
          </p:cNvPr>
          <p:cNvSpPr>
            <a:spLocks xmlns:a="http://schemas.openxmlformats.org/drawingml/2006/main" noGrp="1"/>
          </p:cNvSpPr>
          <p:nvPr>
            <p:ph type="body" idx="30"/>
          </p:nvPr>
        </p:nvSpPr>
        <p:spPr>
          <a:xfrm xmlns:a="http://schemas.openxmlformats.org/drawingml/2006/main">
            <a:off x="2936875" y="3300305"/>
            <a:ext cx="4818272" cy="432897"/>
          </a:xfrm>
          <a:prstGeom xmlns:a="http://schemas.openxmlformats.org/drawingml/2006/main" prst="rect">
            <a:avLst/>
          </a:prstGeom>
        </p:spPr>
        <p:txBody>
          <a:bodyPr xmlns:a="http://schemas.openxmlformats.org/drawingml/2006/main"/>
          <a:lstStyle xmlns:a="http://schemas.openxmlformats.org/drawingml/2006/main">
            <a:lvl1pPr marL="0" indent="0">
              <a:buNone/>
              <a:defRPr>
                <a:solidFill>
                  <a:schemeClr val="tx1">
                    <a:lumMod val="85000"/>
                    <a:lumOff val="15000"/>
                  </a:schemeClr>
                </a:solidFill>
              </a:defRPr>
            </a:lvl1pPr>
            <a:lvl2pPr marL="457200" indent="0">
              <a:buNone/>
              <a:defRPr/>
            </a:lvl2pPr>
            <a:lvl3pPr marL="914400" indent="0">
              <a:buNone/>
              <a:defRPr/>
            </a:lvl3pPr>
            <a:lvl4pPr marL="1371600" indent="0">
              <a:buNone/>
              <a:defRPr/>
            </a:lvl4pPr>
            <a:lvl5pPr marL="1828800" indent="0">
              <a:buNone/>
              <a:defRPr/>
            </a:lvl5pPr>
          </a:lstStyle>
          <a:p xmlns:a="http://schemas.openxmlformats.org/drawingml/2006/main">
            <a:pPr lvl="0">
              <a:buNone/>
            </a:pPr>
            <a:r>
              <a:t>按一下以編輯母片文字樣式</a:t>
            </a:r>
          </a:p>
        </p:txBody>
      </p:sp>
    </p:spTree>
  </p:cSld>
</p:sldLayout>
</file>

<file path=ppt/slideLayouts/slideLayout13.xml><?xml version="1.0" encoding="utf-8"?>
<p:sldLayout xmlns:p="http://schemas.openxmlformats.org/presentationml/2006/main" userDrawn="1">
  <p:cSld name="內頁版型-有標題樣式">
    <p:bg>
      <p:bgPr>
        <a:blipFill xmlns:a="http://schemas.openxmlformats.org/drawingml/2006/main" rotWithShape="1">
          <a:blip xmlns:r="http://schemas.openxmlformats.org/officeDocument/2006/relationships" r:embed="Ra9027300b54c4262">
            <a:lum/>
          </a:blip>
          <a:srcRect l="0" t="0" r="0" b="0"/>
          <a:stretch>
            <a:fillRect l="0" t="0" r="0" b="0"/>
          </a:stretch>
        </a:blipFill>
      </p:bgPr>
    </p:bg>
    <p:spTree>
      <p:nvGrpSpPr>
        <p:cNvPr id="1" name=""/>
        <p:cNvGrpSpPr/>
        <p:nvPr/>
      </p:nvGrpSpPr>
      <p:grpSpPr>
        <a:xfrm xmlns:a="http://schemas.openxmlformats.org/drawingml/2006/main"/>
      </p:grpSpPr>
      <p:sp>
        <p:nvSpPr>
          <p:cNvPr id="2" name="投影片編號版面配置區 3">
            <a:extLst xmlns:a="http://schemas.openxmlformats.org/drawingml/2006/main">
              <a:ext uri="{FF2B5EF4-FFF2-40B4-BE49-F238E27FC236}">
                <a16:creationId xmlns:a16="http://schemas.microsoft.com/office/drawing/2014/main" id="{23E32C13-15C5-88F2-E564-E878156F89C8}"/>
              </a:ext>
            </a:extLst>
          </p:cNvPr>
          <p:cNvSpPr>
            <a:spLocks xmlns:a="http://schemas.openxmlformats.org/drawingml/2006/main" noGrp="1"/>
          </p:cNvSpPr>
          <p:nvPr/>
        </p:nvSpPr>
        <p:spPr>
          <a:xfrm xmlns:a="http://schemas.openxmlformats.org/drawingml/2006/main">
            <a:off x="11706044" y="6519625"/>
            <a:ext cx="403891" cy="29728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marL="0" algn="r" defTabSz="914400">
              <a:buNone/>
              <a:defRPr sz="1200" kern="1200">
                <a:solidFill>
                  <a:schemeClr val="tx1">
                    <a:lumMod val="75000"/>
                    <a:lumOff val="25000"/>
                  </a:schemeClr>
                </a:solidFill>
                <a:latin typeface="微軟正黑體"/>
                <a:ea typeface="微軟正黑體"/>
                <a:cs typeface="微軟正黑體"/>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ctr">
              <a:buNone/>
            </a:pPr>
            <a:fld id="{D4094CE0-D024-4FC6-B25F-837FC5BFCD48}" type="slidenum">
              <a:rPr sz="1400">
                <a:solidFill>
                  <a:srgbClr val="1492C3"/>
                </a:solidFill>
                <a:latin typeface="Arial"/>
                <a:ea typeface="Arial"/>
                <a:cs typeface="Arial"/>
              </a:rPr>
              <a:t>‹#›</a:t>
            </a:fld>
            <a:endParaRPr sz="1400">
              <a:solidFill>
                <a:srgbClr val="1492C3"/>
              </a:solidFill>
              <a:latin typeface="Arial"/>
              <a:ea typeface="Arial"/>
              <a:cs typeface="Arial"/>
            </a:endParaRPr>
          </a:p>
        </p:txBody>
      </p:sp>
      <p:sp>
        <p:nvSpPr>
          <p:cNvPr id="7" name="矩形 6">
            <a:extLst xmlns:a="http://schemas.openxmlformats.org/drawingml/2006/main">
              <a:ext uri="{FF2B5EF4-FFF2-40B4-BE49-F238E27FC236}">
                <a16:creationId xmlns:a16="http://schemas.microsoft.com/office/drawing/2014/main" id="{EF30012B-FA25-A5CA-A709-692F4B4EFFA9}"/>
              </a:ext>
            </a:extLst>
          </p:cNvPr>
          <p:cNvSpPr>
            <a:spLocks xmlns:a="http://schemas.openxmlformats.org/drawingml/2006/main" noGrp="1"/>
          </p:cNvSpPr>
          <p:nvPr/>
        </p:nvSpPr>
        <p:spPr>
          <a:xfrm xmlns:a="http://schemas.openxmlformats.org/drawingml/2006/main" flipV="1">
            <a:off x="1972637" y="172789"/>
            <a:ext cx="10219363" cy="45719"/>
          </a:xfrm>
          <a:prstGeom xmlns:a="http://schemas.openxmlformats.org/drawingml/2006/main" prst="rect">
            <a:avLst/>
          </a:prstGeom>
          <a:gradFill xmlns:a="http://schemas.openxmlformats.org/drawingml/2006/main">
            <a:gsLst>
              <a:gs pos="0">
                <a:srgbClr val="00F9D3">
                  <a:alpha val="0"/>
                </a:srgbClr>
              </a:gs>
              <a:gs pos="9000">
                <a:srgbClr val="00F9D3"/>
              </a:gs>
              <a:gs pos="44000">
                <a:srgbClr val="00C3CD"/>
              </a:gs>
              <a:gs pos="100000">
                <a:srgbClr val="008FC7"/>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3" name="圖片 7"/>
          <p:cNvPicPr>
            <a:picLocks xmlns:a="http://schemas.openxmlformats.org/drawingml/2006/main" noChangeAspect="1"/>
          </p:cNvPicPr>
          <p:nvPr/>
        </p:nvPicPr>
        <p:blipFill>
          <a:blip xmlns:r="http://schemas.openxmlformats.org/officeDocument/2006/relationships" xmlns:a="http://schemas.openxmlformats.org/drawingml/2006/main" r:embed="R660623655c2c4f25"/>
          <a:stretch xmlns:a="http://schemas.openxmlformats.org/drawingml/2006/main">
            <a:fillRect l="0" t="0" r="0" b="0"/>
          </a:stretch>
        </p:blipFill>
        <p:spPr>
          <a:xfrm xmlns:a="http://schemas.openxmlformats.org/drawingml/2006/main">
            <a:off x="321068" y="216276"/>
            <a:ext cx="517908" cy="537330"/>
          </a:xfrm>
          <a:prstGeom xmlns:a="http://schemas.openxmlformats.org/drawingml/2006/main" prst="rect">
            <a:avLst/>
          </a:prstGeom>
        </p:spPr>
      </p:pic>
      <p:sp>
        <p:nvSpPr>
          <p:cNvPr id="6" name="文字版面配置區 5">
            <a:extLst xmlns:a="http://schemas.openxmlformats.org/drawingml/2006/main">
              <a:ext uri="{FF2B5EF4-FFF2-40B4-BE49-F238E27FC236}">
                <a16:creationId xmlns:a16="http://schemas.microsoft.com/office/drawing/2014/main" id="{D613489B-F1F5-45B9-5E53-A14E9851EF53}"/>
              </a:ext>
            </a:extLst>
          </p:cNvPr>
          <p:cNvSpPr>
            <a:spLocks xmlns:a="http://schemas.openxmlformats.org/drawingml/2006/main" noGrp="1"/>
          </p:cNvSpPr>
          <p:nvPr>
            <p:ph type="body" idx="10" hasCustomPrompt="1"/>
          </p:nvPr>
        </p:nvSpPr>
        <p:spPr>
          <a:xfrm xmlns:a="http://schemas.openxmlformats.org/drawingml/2006/main">
            <a:off x="2427288" y="1229533"/>
            <a:ext cx="6319206" cy="438053"/>
          </a:xfrm>
          <a:prstGeom xmlns:a="http://schemas.openxmlformats.org/drawingml/2006/main" prst="rect">
            <a:avLst/>
          </a:prstGeom>
        </p:spPr>
        <p:txBody>
          <a:bodyPr xmlns:a="http://schemas.openxmlformats.org/drawingml/2006/main"/>
          <a:lstStyle xmlns:a="http://schemas.openxmlformats.org/drawingml/2006/main">
            <a:lvl1pPr marL="0" indent="0">
              <a:buFontTx/>
              <a:buNone/>
              <a:defRPr>
                <a:solidFill>
                  <a:schemeClr val="tx1">
                    <a:lumMod val="85000"/>
                    <a:lumOff val="15000"/>
                  </a:schemeClr>
                </a:solidFill>
              </a:defRPr>
            </a:lvl1pPr>
          </a:lstStyle>
          <a:p xmlns:a="http://schemas.openxmlformats.org/drawingml/2006/main">
            <a:pPr lvl="0">
              <a:buNone/>
            </a:pPr>
            <a:r>
              <a:t>按一下以編輯子標題樣式</a:t>
            </a:r>
          </a:p>
        </p:txBody>
      </p:sp>
      <p:sp>
        <p:nvSpPr>
          <p:cNvPr id="4" name="標題 1">
            <a:extLst xmlns:a="http://schemas.openxmlformats.org/drawingml/2006/main">
              <a:ext uri="{FF2B5EF4-FFF2-40B4-BE49-F238E27FC236}">
                <a16:creationId xmlns:a16="http://schemas.microsoft.com/office/drawing/2014/main" id="{F4A50BCB-0F6F-C499-0C3B-15E5EBB92095}"/>
              </a:ext>
            </a:extLst>
          </p:cNvPr>
          <p:cNvSpPr>
            <a:spLocks xmlns:a="http://schemas.openxmlformats.org/drawingml/2006/main" noGrp="1"/>
          </p:cNvSpPr>
          <p:nvPr>
            <p:ph type="title" idx="0" hasCustomPrompt="1"/>
          </p:nvPr>
        </p:nvSpPr>
        <p:spPr>
          <a:xfrm xmlns:a="http://schemas.openxmlformats.org/drawingml/2006/main">
            <a:off x="2427981" y="417269"/>
            <a:ext cx="6026904" cy="601289"/>
          </a:xfrm>
          <a:prstGeom xmlns:a="http://schemas.openxmlformats.org/drawingml/2006/main" prst="rect">
            <a:avLst/>
          </a:prstGeom>
        </p:spPr>
        <p:txBody>
          <a:bodyPr xmlns:a="http://schemas.openxmlformats.org/drawingml/2006/main"/>
          <a:lstStyle xmlns:a="http://schemas.openxmlformats.org/drawingml/2006/main">
            <a:lvl1pPr algn="l">
              <a:buNone/>
              <a:defRPr sz="4000">
                <a:solidFill>
                  <a:srgbClr val="008FC7"/>
                </a:solidFill>
              </a:defRPr>
            </a:lvl1pPr>
          </a:lstStyle>
          <a:p xmlns:a="http://schemas.openxmlformats.org/drawingml/2006/main">
            <a:r>
              <a:t>按一下以編輯標題樣式</a:t>
            </a:r>
          </a:p>
        </p:txBody>
      </p:sp>
      <p:sp>
        <p:nvSpPr>
          <p:cNvPr id="9" name="免責聲明">
            <a:extLst xmlns:a="http://schemas.openxmlformats.org/drawingml/2006/main">
              <a:ext uri="{FF2B5EF4-FFF2-40B4-BE49-F238E27FC236}">
                <a16:creationId xmlns:a16="http://schemas.microsoft.com/office/drawing/2014/main" id="{E3042F75-1908-3D2A-34DA-11D7A042B087}"/>
              </a:ext>
            </a:extLst>
          </p:cNvPr>
          <p:cNvSpPr>
            <a:spLocks xmlns:a="http://schemas.openxmlformats.org/drawingml/2006/main" noGrp="1"/>
          </p:cNvSpPr>
          <p:nvPr/>
        </p:nvSpPr>
        <p:spPr>
          <a:xfrm xmlns:a="http://schemas.openxmlformats.org/drawingml/2006/main">
            <a:off x="2417703" y="6561065"/>
            <a:ext cx="5900000" cy="24840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90000" tIns="46800" rIns="90000" bIns="46800">
            <a:spAutoFit/>
          </a:bodyPr>
          <a:lstStyle xmlns:a="http://schemas.openxmlformats.org/drawingml/2006/main">
            <a:lvl1pPr>
              <a:buNone/>
              <a:defRPr sz="1400">
                <a:solidFill>
                  <a:srgbClr val="006666"/>
                </a:solidFill>
                <a:latin typeface="Arial"/>
                <a:ea typeface="Arial"/>
                <a:cs typeface="Arial"/>
              </a:defRPr>
            </a:lvl1pPr>
            <a:lvl2pPr marL="742950" indent="-285750">
              <a:buNone/>
              <a:defRPr sz="1400">
                <a:solidFill>
                  <a:srgbClr val="006666"/>
                </a:solidFill>
                <a:latin typeface="Arial"/>
                <a:ea typeface="Arial"/>
                <a:cs typeface="Arial"/>
              </a:defRPr>
            </a:lvl2pPr>
            <a:lvl3pPr marL="1143000" indent="-228600">
              <a:buNone/>
              <a:defRPr sz="1400">
                <a:solidFill>
                  <a:srgbClr val="006666"/>
                </a:solidFill>
                <a:latin typeface="Arial"/>
                <a:ea typeface="Arial"/>
                <a:cs typeface="Arial"/>
              </a:defRPr>
            </a:lvl3pPr>
            <a:lvl4pPr marL="1600200" indent="-228600">
              <a:buNone/>
              <a:defRPr sz="1400">
                <a:solidFill>
                  <a:srgbClr val="006666"/>
                </a:solidFill>
                <a:latin typeface="Arial"/>
                <a:ea typeface="Arial"/>
                <a:cs typeface="Arial"/>
              </a:defRPr>
            </a:lvl4pPr>
            <a:lvl5pPr marL="2057400" indent="-228600">
              <a:buNone/>
              <a:defRPr sz="1400">
                <a:solidFill>
                  <a:srgbClr val="006666"/>
                </a:solidFill>
                <a:latin typeface="Arial"/>
                <a:ea typeface="Arial"/>
                <a:cs typeface="Arial"/>
              </a:defRPr>
            </a:lvl5pPr>
            <a:lvl6pPr marL="2514600" indent="-228600" algn="ctr">
              <a:spcBef>
                <a:spcPct val="0"/>
              </a:spcBef>
              <a:spcAft>
                <a:spcPct val="0"/>
              </a:spcAft>
              <a:buNone/>
              <a:defRPr sz="1400">
                <a:solidFill>
                  <a:srgbClr val="006666"/>
                </a:solidFill>
                <a:latin typeface="Arial"/>
                <a:ea typeface="Arial"/>
                <a:cs typeface="Arial"/>
              </a:defRPr>
            </a:lvl6pPr>
            <a:lvl7pPr marL="2971800" indent="-228600" algn="ctr">
              <a:spcBef>
                <a:spcPct val="0"/>
              </a:spcBef>
              <a:spcAft>
                <a:spcPct val="0"/>
              </a:spcAft>
              <a:buNone/>
              <a:defRPr sz="1400">
                <a:solidFill>
                  <a:srgbClr val="006666"/>
                </a:solidFill>
                <a:latin typeface="Arial"/>
                <a:ea typeface="Arial"/>
                <a:cs typeface="Arial"/>
              </a:defRPr>
            </a:lvl7pPr>
            <a:lvl8pPr marL="3429000" indent="-228600" algn="ctr">
              <a:spcBef>
                <a:spcPct val="0"/>
              </a:spcBef>
              <a:spcAft>
                <a:spcPct val="0"/>
              </a:spcAft>
              <a:buNone/>
              <a:defRPr sz="1400">
                <a:solidFill>
                  <a:srgbClr val="006666"/>
                </a:solidFill>
                <a:latin typeface="Arial"/>
                <a:ea typeface="Arial"/>
                <a:cs typeface="Arial"/>
              </a:defRPr>
            </a:lvl8pPr>
            <a:lvl9pPr marL="3886200" indent="-228600" algn="ctr">
              <a:spcBef>
                <a:spcPct val="0"/>
              </a:spcBef>
              <a:spcAft>
                <a:spcPct val="0"/>
              </a:spcAft>
              <a:buNone/>
              <a:defRPr sz="1400">
                <a:solidFill>
                  <a:srgbClr val="006666"/>
                </a:solidFill>
                <a:latin typeface="Arial"/>
                <a:ea typeface="Arial"/>
                <a:cs typeface="Arial"/>
              </a:defRPr>
            </a:lvl9pPr>
          </a:lstStyle>
          <a:p xmlns:a="http://schemas.openxmlformats.org/drawingml/2006/main">
            <a:pPr algn="l">
              <a:spcBef>
                <a:spcPct val="50000"/>
              </a:spcBef>
              <a:buNone/>
            </a:pPr>
            <a:r>
              <a:rPr sz="1000">
                <a:solidFill>
                  <a:schemeClr val="bg1"/>
                </a:solidFill>
                <a:latin typeface="微軟正黑體"/>
                <a:ea typeface="微軟正黑體"/>
                <a:cs typeface="微軟正黑體"/>
              </a:rPr>
              <a:t>本文內容僅供參考之用，本公司已審慎研究並提供合理依據，恕不負任何法律責任亦不作任何保證。</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c4d16602264e56" /><Relationship Type="http://schemas.openxmlformats.org/officeDocument/2006/relationships/slideLayout" Target="/ppt/slideLayouts/slideLayout1.xml" Id="R3e86d25c11964acb" /><Relationship Type="http://schemas.openxmlformats.org/officeDocument/2006/relationships/slideLayout" Target="/ppt/slideLayouts/slideLayout2.xml" Id="R720ce9736d3a4ed9" /><Relationship Type="http://schemas.openxmlformats.org/officeDocument/2006/relationships/slideLayout" Target="/ppt/slideLayouts/slideLayout3.xml" Id="R2efbd5a8348547bc" /><Relationship Type="http://schemas.openxmlformats.org/officeDocument/2006/relationships/slideLayout" Target="/ppt/slideLayouts/slideLayout4.xml" Id="R8b2d66eb74584844" /><Relationship Type="http://schemas.openxmlformats.org/officeDocument/2006/relationships/slideLayout" Target="/ppt/slideLayouts/slideLayout5.xml" Id="Ra325b895f7e84e8b" /><Relationship Type="http://schemas.openxmlformats.org/officeDocument/2006/relationships/slideLayout" Target="/ppt/slideLayouts/slideLayout6.xml" Id="Raf2cf78c060c498d" /><Relationship Type="http://schemas.openxmlformats.org/officeDocument/2006/relationships/slideLayout" Target="/ppt/slideLayouts/slideLayout7.xml" Id="R2d10011302a24bfe" /><Relationship Type="http://schemas.openxmlformats.org/officeDocument/2006/relationships/slideLayout" Target="/ppt/slideLayouts/slideLayout8.xml" Id="R356a6cd0c78a44f8" /><Relationship Type="http://schemas.openxmlformats.org/officeDocument/2006/relationships/slideLayout" Target="/ppt/slideLayouts/slideLayout9.xml" Id="Rf20c01f7b8904ceb" /><Relationship Type="http://schemas.openxmlformats.org/officeDocument/2006/relationships/slideLayout" Target="/ppt/slideLayouts/slideLayout10.xml" Id="R102287809eaa4508" /><Relationship Type="http://schemas.openxmlformats.org/officeDocument/2006/relationships/slideLayout" Target="/ppt/slideLayouts/slideLayout11.xml" Id="Rc5e323c3f978420b" /><Relationship Type="http://schemas.openxmlformats.org/officeDocument/2006/relationships/slideLayout" Target="/ppt/slideLayouts/slideLayout12.xml" Id="Rfecf7a0be7074e6d" /><Relationship Type="http://schemas.openxmlformats.org/officeDocument/2006/relationships/slideLayout" Target="/ppt/slideLayouts/slideLayout13.xml" Id="R5ee5e81fc090406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標題版面配置區 1">
            <a:extLst xmlns:a="http://schemas.openxmlformats.org/drawingml/2006/main">
              <a:ext uri="{FF2B5EF4-FFF2-40B4-BE49-F238E27FC236}">
                <a16:creationId xmlns:a16="http://schemas.microsoft.com/office/drawing/2014/main" id="{931EFEEE-B6A7-B5D3-7EB2-408B8B45245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按一下以編輯母片標題樣式</a:t>
            </a:r>
          </a:p>
        </p:txBody>
      </p:sp>
      <p:sp>
        <p:nvSpPr>
          <p:cNvPr id="3" name="文字版面配置區 2">
            <a:extLst xmlns:a="http://schemas.openxmlformats.org/drawingml/2006/main">
              <a:ext uri="{FF2B5EF4-FFF2-40B4-BE49-F238E27FC236}">
                <a16:creationId xmlns:a16="http://schemas.microsoft.com/office/drawing/2014/main" id="{E6F6D7B9-63A2-A5BC-5736-C19617C6BA3B}"/>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4" name="日期版面配置區 3">
            <a:extLst xmlns:a="http://schemas.openxmlformats.org/drawingml/2006/main">
              <a:ext uri="{FF2B5EF4-FFF2-40B4-BE49-F238E27FC236}">
                <a16:creationId xmlns:a16="http://schemas.microsoft.com/office/drawing/2014/main" id="{6656AF37-6E33-EFFA-597D-45061989950E}"/>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D0907213-1547-4AC0-9970-4C4853B08BEC}" type="datetimeFigureOut">
              <a:t>2026/9/30</a:t>
            </a:fld>
            <a:endParaRPr/>
          </a:p>
        </p:txBody>
      </p:sp>
      <p:sp>
        <p:nvSpPr>
          <p:cNvPr id="5" name="頁尾版面配置區 4">
            <a:extLst xmlns:a="http://schemas.openxmlformats.org/drawingml/2006/main">
              <a:ext uri="{FF2B5EF4-FFF2-40B4-BE49-F238E27FC236}">
                <a16:creationId xmlns:a16="http://schemas.microsoft.com/office/drawing/2014/main" id="{8AFF2156-CA50-A4D4-D4E3-92282AB4B90E}"/>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投影片編號版面配置區 5">
            <a:extLst xmlns:a="http://schemas.openxmlformats.org/drawingml/2006/main">
              <a:ext uri="{FF2B5EF4-FFF2-40B4-BE49-F238E27FC236}">
                <a16:creationId xmlns:a16="http://schemas.microsoft.com/office/drawing/2014/main" id="{A64265DF-1961-72CA-FA58-E5021F07DABC}"/>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B072BD85-8AC9-4BB8-B432-562702328434}"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86d25c11964acb"/>
    <p:sldLayoutId xmlns:r="http://schemas.openxmlformats.org/officeDocument/2006/relationships" id="2147483650" r:id="R720ce9736d3a4ed9"/>
    <p:sldLayoutId xmlns:r="http://schemas.openxmlformats.org/officeDocument/2006/relationships" id="2147483651" r:id="R2efbd5a8348547bc"/>
    <p:sldLayoutId xmlns:r="http://schemas.openxmlformats.org/officeDocument/2006/relationships" id="2147483652" r:id="R8b2d66eb74584844"/>
    <p:sldLayoutId xmlns:r="http://schemas.openxmlformats.org/officeDocument/2006/relationships" id="2147483653" r:id="Ra325b895f7e84e8b"/>
    <p:sldLayoutId xmlns:r="http://schemas.openxmlformats.org/officeDocument/2006/relationships" id="2147483654" r:id="Raf2cf78c060c498d"/>
    <p:sldLayoutId xmlns:r="http://schemas.openxmlformats.org/officeDocument/2006/relationships" id="2147483655" r:id="R2d10011302a24bfe"/>
    <p:sldLayoutId xmlns:r="http://schemas.openxmlformats.org/officeDocument/2006/relationships" id="2147483656" r:id="R356a6cd0c78a44f8"/>
    <p:sldLayoutId xmlns:r="http://schemas.openxmlformats.org/officeDocument/2006/relationships" id="2147483657" r:id="Rf20c01f7b8904ceb"/>
    <p:sldLayoutId xmlns:r="http://schemas.openxmlformats.org/officeDocument/2006/relationships" id="2147483658" r:id="R102287809eaa4508"/>
    <p:sldLayoutId xmlns:r="http://schemas.openxmlformats.org/officeDocument/2006/relationships" id="2147483659" r:id="Rc5e323c3f978420b"/>
    <p:sldLayoutId xmlns:r="http://schemas.openxmlformats.org/officeDocument/2006/relationships" id="2147483660" r:id="Rfecf7a0be7074e6d"/>
    <p:sldLayoutId xmlns:r="http://schemas.openxmlformats.org/officeDocument/2006/relationships" id="2147483661" r:id="R5ee5e81fc090406a"/>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15457778d09647fc" /><Relationship Type="http://schemas.openxmlformats.org/officeDocument/2006/relationships/notesSlide" Target="/ppt/notesSlides/notesSlide1.xml" Id="R02e400b445db4f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3.xml" Id="R35343dbedaa246cd" /><Relationship Type="http://schemas.openxmlformats.org/officeDocument/2006/relationships/chart" Target="/ppt/slides/charts/chart1.xml" Id="R1b57fb14cf834e78" /><Relationship Type="http://schemas.openxmlformats.org/officeDocument/2006/relationships/image" Target="/ppt/media/image2.png" Id="Re0f5d0a1a5dd42bc" /><Relationship Type="http://schemas.openxmlformats.org/officeDocument/2006/relationships/notesSlide" Target="/ppt/notesSlides/notesSlide2.xml" Id="R0d70b851aed645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3.xml" Id="R1a344cb89b0540e6" /><Relationship Type="http://schemas.openxmlformats.org/officeDocument/2006/relationships/notesSlide" Target="/ppt/notesSlides/notesSlide3.xml" Id="R62d0ba5d399845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3.xml" Id="Re06c5662b3fd40d8" /><Relationship Type="http://schemas.openxmlformats.org/officeDocument/2006/relationships/notesSlide" Target="/ppt/notesSlides/notesSlide4.xml" Id="R07e47844d5e244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3.xml" Id="Rf3f8f4d1305b4b04" /><Relationship Type="http://schemas.openxmlformats.org/officeDocument/2006/relationships/chart" Target="/ppt/slides/charts/chart2.xml" Id="R96ee3970af694049" /><Relationship Type="http://schemas.openxmlformats.org/officeDocument/2006/relationships/notesSlide" Target="/ppt/notesSlides/notesSlide5.xml" Id="R316fb7e3f4584f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3.xml" Id="R3e4c59cf00444dd5" /><Relationship Type="http://schemas.openxmlformats.org/officeDocument/2006/relationships/notesSlide" Target="/ppt/notesSlides/notesSlide6.xml" Id="Rba95793d5a8242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2.xml" Id="Rc5061416bfac455b" /><Relationship Type="http://schemas.openxmlformats.org/officeDocument/2006/relationships/notesSlide" Target="/ppt/notesSlides/notesSlide7.xml" Id="R0985ff6d358a4e2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roundedCorners val="1"/>
  <c:chart>
    <c:title>
      <c:tx>
        <c:rich>
          <a:bodyPr xmlns:a="http://schemas.openxmlformats.org/drawingml/2006/main"/>
          <a:lstStyle xmlns:a="http://schemas.openxmlformats.org/drawingml/2006/main"/>
          <a:p xmlns:a="http://schemas.openxmlformats.org/drawingml/2006/main">
            <a:r>
              <a:rPr sz="1350">
                <a:latin typeface="微軟正黑體"/>
                <a:ea typeface="微軟正黑體"/>
                <a:cs typeface="微軟正黑體"/>
              </a:rPr>
              <a:t>富邦核心持股EPS年增率（預估）</a:t>
            </a:r>
          </a:p>
        </c:rich>
      </c:tx>
      <c:overlay val="0"/>
      <c:txPr>
        <a:bodyPr xmlns:a="http://schemas.openxmlformats.org/drawingml/2006/main" anchorCtr="1"/>
        <a:lstStyle xmlns:a="http://schemas.openxmlformats.org/drawingml/2006/main"/>
        <a:p xmlns:a="http://schemas.openxmlformats.org/drawingml/2006/main">
          <a:pPr>
            <a:defRPr sz="1350">
              <a:latin typeface="微軟正黑體"/>
              <a:ea typeface="微軟正黑體"/>
              <a:cs typeface="微軟正黑體"/>
            </a:defRPr>
          </a:pPr>
        </a:p>
      </c:txPr>
    </c:title>
    <c:plotArea>
      <c:barChart>
        <c:barDir val="col"/>
        <c:grouping val="clustered"/>
        <c:varyColors val="0"/>
        <c:ser>
          <c:idx val="0"/>
          <c:order val="0"/>
          <c:tx>
            <c:v>富邦核心持股EPS年增率（預估）</c:v>
          </c:tx>
          <c:spPr>
            <a:solidFill xmlns:a="http://schemas.openxmlformats.org/drawingml/2006/main">
              <a:srgbClr val="00829B"/>
            </a:solidFill>
          </c:spPr>
          <c:dLbls>
            <c:dLbl>
              <c:idx val="0"/>
              <c:tx>
                <c:rich>
                  <a:bodyPr xmlns:a="http://schemas.openxmlformats.org/drawingml/2006/main"/>
                  <a:lstStyle xmlns:a="http://schemas.openxmlformats.org/drawingml/2006/main"/>
                  <a:p xmlns:a="http://schemas.openxmlformats.org/drawingml/2006/main">
                    <a:r>
                      <a:rPr/>
                      <a:t>79.2%</a:t>
                    </a:r>
                  </a:p>
                </c:rich>
              </c:tx>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a:t>78.3%</a:t>
                    </a:r>
                  </a:p>
                </c:rich>
              </c:tx>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a:t>53.3%</a:t>
                    </a:r>
                  </a:p>
                </c:rich>
              </c:tx>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a:t>30.8%</a:t>
                    </a:r>
                  </a:p>
                </c:rich>
              </c:tx>
              <c:dLblPos val="outEnd"/>
              <c:showLegendKey val="0"/>
              <c:showVal val="0"/>
              <c:showCatName val="0"/>
              <c:showSerName val="0"/>
              <c:showPercent val="0"/>
              <c:showBubbleSize val="0"/>
            </c:dLbl>
          </c:dLbls>
          <c:cat>
            <c:strRef>
              <c:f>'Chart Data'!$A$2:$A$5</c:f>
              <c:strCache>
                <c:ptCount val="4"/>
                <c:pt idx="0">
                  <c:v>3Q26E</c:v>
                </c:pt>
                <c:pt idx="1">
                  <c:v>4Q26E</c:v>
                </c:pt>
                <c:pt idx="2">
                  <c:v>1Q27E</c:v>
                </c:pt>
                <c:pt idx="3">
                  <c:v>2Q27E</c:v>
                </c:pt>
              </c:strCache>
            </c:strRef>
          </c:cat>
          <c:val>
            <c:numRef>
              <c:f>'Chart Data'!$B$2:$B$5</c:f>
              <c:numCache>
                <c:formatCode>0.0%</c:formatCode>
                <c:ptCount val="4"/>
                <c:pt idx="0">
                  <c:v>0.792</c:v>
                </c:pt>
                <c:pt idx="1">
                  <c:v>0.783</c:v>
                </c:pt>
                <c:pt idx="2">
                  <c:v>0.533</c:v>
                </c:pt>
                <c:pt idx="3">
                  <c:v>0.308</c:v>
                </c:pt>
              </c:numCache>
            </c:numRef>
          </c:val>
        </c:ser>
        <c:dLbls>
          <c:txPr>
            <a:bodyPr xmlns:a="http://schemas.openxmlformats.org/drawingml/2006/main" anchorCtr="1"/>
            <a:lstStyle xmlns:a="http://schemas.openxmlformats.org/drawingml/2006/main"/>
            <a:p xmlns:a="http://schemas.openxmlformats.org/drawingml/2006/main">
              <a:pPr>
                <a:defRPr sz="1200" b="1">
                  <a:latin typeface="微軟正黑體"/>
                  <a:ea typeface="微軟正黑體"/>
                  <a:cs typeface="微軟正黑體"/>
                </a:defRPr>
              </a:pPr>
            </a:p>
          </c:txPr>
          <c:dLblPos val="outEnd"/>
          <c:showLegendKey val="0"/>
          <c:showVal val="1"/>
          <c:showCatName val="0"/>
          <c:showSerName val="0"/>
          <c:showPercent val="0"/>
          <c:showBubbleSize val="0"/>
          <c:showLeaderLines val="0"/>
        </c:dLbls>
        <c:gapWidth val="10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4763">
            <a:solidFill>
              <a:srgbClr val="CDE6EB"/>
            </a:solidFill>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微軟正黑體"/>
                <a:ea typeface="微軟正黑體"/>
                <a:cs typeface="微軟正黑體"/>
              </a:defRPr>
            </a:pPr>
          </a:p>
        </c:txPr>
        <c:crossAx val="48672768"/>
      </c:catAx>
      <c:valAx>
        <c:axId val="48672768"/>
        <c:scaling>
          <c:orientation val="minMax"/>
          <c:max val="1"/>
          <c:min val="0"/>
        </c:scaling>
        <c:delete val="0"/>
        <c:axPos val="l"/>
        <c:majorGridlines>
          <c:spPr>
            <a:ln xmlns:a="http://schemas.openxmlformats.org/drawingml/2006/main" w="5715">
              <a:solidFill>
                <a:srgbClr val="CDE6EB"/>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微軟正黑體"/>
                <a:ea typeface="微軟正黑體"/>
                <a:cs typeface="微軟正黑體"/>
              </a:defRPr>
            </a:pPr>
          </a:p>
        </c:txPr>
        <c:crossAx val="48650112"/>
        <c:crossBetween val="between"/>
      </c:valAx>
    </c:plotArea>
    <c:plotVisOnly val="1"/>
  </c:chart>
  <c:spPr>
    <a:solidFill xmlns:a="http://schemas.openxmlformats.org/drawingml/2006/main">
      <a:srgbClr val="FFFFFF"/>
    </a:solidFill>
    <a:ln xmlns:a="http://schemas.openxmlformats.org/drawingml/2006/main" w="6191">
      <a:solidFill>
        <a:srgbClr val="CDE6EB"/>
      </a:solid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roundedCorners val="1"/>
  <c:chart>
    <c:title>
      <c:tx>
        <c:rich>
          <a:bodyPr xmlns:a="http://schemas.openxmlformats.org/drawingml/2006/main"/>
          <a:lstStyle xmlns:a="http://schemas.openxmlformats.org/drawingml/2006/main"/>
          <a:p xmlns:a="http://schemas.openxmlformats.org/drawingml/2006/main">
            <a:r>
              <a:rPr sz="1350">
                <a:latin typeface="微軟正黑體"/>
                <a:ea typeface="微軟正黑體"/>
                <a:cs typeface="微軟正黑體"/>
              </a:rPr>
              <a:t>4Q26E：M7以上產品比重
M8／M9為後續升規方向</a:t>
            </a:r>
          </a:p>
        </c:rich>
      </c:tx>
      <c:overlay val="0"/>
      <c:txPr>
        <a:bodyPr xmlns:a="http://schemas.openxmlformats.org/drawingml/2006/main" anchorCtr="1"/>
        <a:lstStyle xmlns:a="http://schemas.openxmlformats.org/drawingml/2006/main"/>
        <a:p xmlns:a="http://schemas.openxmlformats.org/drawingml/2006/main">
          <a:pPr>
            <a:defRPr sz="1350">
              <a:latin typeface="微軟正黑體"/>
              <a:ea typeface="微軟正黑體"/>
              <a:cs typeface="微軟正黑體"/>
            </a:defRPr>
          </a:pPr>
        </a:p>
      </c:txPr>
    </c:title>
    <c:plotArea>
      <c:barChart>
        <c:barDir val="col"/>
        <c:grouping val="clustered"/>
        <c:varyColors val="0"/>
        <c:ser>
          <c:idx val="0"/>
          <c:order val="0"/>
          <c:tx>
            <c:v>4Q26E：M7以上產品比重</c:v>
          </c:tx>
          <c:spPr>
            <a:solidFill xmlns:a="http://schemas.openxmlformats.org/drawingml/2006/main">
              <a:srgbClr val="00829B"/>
            </a:solidFill>
          </c:spPr>
          <c:dLbls>
            <c:dLbl>
              <c:idx val="0"/>
              <c:tx>
                <c:rich>
                  <a:bodyPr xmlns:a="http://schemas.openxmlformats.org/drawingml/2006/main"/>
                  <a:lstStyle xmlns:a="http://schemas.openxmlformats.org/drawingml/2006/main"/>
                  <a:p xmlns:a="http://schemas.openxmlformats.org/drawingml/2006/main">
                    <a:r>
                      <a:rPr/>
                      <a:t>80%</a:t>
                    </a:r>
                  </a:p>
                </c:rich>
              </c:tx>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a:t>45%</a:t>
                    </a:r>
                  </a:p>
                </c:rich>
              </c:tx>
              <c:dLblPos val="outEnd"/>
              <c:showLegendKey val="0"/>
              <c:showVal val="0"/>
              <c:showCatName val="0"/>
              <c:showSerName val="0"/>
              <c:showPercent val="0"/>
              <c:showBubbleSize val="0"/>
            </c:dLbl>
          </c:dLbls>
          <c:cat>
            <c:strRef>
              <c:f>'Chart Data'!$A$2:$A$3</c:f>
              <c:strCache>
                <c:ptCount val="2"/>
                <c:pt idx="0">
                  <c:v>台光電</c:v>
                </c:pt>
                <c:pt idx="1">
                  <c:v>台燿</c:v>
                </c:pt>
              </c:strCache>
            </c:strRef>
          </c:cat>
          <c:val>
            <c:numRef>
              <c:f>'Chart Data'!$B$2:$B$3</c:f>
              <c:numCache>
                <c:formatCode>0.0%</c:formatCode>
                <c:ptCount val="2"/>
                <c:pt idx="0">
                  <c:v>0.8</c:v>
                </c:pt>
                <c:pt idx="1">
                  <c:v>0.45</c:v>
                </c:pt>
              </c:numCache>
            </c:numRef>
          </c:val>
        </c:ser>
        <c:dLbls>
          <c:txPr>
            <a:bodyPr xmlns:a="http://schemas.openxmlformats.org/drawingml/2006/main" anchorCtr="1"/>
            <a:lstStyle xmlns:a="http://schemas.openxmlformats.org/drawingml/2006/main"/>
            <a:p xmlns:a="http://schemas.openxmlformats.org/drawingml/2006/main">
              <a:pPr>
                <a:defRPr sz="1200" b="1">
                  <a:latin typeface="微軟正黑體"/>
                  <a:ea typeface="微軟正黑體"/>
                  <a:cs typeface="微軟正黑體"/>
                </a:defRPr>
              </a:pPr>
            </a:p>
          </c:txPr>
          <c:dLblPos val="outEnd"/>
          <c:showLegendKey val="0"/>
          <c:showVal val="1"/>
          <c:showCatName val="0"/>
          <c:showSerName val="0"/>
          <c:showPercent val="0"/>
          <c:showBubbleSize val="0"/>
          <c:showLeaderLines val="0"/>
        </c:dLbls>
        <c:gapWidth val="10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4763">
            <a:solidFill>
              <a:srgbClr val="CDE6EB"/>
            </a:solidFill>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微軟正黑體"/>
                <a:ea typeface="微軟正黑體"/>
                <a:cs typeface="微軟正黑體"/>
              </a:defRPr>
            </a:pPr>
          </a:p>
        </c:txPr>
        <c:crossAx val="48672768"/>
      </c:catAx>
      <c:valAx>
        <c:axId val="48672768"/>
        <c:scaling>
          <c:orientation val="minMax"/>
          <c:max val="1"/>
          <c:min val="0"/>
        </c:scaling>
        <c:delete val="0"/>
        <c:axPos val="l"/>
        <c:majorGridlines>
          <c:spPr>
            <a:ln xmlns:a="http://schemas.openxmlformats.org/drawingml/2006/main" w="5715">
              <a:solidFill>
                <a:srgbClr val="CDE6EB"/>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微軟正黑體"/>
                <a:ea typeface="微軟正黑體"/>
                <a:cs typeface="微軟正黑體"/>
              </a:defRPr>
            </a:pPr>
          </a:p>
        </c:txPr>
        <c:crossAx val="48650112"/>
        <c:crossBetween val="between"/>
      </c:valAx>
    </c:plotArea>
    <c:plotVisOnly val="1"/>
  </c:chart>
  <c:spPr>
    <a:solidFill xmlns:a="http://schemas.openxmlformats.org/drawingml/2006/main">
      <a:srgbClr val="FFFFFF"/>
    </a:solidFill>
    <a:ln xmlns:a="http://schemas.openxmlformats.org/drawingml/2006/main" w="6191">
      <a:solidFill>
        <a:srgbClr val="CDE6EB"/>
      </a:solid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 name="文字版面配置區 7">
            <a:extLst xmlns:a="http://schemas.openxmlformats.org/drawingml/2006/main">
              <a:ext uri="{FF2B5EF4-FFF2-40B4-BE49-F238E27FC236}">
                <a16:creationId xmlns:a16="http://schemas.microsoft.com/office/drawing/2014/main" id="{F9F467B6-2FDC-0D5F-9344-767407FE0E46}"/>
              </a:ext>
            </a:extLst>
          </p:cNvPr>
          <p:cNvSpPr>
            <a:spLocks xmlns:a="http://schemas.openxmlformats.org/drawingml/2006/main" noGrp="1"/>
          </p:cNvSpPr>
          <p:nvPr>
            <p:ph type="body" idx="28"/>
          </p:nvPr>
        </p:nvSpPr>
        <p:spPr>
          <a:xfrm xmlns:a="http://schemas.openxmlformats.org/drawingml/2006/main">
            <a:off x="9081386" y="3352338"/>
            <a:ext cx="1136040" cy="329074"/>
          </a:xfrm>
        </p:spPr>
        <p:txBody>
          <a:bodyPr xmlns:a="http://schemas.openxmlformats.org/drawingml/2006/main"/>
          <a:lstStyle xmlns:a="http://schemas.openxmlformats.org/drawingml/2006/main"/>
          <a:p xmlns:a="http://schemas.openxmlformats.org/drawingml/2006/main">
            <a:pPr algn="r">
              <a:buNone/>
            </a:pPr>
            <a:r>
              <a:rPr sz="1500"/>
              <a:t>2026.10</a:t>
            </a:r>
            <a:endParaRPr sz="1500"/>
          </a:p>
        </p:txBody>
      </p:sp>
      <p:sp>
        <p:nvSpPr>
          <p:cNvPr id="4" name="圖片版面配置區 3">
            <a:extLst xmlns:a="http://schemas.openxmlformats.org/drawingml/2006/main">
              <a:ext uri="{FF2B5EF4-FFF2-40B4-BE49-F238E27FC236}">
                <a16:creationId xmlns:a16="http://schemas.microsoft.com/office/drawing/2014/main" id="{C54C4412-1D3B-6EB2-91CB-E16B5E6E6898}"/>
              </a:ext>
            </a:extLst>
          </p:cNvPr>
          <p:cNvSpPr>
            <a:spLocks xmlns:a="http://schemas.openxmlformats.org/drawingml/2006/main" noGrp="1"/>
          </p:cNvSpPr>
          <p:nvPr>
            <p:ph type="pic" idx="29"/>
          </p:nvPr>
        </p:nvSpPr>
        <p:spPr/>
        <p:txBody>
          <a:bodyPr xmlns:a="http://schemas.openxmlformats.org/drawingml/2006/main"/>
          <a:lstStyle xmlns:a="http://schemas.openxmlformats.org/drawingml/2006/main"/>
          <a:p xmlns:a="http://schemas.openxmlformats.org/drawingml/2006/main">
            <a:endParaRPr/>
          </a:p>
        </p:txBody>
      </p:sp>
      <p:sp>
        <p:nvSpPr>
          <p:cNvPr id="9" name="文字版面配置區 8">
            <a:extLst xmlns:a="http://schemas.openxmlformats.org/drawingml/2006/main">
              <a:ext uri="{FF2B5EF4-FFF2-40B4-BE49-F238E27FC236}">
                <a16:creationId xmlns:a16="http://schemas.microsoft.com/office/drawing/2014/main" id="{F6DB5FD7-24E0-69F1-5553-087A8308110E}"/>
              </a:ext>
            </a:extLst>
          </p:cNvPr>
          <p:cNvSpPr>
            <a:spLocks xmlns:a="http://schemas.openxmlformats.org/drawingml/2006/main" noGrp="1"/>
          </p:cNvSpPr>
          <p:nvPr>
            <p:ph type="body" idx="30"/>
          </p:nvPr>
        </p:nvSpPr>
        <p:spPr>
          <a:xfrm xmlns:a="http://schemas.openxmlformats.org/drawingml/2006/main">
            <a:off x="1883246" y="2316197"/>
            <a:ext cx="8409509" cy="432897"/>
          </a:xfrm>
        </p:spPr>
        <p:txBody>
          <a:bodyPr xmlns:a="http://schemas.openxmlformats.org/drawingml/2006/main">
            <a:noAutofit/>
          </a:bodyPr>
          <a:lstStyle xmlns:a="http://schemas.openxmlformats.org/drawingml/2006/main"/>
          <a:p xmlns:a="http://schemas.openxmlformats.org/drawingml/2006/main">
            <a:pPr algn="ctr" defTabSz="914400">
              <a:lnSpc>
                <a:spcPct val="120000"/>
              </a:lnSpc>
              <a:spcBef>
                <a:spcPct val="0"/>
              </a:spcBef>
              <a:spcAft>
                <a:spcPct val="0"/>
              </a:spcAft>
              <a:buNone/>
            </a:pPr>
            <a:r>
              <a:rPr sz="3600" b="1">
                <a:solidFill>
                  <a:srgbClr val="0093C1"/>
                </a:solidFill>
                <a:latin typeface="微軟正黑體"/>
                <a:ea typeface="微軟正黑體"/>
                <a:cs typeface="微軟正黑體"/>
              </a:rPr>
              <a:t>10月台股產業投資策略</a:t>
            </a:r>
            <a:endParaRPr sz="3600" b="1">
              <a:latin typeface="微軟正黑體"/>
              <a:ea typeface="微軟正黑體"/>
              <a:cs typeface="微軟正黑體"/>
            </a:endParaRPr>
          </a:p>
        </p:txBody>
      </p:sp>
      <p:sp>
        <p:nvSpPr>
          <p:cNvPr id="7" name="副標題 6">
            <a:extLst xmlns:a="http://schemas.openxmlformats.org/drawingml/2006/main">
              <a:ext uri="{FF2B5EF4-FFF2-40B4-BE49-F238E27FC236}">
                <a16:creationId xmlns:a16="http://schemas.microsoft.com/office/drawing/2014/main" id="{A0BCB0EA-A6C4-B323-C12E-9E1ABB07A4F7}"/>
              </a:ext>
            </a:extLst>
          </p:cNvPr>
          <p:cNvSpPr>
            <a:spLocks xmlns:a="http://schemas.openxmlformats.org/drawingml/2006/main" noGrp="1"/>
          </p:cNvSpPr>
          <p:nvPr>
            <p:ph type="subTitle" idx="4294967295"/>
          </p:nvPr>
        </p:nvSpPr>
        <p:spPr>
          <a:xfrm xmlns:a="http://schemas.openxmlformats.org/drawingml/2006/main">
            <a:off x="3765176" y="3229450"/>
            <a:ext cx="4392705" cy="1053629"/>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marL="0" indent="0" algn="ctr">
              <a:buNone/>
            </a:pPr>
            <a:r>
              <a:rPr sz="2400" b="1">
                <a:latin typeface="微軟正黑體"/>
                <a:ea typeface="微軟正黑體"/>
                <a:cs typeface="微軟正黑體"/>
              </a:rPr>
              <a:t>聚焦訂單外溢與規格升級</a:t>
            </a:r>
          </a:p>
        </p:txBody>
      </p:sp>
    </p:spTree>
    <p:extLst>
      <p:ext uri="{BB962C8B-B14F-4D97-AF65-F5344CB8AC3E}">
        <p14:creationId xmlns:p14="http://schemas.microsoft.com/office/powerpoint/2010/main" val="268707255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5362" name="標題 3">
            <a:extLst xmlns:a="http://schemas.openxmlformats.org/drawingml/2006/main">
              <a:ext uri="{FF2B5EF4-FFF2-40B4-BE49-F238E27FC236}">
                <a16:creationId xmlns:a16="http://schemas.microsoft.com/office/drawing/2014/main" id="{D0052553-414B-0149-5353-CA3A7D03E857}"/>
              </a:ext>
            </a:extLst>
          </p:cNvPr>
          <p:cNvSpPr>
            <a:spLocks xmlns:a="http://schemas.openxmlformats.org/drawingml/2006/main" noGrp="1"/>
          </p:cNvSpPr>
          <p:nvPr>
            <p:ph type="title" idx="0"/>
          </p:nvPr>
        </p:nvSpPr>
        <p:spPr>
          <a:xfrm xmlns:a="http://schemas.openxmlformats.org/drawingml/2006/main">
            <a:off x="935999" y="288000"/>
            <a:ext cx="10463999" cy="430887"/>
          </a:xfrm>
        </p:spPr>
        <p:txBody>
          <a:bodyPr xmlns:a="http://schemas.openxmlformats.org/drawingml/2006/main">
            <a:noAutofit/>
          </a:bodyPr>
          <a:lstStyle xmlns:a="http://schemas.openxmlformats.org/drawingml/2006/main"/>
          <a:p xmlns:a="http://schemas.openxmlformats.org/drawingml/2006/main">
            <a:r>
              <a:rPr sz="2800" b="1">
                <a:latin typeface="微軟正黑體"/>
                <a:ea typeface="微軟正黑體"/>
                <a:cs typeface="微軟正黑體"/>
              </a:rPr>
              <a:t>強勁財報支撐多頭，升息壓抑評價</a:t>
            </a:r>
          </a:p>
        </p:txBody>
      </p:sp>
      <p:sp>
        <p:nvSpPr>
          <p:cNvPr id="5" name="文字方塊 14">
            <a:extLst xmlns:a="http://schemas.openxmlformats.org/drawingml/2006/main">
              <a:ext uri="{FF2B5EF4-FFF2-40B4-BE49-F238E27FC236}">
                <a16:creationId xmlns:a16="http://schemas.microsoft.com/office/drawing/2014/main" id="{9C99D567-D09F-0FEC-56C5-3BB1DD958482}"/>
              </a:ext>
            </a:extLst>
          </p:cNvPr>
          <p:cNvSpPr>
            <a:spLocks xmlns:a="http://schemas.openxmlformats.org/drawingml/2006/main" noGrp="1"/>
          </p:cNvSpPr>
          <p:nvPr/>
        </p:nvSpPr>
        <p:spPr>
          <a:xfrm xmlns:a="http://schemas.openxmlformats.org/drawingml/2006/main">
            <a:off x="792001" y="900000"/>
            <a:ext cx="10463999" cy="14935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36000" rIns="36000"/>
          <a:lstStyle xmlns:a="http://schemas.openxmlformats.org/drawingml/2006/main">
            <a:lvl1pPr>
              <a:spcBef>
                <a:spcPct val="30000"/>
              </a:spcBef>
              <a:buClr>
                <a:srgbClr val="00829B"/>
              </a:buClr>
              <a:buSzPct val="70000"/>
              <a:buFont typeface="Wingdings"/>
              <a:buChar char="n"/>
              <a:defRPr sz="2600">
                <a:solidFill>
                  <a:schemeClr val="tx1"/>
                </a:solidFill>
                <a:latin typeface="Doradani Lt"/>
                <a:ea typeface="Doradani Lt"/>
                <a:cs typeface="Doradani Lt"/>
              </a:defRPr>
            </a:lvl1pPr>
            <a:lvl2pPr marL="742950" indent="-285750">
              <a:spcBef>
                <a:spcPct val="30000"/>
              </a:spcBef>
              <a:buSzPct val="70000"/>
              <a:buFont typeface="Wingdings"/>
              <a:buChar char="l"/>
              <a:defRPr sz="2200">
                <a:solidFill>
                  <a:schemeClr val="tx1"/>
                </a:solidFill>
                <a:latin typeface="Doradani Lt"/>
                <a:ea typeface="Doradani Lt"/>
                <a:cs typeface="Doradani Lt"/>
              </a:defRPr>
            </a:lvl2pPr>
            <a:lvl3pPr marL="1143000" indent="-228600">
              <a:spcBef>
                <a:spcPct val="30000"/>
              </a:spcBef>
              <a:buClr>
                <a:srgbClr val="00829B"/>
              </a:buClr>
              <a:buSzPct val="70000"/>
              <a:buFont typeface="Wingdings"/>
              <a:buChar char="n"/>
              <a:defRPr>
                <a:solidFill>
                  <a:schemeClr val="tx1"/>
                </a:solidFill>
                <a:latin typeface="Doradani Lt"/>
                <a:ea typeface="Doradani Lt"/>
                <a:cs typeface="Doradani Lt"/>
              </a:defRPr>
            </a:lvl3pPr>
            <a:lvl4pPr marL="1600200" indent="-228600">
              <a:spcBef>
                <a:spcPct val="30000"/>
              </a:spcBef>
              <a:buFont typeface="Wingdings"/>
              <a:buChar char="l"/>
              <a:defRPr>
                <a:solidFill>
                  <a:schemeClr val="tx1"/>
                </a:solidFill>
                <a:latin typeface="Doradani Lt"/>
                <a:ea typeface="Doradani Lt"/>
                <a:cs typeface="Doradani Lt"/>
              </a:defRPr>
            </a:lvl4pPr>
            <a:lvl5pPr marL="2057400" indent="-228600">
              <a:lnSpc>
                <a:spcPct val="120000"/>
              </a:lnSpc>
              <a:buChar char="»"/>
              <a:defRPr sz="2000">
                <a:solidFill>
                  <a:schemeClr val="tx1"/>
                </a:solidFill>
                <a:latin typeface="Arial"/>
                <a:ea typeface="Arial"/>
                <a:cs typeface="Arial"/>
              </a:defRPr>
            </a:lvl5pPr>
            <a:lvl6pPr marL="2514600" indent="-228600">
              <a:lnSpc>
                <a:spcPct val="120000"/>
              </a:lnSpc>
              <a:spcBef>
                <a:spcPct val="0"/>
              </a:spcBef>
              <a:spcAft>
                <a:spcPct val="0"/>
              </a:spcAft>
              <a:buChar char="»"/>
              <a:defRPr sz="2000">
                <a:solidFill>
                  <a:schemeClr val="tx1"/>
                </a:solidFill>
                <a:latin typeface="Arial"/>
                <a:ea typeface="Arial"/>
                <a:cs typeface="Arial"/>
              </a:defRPr>
            </a:lvl6pPr>
            <a:lvl7pPr marL="2971800" indent="-228600">
              <a:lnSpc>
                <a:spcPct val="120000"/>
              </a:lnSpc>
              <a:spcBef>
                <a:spcPct val="0"/>
              </a:spcBef>
              <a:spcAft>
                <a:spcPct val="0"/>
              </a:spcAft>
              <a:buChar char="»"/>
              <a:defRPr sz="2000">
                <a:solidFill>
                  <a:schemeClr val="tx1"/>
                </a:solidFill>
                <a:latin typeface="Arial"/>
                <a:ea typeface="Arial"/>
                <a:cs typeface="Arial"/>
              </a:defRPr>
            </a:lvl7pPr>
            <a:lvl8pPr marL="3429000" indent="-228600">
              <a:lnSpc>
                <a:spcPct val="120000"/>
              </a:lnSpc>
              <a:spcBef>
                <a:spcPct val="0"/>
              </a:spcBef>
              <a:spcAft>
                <a:spcPct val="0"/>
              </a:spcAft>
              <a:buChar char="»"/>
              <a:defRPr sz="2000">
                <a:solidFill>
                  <a:schemeClr val="tx1"/>
                </a:solidFill>
                <a:latin typeface="Arial"/>
                <a:ea typeface="Arial"/>
                <a:cs typeface="Arial"/>
              </a:defRPr>
            </a:lvl8pPr>
            <a:lvl9pPr marL="3886200" indent="-228600">
              <a:lnSpc>
                <a:spcPct val="120000"/>
              </a:lnSpc>
              <a:spcBef>
                <a:spcPct val="0"/>
              </a:spcBef>
              <a:spcAft>
                <a:spcPct val="0"/>
              </a:spcAft>
              <a:buChar char="»"/>
              <a:defRPr sz="2000">
                <a:solidFill>
                  <a:schemeClr val="tx1"/>
                </a:solidFill>
                <a:latin typeface="Arial"/>
                <a:ea typeface="Arial"/>
                <a:cs typeface="Arial"/>
              </a:defRPr>
            </a:lvl9pPr>
          </a:lstStyle>
          <a:p xmlns:a="http://schemas.openxmlformats.org/drawingml/2006/main">
            <a:pPr marL="285750" indent="-285750">
              <a:buFont typeface="Arial"/>
              <a:buChar char="•"/>
            </a:pPr>
            <a:r>
              <a:rPr sz="1800">
                <a:latin typeface="微軟正黑體"/>
                <a:ea typeface="微軟正黑體"/>
                <a:cs typeface="微軟正黑體"/>
              </a:rPr>
              <a:t>台</a:t>
            </a:r>
            <a:r>
              <a:rPr sz="1800">
                <a:latin typeface="微軟正黑體"/>
                <a:ea typeface="微軟正黑體"/>
                <a:cs typeface="微軟正黑體"/>
              </a:rPr>
              <a:t>灣</a:t>
            </a:r>
            <a:r>
              <a:rPr sz="1800">
                <a:latin typeface="微軟正黑體"/>
                <a:ea typeface="微軟正黑體"/>
                <a:cs typeface="微軟正黑體"/>
              </a:rPr>
              <a:t>8</a:t>
            </a:r>
            <a:r>
              <a:rPr sz="1800">
                <a:latin typeface="微軟正黑體"/>
                <a:ea typeface="微軟正黑體"/>
                <a:cs typeface="微軟正黑體"/>
              </a:rPr>
              <a:t>月</a:t>
            </a:r>
            <a:r>
              <a:rPr sz="1800">
                <a:latin typeface="微軟正黑體"/>
                <a:ea typeface="微軟正黑體"/>
                <a:cs typeface="微軟正黑體"/>
              </a:rPr>
              <a:t>外</a:t>
            </a:r>
            <a:r>
              <a:rPr sz="1800">
                <a:latin typeface="微軟正黑體"/>
                <a:ea typeface="微軟正黑體"/>
                <a:cs typeface="微軟正黑體"/>
              </a:rPr>
              <a:t>銷</a:t>
            </a:r>
            <a:r>
              <a:rPr sz="1800">
                <a:latin typeface="微軟正黑體"/>
                <a:ea typeface="微軟正黑體"/>
                <a:cs typeface="微軟正黑體"/>
              </a:rPr>
              <a:t>接</a:t>
            </a:r>
            <a:r>
              <a:rPr sz="1800">
                <a:latin typeface="微軟正黑體"/>
                <a:ea typeface="微軟正黑體"/>
                <a:cs typeface="微軟正黑體"/>
              </a:rPr>
              <a:t>單</a:t>
            </a:r>
            <a:r>
              <a:rPr sz="1800">
                <a:latin typeface="微軟正黑體"/>
                <a:ea typeface="微軟正黑體"/>
                <a:cs typeface="微軟正黑體"/>
              </a:rPr>
              <a:t>年</a:t>
            </a:r>
            <a:r>
              <a:rPr sz="1800">
                <a:latin typeface="微軟正黑體"/>
                <a:ea typeface="微軟正黑體"/>
                <a:cs typeface="微軟正黑體"/>
              </a:rPr>
              <a:t>增</a:t>
            </a:r>
            <a:r>
              <a:rPr sz="1800">
                <a:latin typeface="微軟正黑體"/>
                <a:ea typeface="微軟正黑體"/>
                <a:cs typeface="微軟正黑體"/>
              </a:rPr>
              <a:t>71.4</a:t>
            </a:r>
            <a:r>
              <a:rPr sz="1800">
                <a:latin typeface="微軟正黑體"/>
                <a:ea typeface="微軟正黑體"/>
                <a:cs typeface="微軟正黑體"/>
              </a:rPr>
              <a:t>%</a:t>
            </a:r>
            <a:r>
              <a:rPr sz="1800">
                <a:latin typeface="微軟正黑體"/>
                <a:ea typeface="微軟正黑體"/>
                <a:cs typeface="微軟正黑體"/>
              </a:rPr>
              <a:t>，</a:t>
            </a:r>
            <a:r>
              <a:rPr sz="1800">
                <a:latin typeface="微軟正黑體"/>
                <a:ea typeface="微軟正黑體"/>
                <a:cs typeface="微軟正黑體"/>
              </a:rPr>
              <a:t>旺</a:t>
            </a:r>
            <a:r>
              <a:rPr sz="1800">
                <a:latin typeface="微軟正黑體"/>
                <a:ea typeface="微軟正黑體"/>
                <a:cs typeface="微軟正黑體"/>
              </a:rPr>
              <a:t>季</a:t>
            </a:r>
            <a:r>
              <a:rPr sz="1800">
                <a:latin typeface="微軟正黑體"/>
                <a:ea typeface="微軟正黑體"/>
                <a:cs typeface="微軟正黑體"/>
              </a:rPr>
              <a:t>需</a:t>
            </a:r>
            <a:r>
              <a:rPr sz="1800">
                <a:latin typeface="微軟正黑體"/>
                <a:ea typeface="微軟正黑體"/>
                <a:cs typeface="微軟正黑體"/>
              </a:rPr>
              <a:t>求</a:t>
            </a:r>
            <a:r>
              <a:rPr sz="1800">
                <a:latin typeface="微軟正黑體"/>
                <a:ea typeface="微軟正黑體"/>
                <a:cs typeface="微軟正黑體"/>
              </a:rPr>
              <a:t>續</a:t>
            </a:r>
            <a:r>
              <a:rPr sz="1800">
                <a:latin typeface="微軟正黑體"/>
                <a:ea typeface="微軟正黑體"/>
                <a:cs typeface="微軟正黑體"/>
              </a:rPr>
              <a:t>強</a:t>
            </a:r>
            <a:r>
              <a:rPr sz="1800">
                <a:latin typeface="微軟正黑體"/>
                <a:ea typeface="微軟正黑體"/>
                <a:cs typeface="微軟正黑體"/>
              </a:rPr>
              <a:t>。</a:t>
            </a:r>
            <a:r>
              <a:rPr sz="1800">
                <a:latin typeface="微軟正黑體"/>
                <a:ea typeface="微軟正黑體"/>
                <a:cs typeface="微軟正黑體"/>
              </a:rPr>
              <a:t>核</a:t>
            </a:r>
            <a:r>
              <a:rPr sz="1800">
                <a:latin typeface="微軟正黑體"/>
                <a:ea typeface="微軟正黑體"/>
                <a:cs typeface="微軟正黑體"/>
              </a:rPr>
              <a:t>心</a:t>
            </a:r>
            <a:r>
              <a:rPr sz="1800">
                <a:latin typeface="微軟正黑體"/>
                <a:ea typeface="微軟正黑體"/>
                <a:cs typeface="微軟正黑體"/>
              </a:rPr>
              <a:t>持</a:t>
            </a:r>
            <a:r>
              <a:rPr sz="1800">
                <a:latin typeface="微軟正黑體"/>
                <a:ea typeface="微軟正黑體"/>
                <a:cs typeface="微軟正黑體"/>
              </a:rPr>
              <a:t>股</a:t>
            </a:r>
            <a:r>
              <a:rPr sz="1800">
                <a:latin typeface="微軟正黑體"/>
                <a:ea typeface="微軟正黑體"/>
                <a:cs typeface="微軟正黑體"/>
              </a:rPr>
              <a:t>3Q26</a:t>
            </a:r>
            <a:r>
              <a:rPr sz="1800">
                <a:latin typeface="微軟正黑體"/>
                <a:ea typeface="微軟正黑體"/>
                <a:cs typeface="微軟正黑體"/>
              </a:rPr>
              <a:t>、</a:t>
            </a:r>
            <a:r>
              <a:rPr sz="1800">
                <a:latin typeface="微軟正黑體"/>
                <a:ea typeface="微軟正黑體"/>
                <a:cs typeface="微軟正黑體"/>
              </a:rPr>
              <a:t>4Q26</a:t>
            </a:r>
            <a:r>
              <a:rPr sz="1800">
                <a:latin typeface="微軟正黑體"/>
                <a:ea typeface="微軟正黑體"/>
                <a:cs typeface="微軟正黑體"/>
              </a:rPr>
              <a:t> </a:t>
            </a:r>
            <a:r>
              <a:rPr sz="1800">
                <a:latin typeface="微軟正黑體"/>
                <a:ea typeface="微軟正黑體"/>
                <a:cs typeface="微軟正黑體"/>
              </a:rPr>
              <a:t>EPS</a:t>
            </a:r>
            <a:r>
              <a:rPr sz="1800">
                <a:latin typeface="微軟正黑體"/>
                <a:ea typeface="微軟正黑體"/>
                <a:cs typeface="微軟正黑體"/>
              </a:rPr>
              <a:t>年</a:t>
            </a:r>
            <a:r>
              <a:rPr sz="1800">
                <a:latin typeface="微軟正黑體"/>
                <a:ea typeface="微軟正黑體"/>
                <a:cs typeface="微軟正黑體"/>
              </a:rPr>
              <a:t>增</a:t>
            </a:r>
            <a:r>
              <a:rPr sz="1800">
                <a:latin typeface="微軟正黑體"/>
                <a:ea typeface="微軟正黑體"/>
                <a:cs typeface="微軟正黑體"/>
              </a:rPr>
              <a:t>預</a:t>
            </a:r>
            <a:r>
              <a:rPr sz="1800">
                <a:latin typeface="微軟正黑體"/>
                <a:ea typeface="微軟正黑體"/>
                <a:cs typeface="微軟正黑體"/>
              </a:rPr>
              <a:t>估</a:t>
            </a:r>
            <a:r>
              <a:rPr sz="1800">
                <a:latin typeface="微軟正黑體"/>
                <a:ea typeface="微軟正黑體"/>
                <a:cs typeface="微軟正黑體"/>
              </a:rPr>
              <a:t>79.2</a:t>
            </a:r>
            <a:r>
              <a:rPr sz="1800">
                <a:latin typeface="微軟正黑體"/>
                <a:ea typeface="微軟正黑體"/>
                <a:cs typeface="微軟正黑體"/>
              </a:rPr>
              <a:t>%</a:t>
            </a:r>
            <a:r>
              <a:rPr sz="1800">
                <a:latin typeface="微軟正黑體"/>
                <a:ea typeface="微軟正黑體"/>
                <a:cs typeface="微軟正黑體"/>
              </a:rPr>
              <a:t>、</a:t>
            </a:r>
            <a:r>
              <a:rPr sz="1800">
                <a:latin typeface="微軟正黑體"/>
                <a:ea typeface="微軟正黑體"/>
                <a:cs typeface="微軟正黑體"/>
              </a:rPr>
              <a:t>78.3</a:t>
            </a:r>
            <a:r>
              <a:rPr sz="1800">
                <a:latin typeface="微軟正黑體"/>
                <a:ea typeface="微軟正黑體"/>
                <a:cs typeface="微軟正黑體"/>
              </a:rPr>
              <a:t>%</a:t>
            </a:r>
            <a:r>
              <a:rPr sz="1800">
                <a:latin typeface="微軟正黑體"/>
                <a:ea typeface="微軟正黑體"/>
                <a:cs typeface="微軟正黑體"/>
              </a:rPr>
              <a:t>，</a:t>
            </a:r>
            <a:r>
              <a:rPr sz="1800">
                <a:latin typeface="微軟正黑體"/>
                <a:ea typeface="微軟正黑體"/>
                <a:cs typeface="微軟正黑體"/>
              </a:rPr>
              <a:t>財</a:t>
            </a:r>
            <a:r>
              <a:rPr sz="1800">
                <a:latin typeface="微軟正黑體"/>
                <a:ea typeface="微軟正黑體"/>
                <a:cs typeface="微軟正黑體"/>
              </a:rPr>
              <a:t>報</a:t>
            </a:r>
            <a:r>
              <a:rPr sz="1800">
                <a:latin typeface="微軟正黑體"/>
                <a:ea typeface="微軟正黑體"/>
                <a:cs typeface="微軟正黑體"/>
              </a:rPr>
              <a:t>兌</a:t>
            </a:r>
            <a:r>
              <a:rPr sz="1800">
                <a:latin typeface="微軟正黑體"/>
                <a:ea typeface="微軟正黑體"/>
                <a:cs typeface="微軟正黑體"/>
              </a:rPr>
              <a:t>現</a:t>
            </a:r>
            <a:r>
              <a:rPr sz="1800">
                <a:latin typeface="微軟正黑體"/>
                <a:ea typeface="微軟正黑體"/>
                <a:cs typeface="微軟正黑體"/>
              </a:rPr>
              <a:t>為</a:t>
            </a:r>
            <a:r>
              <a:rPr sz="1800">
                <a:latin typeface="微軟正黑體"/>
                <a:ea typeface="微軟正黑體"/>
                <a:cs typeface="微軟正黑體"/>
              </a:rPr>
              <a:t>多</a:t>
            </a:r>
            <a:r>
              <a:rPr sz="1800">
                <a:latin typeface="微軟正黑體"/>
                <a:ea typeface="微軟正黑體"/>
                <a:cs typeface="微軟正黑體"/>
              </a:rPr>
              <a:t>頭</a:t>
            </a:r>
            <a:r>
              <a:rPr sz="1800">
                <a:latin typeface="微軟正黑體"/>
                <a:ea typeface="微軟正黑體"/>
                <a:cs typeface="微軟正黑體"/>
              </a:rPr>
              <a:t>延</a:t>
            </a:r>
            <a:r>
              <a:rPr sz="1800">
                <a:latin typeface="微軟正黑體"/>
                <a:ea typeface="微軟正黑體"/>
                <a:cs typeface="微軟正黑體"/>
              </a:rPr>
              <a:t>續</a:t>
            </a:r>
            <a:r>
              <a:rPr sz="1800">
                <a:latin typeface="微軟正黑體"/>
                <a:ea typeface="微軟正黑體"/>
                <a:cs typeface="微軟正黑體"/>
              </a:rPr>
              <a:t>關</a:t>
            </a:r>
            <a:r>
              <a:rPr sz="1800">
                <a:latin typeface="微軟正黑體"/>
                <a:ea typeface="微軟正黑體"/>
                <a:cs typeface="微軟正黑體"/>
              </a:rPr>
              <a:t>鍵</a:t>
            </a:r>
            <a:r>
              <a:rPr sz="1800">
                <a:latin typeface="微軟正黑體"/>
                <a:ea typeface="微軟正黑體"/>
                <a:cs typeface="微軟正黑體"/>
              </a:rPr>
              <a:t>。</a:t>
            </a:r>
            <a:endParaRPr sz="1800">
              <a:latin typeface="微軟正黑體"/>
              <a:ea typeface="微軟正黑體"/>
              <a:cs typeface="微軟正黑體"/>
            </a:endParaRPr>
          </a:p>
          <a:p xmlns:a="http://schemas.openxmlformats.org/drawingml/2006/main">
            <a:pPr marL="285750" indent="-285750">
              <a:buFont typeface="Arial"/>
              <a:buChar char="•"/>
            </a:pPr>
            <a:r>
              <a:rPr sz="1800">
                <a:latin typeface="微軟正黑體"/>
                <a:ea typeface="微軟正黑體"/>
                <a:cs typeface="微軟正黑體"/>
              </a:rPr>
              <a:t>高</a:t>
            </a:r>
            <a:r>
              <a:rPr sz="1800">
                <a:latin typeface="微軟正黑體"/>
                <a:ea typeface="微軟正黑體"/>
                <a:cs typeface="微軟正黑體"/>
              </a:rPr>
              <a:t>利</a:t>
            </a:r>
            <a:r>
              <a:rPr sz="1800">
                <a:latin typeface="微軟正黑體"/>
                <a:ea typeface="微軟正黑體"/>
                <a:cs typeface="微軟正黑體"/>
              </a:rPr>
              <a:t>率</a:t>
            </a:r>
            <a:r>
              <a:rPr sz="1800">
                <a:latin typeface="微軟正黑體"/>
                <a:ea typeface="微軟正黑體"/>
                <a:cs typeface="微軟正黑體"/>
              </a:rPr>
              <a:t>限</a:t>
            </a:r>
            <a:r>
              <a:rPr sz="1800">
                <a:latin typeface="微軟正黑體"/>
                <a:ea typeface="微軟正黑體"/>
                <a:cs typeface="微軟正黑體"/>
              </a:rPr>
              <a:t>制</a:t>
            </a:r>
            <a:r>
              <a:rPr sz="1800">
                <a:latin typeface="微軟正黑體"/>
                <a:ea typeface="微軟正黑體"/>
                <a:cs typeface="微軟正黑體"/>
              </a:rPr>
              <a:t>評</a:t>
            </a:r>
            <a:r>
              <a:rPr sz="1800">
                <a:latin typeface="微軟正黑體"/>
                <a:ea typeface="微軟正黑體"/>
                <a:cs typeface="微軟正黑體"/>
              </a:rPr>
              <a:t>價</a:t>
            </a:r>
            <a:r>
              <a:rPr sz="1800">
                <a:latin typeface="微軟正黑體"/>
                <a:ea typeface="微軟正黑體"/>
                <a:cs typeface="微軟正黑體"/>
              </a:rPr>
              <a:t>擴</a:t>
            </a:r>
            <a:r>
              <a:rPr sz="1800">
                <a:latin typeface="微軟正黑體"/>
                <a:ea typeface="微軟正黑體"/>
                <a:cs typeface="微軟正黑體"/>
              </a:rPr>
              <a:t>張</a:t>
            </a:r>
            <a:r>
              <a:rPr sz="1800">
                <a:latin typeface="微軟正黑體"/>
                <a:ea typeface="微軟正黑體"/>
                <a:cs typeface="微軟正黑體"/>
              </a:rPr>
              <a:t>，</a:t>
            </a:r>
            <a:r>
              <a:rPr sz="1800">
                <a:latin typeface="微軟正黑體"/>
                <a:ea typeface="微軟正黑體"/>
                <a:cs typeface="微軟正黑體"/>
              </a:rPr>
              <a:t>「</a:t>
            </a:r>
            <a:r>
              <a:rPr sz="1800">
                <a:latin typeface="微軟正黑體"/>
                <a:ea typeface="微軟正黑體"/>
                <a:cs typeface="微軟正黑體"/>
              </a:rPr>
              <a:t>挑</a:t>
            </a:r>
            <a:r>
              <a:rPr sz="1800">
                <a:latin typeface="微軟正黑體"/>
                <a:ea typeface="微軟正黑體"/>
                <a:cs typeface="微軟正黑體"/>
              </a:rPr>
              <a:t>戰</a:t>
            </a:r>
            <a:r>
              <a:rPr sz="1800">
                <a:latin typeface="微軟正黑體"/>
                <a:ea typeface="微軟正黑體"/>
                <a:cs typeface="微軟正黑體"/>
              </a:rPr>
              <a:t>五</a:t>
            </a:r>
            <a:r>
              <a:rPr sz="1800">
                <a:latin typeface="微軟正黑體"/>
                <a:ea typeface="微軟正黑體"/>
                <a:cs typeface="微軟正黑體"/>
              </a:rPr>
              <a:t>萬</a:t>
            </a:r>
            <a:r>
              <a:rPr sz="1800">
                <a:latin typeface="微軟正黑體"/>
                <a:ea typeface="微軟正黑體"/>
                <a:cs typeface="微軟正黑體"/>
              </a:rPr>
              <a:t>」</a:t>
            </a:r>
            <a:r>
              <a:rPr sz="1800">
                <a:latin typeface="微軟正黑體"/>
                <a:ea typeface="微軟正黑體"/>
                <a:cs typeface="微軟正黑體"/>
              </a:rPr>
              <a:t>仍</a:t>
            </a:r>
            <a:r>
              <a:rPr sz="1800">
                <a:latin typeface="微軟正黑體"/>
                <a:ea typeface="微軟正黑體"/>
                <a:cs typeface="微軟正黑體"/>
              </a:rPr>
              <a:t>須</a:t>
            </a:r>
            <a:r>
              <a:rPr sz="1800">
                <a:latin typeface="微軟正黑體"/>
                <a:ea typeface="微軟正黑體"/>
                <a:cs typeface="微軟正黑體"/>
              </a:rPr>
              <a:t>獲</a:t>
            </a:r>
            <a:r>
              <a:rPr sz="1800">
                <a:latin typeface="微軟正黑體"/>
                <a:ea typeface="微軟正黑體"/>
                <a:cs typeface="微軟正黑體"/>
              </a:rPr>
              <a:t>利</a:t>
            </a:r>
            <a:r>
              <a:rPr sz="1800">
                <a:latin typeface="微軟正黑體"/>
                <a:ea typeface="微軟正黑體"/>
                <a:cs typeface="微軟正黑體"/>
              </a:rPr>
              <a:t>兌</a:t>
            </a:r>
            <a:r>
              <a:rPr sz="1800">
                <a:latin typeface="微軟正黑體"/>
                <a:ea typeface="微軟正黑體"/>
                <a:cs typeface="微軟正黑體"/>
              </a:rPr>
              <a:t>現</a:t>
            </a:r>
            <a:r>
              <a:rPr sz="1800">
                <a:latin typeface="微軟正黑體"/>
                <a:ea typeface="微軟正黑體"/>
                <a:cs typeface="微軟正黑體"/>
              </a:rPr>
              <a:t>。</a:t>
            </a:r>
            <a:r>
              <a:rPr sz="1800">
                <a:latin typeface="微軟正黑體"/>
                <a:ea typeface="微軟正黑體"/>
                <a:cs typeface="微軟正黑體"/>
              </a:rPr>
              <a:t>AI</a:t>
            </a:r>
            <a:r>
              <a:rPr sz="1800">
                <a:latin typeface="微軟正黑體"/>
                <a:ea typeface="微軟正黑體"/>
                <a:cs typeface="微軟正黑體"/>
              </a:rPr>
              <a:t>續</a:t>
            </a:r>
            <a:r>
              <a:rPr sz="1800">
                <a:latin typeface="微軟正黑體"/>
                <a:ea typeface="微軟正黑體"/>
                <a:cs typeface="微軟正黑體"/>
              </a:rPr>
              <a:t>為</a:t>
            </a:r>
            <a:r>
              <a:rPr sz="1800">
                <a:latin typeface="微軟正黑體"/>
                <a:ea typeface="微軟正黑體"/>
                <a:cs typeface="微軟正黑體"/>
              </a:rPr>
              <a:t>配</a:t>
            </a:r>
            <a:r>
              <a:rPr sz="1800">
                <a:latin typeface="微軟正黑體"/>
                <a:ea typeface="微軟正黑體"/>
                <a:cs typeface="微軟正黑體"/>
              </a:rPr>
              <a:t>置</a:t>
            </a:r>
            <a:r>
              <a:rPr sz="1800">
                <a:latin typeface="微軟正黑體"/>
                <a:ea typeface="微軟正黑體"/>
                <a:cs typeface="微軟正黑體"/>
              </a:rPr>
              <a:t>核</a:t>
            </a:r>
            <a:r>
              <a:rPr sz="1800">
                <a:latin typeface="微軟正黑體"/>
                <a:ea typeface="微軟正黑體"/>
                <a:cs typeface="微軟正黑體"/>
              </a:rPr>
              <a:t>心</a:t>
            </a:r>
            <a:r>
              <a:rPr sz="1800">
                <a:latin typeface="微軟正黑體"/>
                <a:ea typeface="微軟正黑體"/>
                <a:cs typeface="微軟正黑體"/>
              </a:rPr>
              <a:t>，</a:t>
            </a:r>
            <a:r>
              <a:rPr sz="1800">
                <a:latin typeface="微軟正黑體"/>
                <a:ea typeface="微軟正黑體"/>
                <a:cs typeface="微軟正黑體"/>
              </a:rPr>
              <a:t>選</a:t>
            </a:r>
            <a:r>
              <a:rPr sz="1800">
                <a:latin typeface="微軟正黑體"/>
                <a:ea typeface="微軟正黑體"/>
                <a:cs typeface="微軟正黑體"/>
              </a:rPr>
              <a:t>股</a:t>
            </a:r>
            <a:r>
              <a:rPr sz="1800">
                <a:latin typeface="微軟正黑體"/>
                <a:ea typeface="微軟正黑體"/>
                <a:cs typeface="微軟正黑體"/>
              </a:rPr>
              <a:t>聚</a:t>
            </a:r>
            <a:r>
              <a:rPr sz="1800">
                <a:latin typeface="微軟正黑體"/>
                <a:ea typeface="微軟正黑體"/>
                <a:cs typeface="微軟正黑體"/>
              </a:rPr>
              <a:t>焦</a:t>
            </a:r>
            <a:r>
              <a:rPr sz="1800">
                <a:latin typeface="微軟正黑體"/>
                <a:ea typeface="微軟正黑體"/>
                <a:cs typeface="微軟正黑體"/>
              </a:rPr>
              <a:t>訂</a:t>
            </a:r>
            <a:r>
              <a:rPr sz="1800">
                <a:latin typeface="微軟正黑體"/>
                <a:ea typeface="微軟正黑體"/>
                <a:cs typeface="微軟正黑體"/>
              </a:rPr>
              <a:t>單</a:t>
            </a:r>
            <a:r>
              <a:rPr sz="1800">
                <a:latin typeface="微軟正黑體"/>
                <a:ea typeface="微軟正黑體"/>
                <a:cs typeface="微軟正黑體"/>
              </a:rPr>
              <a:t>外</a:t>
            </a:r>
            <a:r>
              <a:rPr sz="1800">
                <a:latin typeface="微軟正黑體"/>
                <a:ea typeface="微軟正黑體"/>
                <a:cs typeface="微軟正黑體"/>
              </a:rPr>
              <a:t>溢</a:t>
            </a:r>
            <a:r>
              <a:rPr sz="1800">
                <a:latin typeface="微軟正黑體"/>
                <a:ea typeface="微軟正黑體"/>
                <a:cs typeface="微軟正黑體"/>
              </a:rPr>
              <a:t>與</a:t>
            </a:r>
            <a:r>
              <a:rPr sz="1800">
                <a:latin typeface="微軟正黑體"/>
                <a:ea typeface="微軟正黑體"/>
                <a:cs typeface="微軟正黑體"/>
              </a:rPr>
              <a:t>升</a:t>
            </a:r>
            <a:r>
              <a:rPr sz="1800">
                <a:latin typeface="微軟正黑體"/>
                <a:ea typeface="微軟正黑體"/>
                <a:cs typeface="微軟正黑體"/>
              </a:rPr>
              <a:t>規</a:t>
            </a:r>
            <a:r>
              <a:rPr sz="1800">
                <a:latin typeface="微軟正黑體"/>
                <a:ea typeface="微軟正黑體"/>
                <a:cs typeface="微軟正黑體"/>
              </a:rPr>
              <a:t>，</a:t>
            </a:r>
            <a:r>
              <a:rPr sz="1800">
                <a:latin typeface="微軟正黑體"/>
                <a:ea typeface="微軟正黑體"/>
                <a:cs typeface="微軟正黑體"/>
              </a:rPr>
              <a:t>留</a:t>
            </a:r>
            <a:r>
              <a:rPr sz="1800">
                <a:latin typeface="微軟正黑體"/>
                <a:ea typeface="微軟正黑體"/>
                <a:cs typeface="微軟正黑體"/>
              </a:rPr>
              <a:t>意</a:t>
            </a:r>
            <a:r>
              <a:rPr sz="1800">
                <a:latin typeface="微軟正黑體"/>
                <a:ea typeface="微軟正黑體"/>
                <a:cs typeface="微軟正黑體"/>
              </a:rPr>
              <a:t>利</a:t>
            </a:r>
            <a:r>
              <a:rPr sz="1800">
                <a:latin typeface="微軟正黑體"/>
                <a:ea typeface="微軟正黑體"/>
                <a:cs typeface="微軟正黑體"/>
              </a:rPr>
              <a:t>率</a:t>
            </a:r>
            <a:r>
              <a:rPr sz="1800">
                <a:latin typeface="微軟正黑體"/>
                <a:ea typeface="微軟正黑體"/>
                <a:cs typeface="微軟正黑體"/>
              </a:rPr>
              <a:t>政</a:t>
            </a:r>
            <a:r>
              <a:rPr sz="1800">
                <a:latin typeface="微軟正黑體"/>
                <a:ea typeface="微軟正黑體"/>
                <a:cs typeface="微軟正黑體"/>
              </a:rPr>
              <a:t>策</a:t>
            </a:r>
            <a:r>
              <a:rPr sz="1800">
                <a:latin typeface="微軟正黑體"/>
                <a:ea typeface="微軟正黑體"/>
                <a:cs typeface="微軟正黑體"/>
              </a:rPr>
              <a:t>及</a:t>
            </a:r>
            <a:r>
              <a:rPr sz="1800">
                <a:latin typeface="微軟正黑體"/>
                <a:ea typeface="微軟正黑體"/>
                <a:cs typeface="微軟正黑體"/>
              </a:rPr>
              <a:t>11</a:t>
            </a:r>
            <a:r>
              <a:rPr sz="1800">
                <a:latin typeface="微軟正黑體"/>
                <a:ea typeface="微軟正黑體"/>
                <a:cs typeface="微軟正黑體"/>
              </a:rPr>
              <a:t>月</a:t>
            </a:r>
            <a:r>
              <a:rPr sz="1800">
                <a:latin typeface="微軟正黑體"/>
                <a:ea typeface="微軟正黑體"/>
                <a:cs typeface="微軟正黑體"/>
              </a:rPr>
              <a:t>期</a:t>
            </a:r>
            <a:r>
              <a:rPr sz="1800">
                <a:latin typeface="微軟正黑體"/>
                <a:ea typeface="微軟正黑體"/>
                <a:cs typeface="微軟正黑體"/>
              </a:rPr>
              <a:t>中</a:t>
            </a:r>
            <a:r>
              <a:rPr sz="1800">
                <a:latin typeface="微軟正黑體"/>
                <a:ea typeface="微軟正黑體"/>
                <a:cs typeface="微軟正黑體"/>
              </a:rPr>
              <a:t>選</a:t>
            </a:r>
            <a:r>
              <a:rPr sz="1800">
                <a:latin typeface="微軟正黑體"/>
                <a:ea typeface="微軟正黑體"/>
                <a:cs typeface="微軟正黑體"/>
              </a:rPr>
              <a:t>舉</a:t>
            </a:r>
            <a:r>
              <a:rPr sz="1800">
                <a:latin typeface="微軟正黑體"/>
                <a:ea typeface="微軟正黑體"/>
                <a:cs typeface="微軟正黑體"/>
              </a:rPr>
              <a:t>變</a:t>
            </a:r>
            <a:r>
              <a:rPr sz="1800">
                <a:latin typeface="微軟正黑體"/>
                <a:ea typeface="微軟正黑體"/>
                <a:cs typeface="微軟正黑體"/>
              </a:rPr>
              <a:t>數</a:t>
            </a:r>
            <a:r>
              <a:rPr sz="1800">
                <a:latin typeface="微軟正黑體"/>
                <a:ea typeface="微軟正黑體"/>
                <a:cs typeface="微軟正黑體"/>
              </a:rPr>
              <a:t>。</a:t>
            </a:r>
            <a:endParaRPr sz="1800">
              <a:latin typeface="微軟正黑體"/>
              <a:ea typeface="微軟正黑體"/>
              <a:cs typeface="微軟正黑體"/>
            </a:endParaRPr>
          </a:p>
        </p:txBody>
      </p:sp>
      <p:sp>
        <p:nvSpPr>
          <p:cNvPr id="12" name="矩形 11">
            <a:extLst xmlns:a="http://schemas.openxmlformats.org/drawingml/2006/main">
              <a:ext uri="{FF2B5EF4-FFF2-40B4-BE49-F238E27FC236}">
                <a16:creationId xmlns:a16="http://schemas.microsoft.com/office/drawing/2014/main" id="{D458EA3A-EC57-A4D3-E5FC-606D51CB141D}"/>
              </a:ext>
            </a:extLst>
          </p:cNvPr>
          <p:cNvSpPr>
            <a:spLocks xmlns:a="http://schemas.openxmlformats.org/drawingml/2006/main" noGrp="1"/>
          </p:cNvSpPr>
          <p:nvPr/>
        </p:nvSpPr>
        <p:spPr>
          <a:xfrm xmlns:a="http://schemas.openxmlformats.org/drawingml/2006/main">
            <a:off x="8262257" y="6542809"/>
            <a:ext cx="3137741" cy="307777"/>
          </a:xfrm>
          <a:prstGeom xmlns:a="http://schemas.openxmlformats.org/drawingml/2006/main" prst="rect">
            <a:avLst/>
          </a:prstGeom>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buNone/>
            </a:pPr>
            <a:r>
              <a:rPr sz="1400">
                <a:latin typeface="微軟正黑體"/>
                <a:ea typeface="微軟正黑體"/>
                <a:cs typeface="微軟正黑體"/>
              </a:rPr>
              <a:t>資料來源：富邦投顧(2026/9/30)</a:t>
            </a:r>
            <a:endParaRPr sz="1400"/>
          </a:p>
        </p:txBody>
      </p:sp>
      <p:sp>
        <p:nvSpPr>
          <p:cNvPr id="2" name="文字方塊 1">
            <a:extLst xmlns:a="http://schemas.openxmlformats.org/drawingml/2006/main">
              <a:ext uri="{FF2B5EF4-FFF2-40B4-BE49-F238E27FC236}">
                <a16:creationId xmlns:a16="http://schemas.microsoft.com/office/drawing/2014/main" id="{86251B1F-8ACA-0C62-E227-25E855E1FB02}"/>
              </a:ext>
            </a:extLst>
          </p:cNvPr>
          <p:cNvSpPr>
            <a:spLocks xmlns:a="http://schemas.openxmlformats.org/drawingml/2006/main" noGrp="1"/>
          </p:cNvSpPr>
          <p:nvPr/>
        </p:nvSpPr>
        <p:spPr>
          <a:xfrm xmlns:a="http://schemas.openxmlformats.org/drawingml/2006/main">
            <a:off x="2431885" y="2262651"/>
            <a:ext cx="1338828"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b="1">
                <a:latin typeface="微軟正黑體"/>
                <a:ea typeface="微軟正黑體"/>
                <a:cs typeface="微軟正黑體"/>
              </a:rPr>
              <a:t>季度EPS</a:t>
            </a:r>
            <a:endParaRPr/>
          </a:p>
        </p:txBody>
      </p:sp>
      <p:sp>
        <p:nvSpPr>
          <p:cNvPr id="8" name="文字方塊 7">
            <a:extLst xmlns:a="http://schemas.openxmlformats.org/drawingml/2006/main">
              <a:ext uri="{FF2B5EF4-FFF2-40B4-BE49-F238E27FC236}">
                <a16:creationId xmlns:a16="http://schemas.microsoft.com/office/drawing/2014/main" id="{D9F034B6-A874-95BD-5D6A-382DD9C5D182}"/>
              </a:ext>
            </a:extLst>
          </p:cNvPr>
          <p:cNvSpPr>
            <a:spLocks xmlns:a="http://schemas.openxmlformats.org/drawingml/2006/main" noGrp="1"/>
          </p:cNvSpPr>
          <p:nvPr/>
        </p:nvSpPr>
        <p:spPr>
          <a:xfrm xmlns:a="http://schemas.openxmlformats.org/drawingml/2006/main">
            <a:off x="7787751" y="2239517"/>
            <a:ext cx="1800493"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b="1">
                <a:latin typeface="微軟正黑體"/>
                <a:ea typeface="微軟正黑體"/>
                <a:cs typeface="微軟正黑體"/>
              </a:rPr>
              <a:t>台股評價走勢</a:t>
            </a:r>
            <a:endParaRPr/>
          </a:p>
        </p:txBody>
      </p:sp>
      <p:graphicFrame>
        <p:nvGraphicFramePr>
          <p:cNvPr id="15371" name="Chart"/>
          <p:cNvGraphicFramePr/>
          <p:nvPr/>
        </p:nvGraphicFramePr>
        <p:xfrm>
          <a:off xmlns:a="http://schemas.openxmlformats.org/drawingml/2006/main" x="379232" y="2608849"/>
          <a:ext xmlns:a="http://schemas.openxmlformats.org/drawingml/2006/main" cx="5400000" cy="3708000"/>
        </p:xfrm>
        <a:graphic xmlns:a="http://schemas.openxmlformats.org/drawingml/2006/main">
          <a:graphicData uri="http://schemas.openxmlformats.org/drawingml/2006/chart">
            <c:chart xmlns:r="http://schemas.openxmlformats.org/officeDocument/2006/relationships" xmlns:c="http://schemas.openxmlformats.org/drawingml/2006/chart" r:id="R1b57fb14cf834e78"/>
          </a:graphicData>
        </a:graphic>
      </p:graphicFrame>
      <p:sp>
        <p:nvSpPr>
          <p:cNvPr id="15364" name="">
            <a:extLst xmlns:a="http://schemas.openxmlformats.org/drawingml/2006/main">
              <a:ext uri="{FF2B5EF4-FFF2-40B4-BE49-F238E27FC236}">
                <a16:creationId xmlns:a16="http://schemas.microsoft.com/office/drawing/2014/main" id="{A866DEC1-F73B-454D-9863-6695D5DF6A23}"/>
              </a:ext>
            </a:extLst>
          </p:cNvPr>
          <p:cNvSpPr>
            <a:spLocks xmlns:a="http://schemas.openxmlformats.org/drawingml/2006/main" noGrp="1"/>
          </p:cNvSpPr>
          <p:nvPr/>
        </p:nvSpPr>
        <p:spPr>
          <a:xfrm xmlns:a="http://schemas.openxmlformats.org/drawingml/2006/main">
            <a:off x="6116753" y="2631983"/>
            <a:ext cx="5400000" cy="3708000"/>
          </a:xfrm>
          <a:prstGeom xmlns:a="http://schemas.openxmlformats.org/drawingml/2006/main" prst="roundRect">
            <a:avLst>
              <a:gd name="adj" fmla="val 3596"/>
            </a:avLst>
          </a:prstGeom>
          <a:solidFill xmlns:a="http://schemas.openxmlformats.org/drawingml/2006/main">
            <a:srgbClr val="FFFFFF"/>
          </a:solidFill>
          <a:ln xmlns:a="http://schemas.openxmlformats.org/drawingml/2006/main" w="6191">
            <a:solidFill>
              <a:srgbClr val="CDE6EB"/>
            </a:solidFill>
          </a:ln>
        </p:spPr>
      </p:sp>
      <p:pic>
        <p:nvPicPr>
          <p:cNvPr id="15373" name=""/>
          <p:cNvPicPr>
            <a:picLocks xmlns:a="http://schemas.openxmlformats.org/drawingml/2006/main" noChangeAspect="1"/>
          </p:cNvPicPr>
          <p:nvPr/>
        </p:nvPicPr>
        <p:blipFill>
          <a:blip xmlns:r="http://schemas.openxmlformats.org/officeDocument/2006/relationships" xmlns:a="http://schemas.openxmlformats.org/drawingml/2006/main" r:embed="Re0f5d0a1a5dd42bc"/>
          <a:stretch xmlns:a="http://schemas.openxmlformats.org/drawingml/2006/main"/>
        </p:blipFill>
        <p:spPr>
          <a:xfrm xmlns:a="http://schemas.openxmlformats.org/drawingml/2006/main">
            <a:off x="6173903" y="3095568"/>
            <a:ext cx="5285700" cy="2780830"/>
          </a:xfrm>
          <a:prstGeom xmlns:a="http://schemas.openxmlformats.org/drawingml/2006/main" prst="rect">
            <a:avLst/>
          </a:prstGeom>
        </p:spPr>
      </p:pic>
    </p:spTree>
    <p:extLst>
      <p:ext uri="{BB962C8B-B14F-4D97-AF65-F5344CB8AC3E}">
        <p14:creationId xmlns:p14="http://schemas.microsoft.com/office/powerpoint/2010/main" val="251261530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5362" name="標題 3">
            <a:extLst xmlns:a="http://schemas.openxmlformats.org/drawingml/2006/main">
              <a:ext uri="{FF2B5EF4-FFF2-40B4-BE49-F238E27FC236}">
                <a16:creationId xmlns:a16="http://schemas.microsoft.com/office/drawing/2014/main" id="{D0052553-414B-0149-5353-CA3A7D03E857}"/>
              </a:ext>
            </a:extLst>
          </p:cNvPr>
          <p:cNvSpPr>
            <a:spLocks xmlns:a="http://schemas.openxmlformats.org/drawingml/2006/main" noGrp="1"/>
          </p:cNvSpPr>
          <p:nvPr>
            <p:ph type="title" idx="0"/>
          </p:nvPr>
        </p:nvSpPr>
        <p:spPr>
          <a:xfrm xmlns:a="http://schemas.openxmlformats.org/drawingml/2006/main">
            <a:off x="935999" y="288000"/>
            <a:ext cx="10463999" cy="430887"/>
          </a:xfrm>
        </p:spPr>
        <p:txBody>
          <a:bodyPr xmlns:a="http://schemas.openxmlformats.org/drawingml/2006/main">
            <a:noAutofit/>
          </a:bodyPr>
          <a:lstStyle xmlns:a="http://schemas.openxmlformats.org/drawingml/2006/main"/>
          <a:p xmlns:a="http://schemas.openxmlformats.org/drawingml/2006/main">
            <a:r>
              <a:rPr sz="2800" b="1">
                <a:latin typeface="微軟正黑體"/>
                <a:ea typeface="微軟正黑體"/>
                <a:cs typeface="微軟正黑體"/>
              </a:rPr>
              <a:t>產能瓶頸延續，外溢帶動封測設備</a:t>
            </a:r>
          </a:p>
        </p:txBody>
      </p:sp>
      <p:sp>
        <p:nvSpPr>
          <p:cNvPr id="5" name="文字方塊 14">
            <a:extLst xmlns:a="http://schemas.openxmlformats.org/drawingml/2006/main">
              <a:ext uri="{FF2B5EF4-FFF2-40B4-BE49-F238E27FC236}">
                <a16:creationId xmlns:a16="http://schemas.microsoft.com/office/drawing/2014/main" id="{9C99D567-D09F-0FEC-56C5-3BB1DD958482}"/>
              </a:ext>
            </a:extLst>
          </p:cNvPr>
          <p:cNvSpPr>
            <a:spLocks xmlns:a="http://schemas.openxmlformats.org/drawingml/2006/main" noGrp="1"/>
          </p:cNvSpPr>
          <p:nvPr/>
        </p:nvSpPr>
        <p:spPr>
          <a:xfrm xmlns:a="http://schemas.openxmlformats.org/drawingml/2006/main">
            <a:off x="792001" y="900000"/>
            <a:ext cx="10463999" cy="14935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36000" rIns="36000"/>
          <a:lstStyle xmlns:a="http://schemas.openxmlformats.org/drawingml/2006/main">
            <a:lvl1pPr>
              <a:spcBef>
                <a:spcPct val="30000"/>
              </a:spcBef>
              <a:buClr>
                <a:srgbClr val="00829B"/>
              </a:buClr>
              <a:buSzPct val="70000"/>
              <a:buFont typeface="Wingdings"/>
              <a:buChar char="n"/>
              <a:defRPr sz="2600">
                <a:solidFill>
                  <a:schemeClr val="tx1"/>
                </a:solidFill>
                <a:latin typeface="Doradani Lt"/>
                <a:ea typeface="Doradani Lt"/>
                <a:cs typeface="Doradani Lt"/>
              </a:defRPr>
            </a:lvl1pPr>
            <a:lvl2pPr marL="742950" indent="-285750">
              <a:spcBef>
                <a:spcPct val="30000"/>
              </a:spcBef>
              <a:buSzPct val="70000"/>
              <a:buFont typeface="Wingdings"/>
              <a:buChar char="l"/>
              <a:defRPr sz="2200">
                <a:solidFill>
                  <a:schemeClr val="tx1"/>
                </a:solidFill>
                <a:latin typeface="Doradani Lt"/>
                <a:ea typeface="Doradani Lt"/>
                <a:cs typeface="Doradani Lt"/>
              </a:defRPr>
            </a:lvl2pPr>
            <a:lvl3pPr marL="1143000" indent="-228600">
              <a:spcBef>
                <a:spcPct val="30000"/>
              </a:spcBef>
              <a:buClr>
                <a:srgbClr val="00829B"/>
              </a:buClr>
              <a:buSzPct val="70000"/>
              <a:buFont typeface="Wingdings"/>
              <a:buChar char="n"/>
              <a:defRPr>
                <a:solidFill>
                  <a:schemeClr val="tx1"/>
                </a:solidFill>
                <a:latin typeface="Doradani Lt"/>
                <a:ea typeface="Doradani Lt"/>
                <a:cs typeface="Doradani Lt"/>
              </a:defRPr>
            </a:lvl3pPr>
            <a:lvl4pPr marL="1600200" indent="-228600">
              <a:spcBef>
                <a:spcPct val="30000"/>
              </a:spcBef>
              <a:buFont typeface="Wingdings"/>
              <a:buChar char="l"/>
              <a:defRPr>
                <a:solidFill>
                  <a:schemeClr val="tx1"/>
                </a:solidFill>
                <a:latin typeface="Doradani Lt"/>
                <a:ea typeface="Doradani Lt"/>
                <a:cs typeface="Doradani Lt"/>
              </a:defRPr>
            </a:lvl4pPr>
            <a:lvl5pPr marL="2057400" indent="-228600">
              <a:lnSpc>
                <a:spcPct val="120000"/>
              </a:lnSpc>
              <a:buChar char="»"/>
              <a:defRPr sz="2000">
                <a:solidFill>
                  <a:schemeClr val="tx1"/>
                </a:solidFill>
                <a:latin typeface="Arial"/>
                <a:ea typeface="Arial"/>
                <a:cs typeface="Arial"/>
              </a:defRPr>
            </a:lvl5pPr>
            <a:lvl6pPr marL="2514600" indent="-228600">
              <a:lnSpc>
                <a:spcPct val="120000"/>
              </a:lnSpc>
              <a:spcBef>
                <a:spcPct val="0"/>
              </a:spcBef>
              <a:spcAft>
                <a:spcPct val="0"/>
              </a:spcAft>
              <a:buChar char="»"/>
              <a:defRPr sz="2000">
                <a:solidFill>
                  <a:schemeClr val="tx1"/>
                </a:solidFill>
                <a:latin typeface="Arial"/>
                <a:ea typeface="Arial"/>
                <a:cs typeface="Arial"/>
              </a:defRPr>
            </a:lvl6pPr>
            <a:lvl7pPr marL="2971800" indent="-228600">
              <a:lnSpc>
                <a:spcPct val="120000"/>
              </a:lnSpc>
              <a:spcBef>
                <a:spcPct val="0"/>
              </a:spcBef>
              <a:spcAft>
                <a:spcPct val="0"/>
              </a:spcAft>
              <a:buChar char="»"/>
              <a:defRPr sz="2000">
                <a:solidFill>
                  <a:schemeClr val="tx1"/>
                </a:solidFill>
                <a:latin typeface="Arial"/>
                <a:ea typeface="Arial"/>
                <a:cs typeface="Arial"/>
              </a:defRPr>
            </a:lvl7pPr>
            <a:lvl8pPr marL="3429000" indent="-228600">
              <a:lnSpc>
                <a:spcPct val="120000"/>
              </a:lnSpc>
              <a:spcBef>
                <a:spcPct val="0"/>
              </a:spcBef>
              <a:spcAft>
                <a:spcPct val="0"/>
              </a:spcAft>
              <a:buChar char="»"/>
              <a:defRPr sz="2000">
                <a:solidFill>
                  <a:schemeClr val="tx1"/>
                </a:solidFill>
                <a:latin typeface="Arial"/>
                <a:ea typeface="Arial"/>
                <a:cs typeface="Arial"/>
              </a:defRPr>
            </a:lvl8pPr>
            <a:lvl9pPr marL="3886200" indent="-228600">
              <a:lnSpc>
                <a:spcPct val="120000"/>
              </a:lnSpc>
              <a:spcBef>
                <a:spcPct val="0"/>
              </a:spcBef>
              <a:spcAft>
                <a:spcPct val="0"/>
              </a:spcAft>
              <a:buChar char="»"/>
              <a:defRPr sz="2000">
                <a:solidFill>
                  <a:schemeClr val="tx1"/>
                </a:solidFill>
                <a:latin typeface="Arial"/>
                <a:ea typeface="Arial"/>
                <a:cs typeface="Arial"/>
              </a:defRPr>
            </a:lvl9pPr>
          </a:lstStyle>
          <a:p xmlns:a="http://schemas.openxmlformats.org/drawingml/2006/main">
            <a:pPr marL="285750" indent="-285750">
              <a:buFont typeface="Arial"/>
              <a:buChar char="•"/>
            </a:pPr>
            <a:r>
              <a:rPr sz="1800">
                <a:latin typeface="微軟正黑體"/>
                <a:ea typeface="微軟正黑體"/>
                <a:cs typeface="微軟正黑體"/>
              </a:rPr>
              <a:t>AI</a:t>
            </a:r>
            <a:r>
              <a:rPr sz="1800">
                <a:latin typeface="微軟正黑體"/>
                <a:ea typeface="微軟正黑體"/>
                <a:cs typeface="微軟正黑體"/>
              </a:rPr>
              <a:t> </a:t>
            </a:r>
            <a:r>
              <a:rPr sz="1800">
                <a:latin typeface="微軟正黑體"/>
                <a:ea typeface="微軟正黑體"/>
                <a:cs typeface="微軟正黑體"/>
              </a:rPr>
              <a:t>ASIC</a:t>
            </a:r>
            <a:r>
              <a:rPr sz="1800">
                <a:latin typeface="微軟正黑體"/>
                <a:ea typeface="微軟正黑體"/>
                <a:cs typeface="微軟正黑體"/>
              </a:rPr>
              <a:t>、</a:t>
            </a:r>
            <a:r>
              <a:rPr sz="1800">
                <a:latin typeface="微軟正黑體"/>
                <a:ea typeface="微軟正黑體"/>
                <a:cs typeface="微軟正黑體"/>
              </a:rPr>
              <a:t>GPU</a:t>
            </a:r>
            <a:r>
              <a:rPr sz="1800">
                <a:latin typeface="微軟正黑體"/>
                <a:ea typeface="微軟正黑體"/>
                <a:cs typeface="微軟正黑體"/>
              </a:rPr>
              <a:t>與</a:t>
            </a:r>
            <a:r>
              <a:rPr sz="1800">
                <a:latin typeface="微軟正黑體"/>
                <a:ea typeface="微軟正黑體"/>
                <a:cs typeface="微軟正黑體"/>
              </a:rPr>
              <a:t>HBM</a:t>
            </a:r>
            <a:r>
              <a:rPr sz="1800">
                <a:latin typeface="微軟正黑體"/>
                <a:ea typeface="微軟正黑體"/>
                <a:cs typeface="微軟正黑體"/>
              </a:rPr>
              <a:t>推</a:t>
            </a:r>
            <a:r>
              <a:rPr sz="1800">
                <a:latin typeface="微軟正黑體"/>
                <a:ea typeface="微軟正黑體"/>
                <a:cs typeface="微軟正黑體"/>
              </a:rPr>
              <a:t>升</a:t>
            </a:r>
            <a:r>
              <a:rPr sz="1800">
                <a:latin typeface="微軟正黑體"/>
                <a:ea typeface="微軟正黑體"/>
                <a:cs typeface="微軟正黑體"/>
              </a:rPr>
              <a:t>CoWoS</a:t>
            </a:r>
            <a:r>
              <a:rPr sz="1800">
                <a:latin typeface="微軟正黑體"/>
                <a:ea typeface="微軟正黑體"/>
                <a:cs typeface="微軟正黑體"/>
              </a:rPr>
              <a:t>需</a:t>
            </a:r>
            <a:r>
              <a:rPr sz="1800">
                <a:latin typeface="微軟正黑體"/>
                <a:ea typeface="微軟正黑體"/>
                <a:cs typeface="微軟正黑體"/>
              </a:rPr>
              <a:t>求</a:t>
            </a:r>
            <a:r>
              <a:rPr sz="1800">
                <a:latin typeface="微軟正黑體"/>
                <a:ea typeface="微軟正黑體"/>
                <a:cs typeface="微軟正黑體"/>
              </a:rPr>
              <a:t>，</a:t>
            </a:r>
            <a:r>
              <a:rPr sz="1800">
                <a:latin typeface="微軟正黑體"/>
                <a:ea typeface="微軟正黑體"/>
                <a:cs typeface="微軟正黑體"/>
              </a:rPr>
              <a:t>台</a:t>
            </a:r>
            <a:r>
              <a:rPr sz="1800">
                <a:latin typeface="微軟正黑體"/>
                <a:ea typeface="微軟正黑體"/>
                <a:cs typeface="微軟正黑體"/>
              </a:rPr>
              <a:t>積</a:t>
            </a:r>
            <a:r>
              <a:rPr sz="1800">
                <a:latin typeface="微軟正黑體"/>
                <a:ea typeface="微軟正黑體"/>
                <a:cs typeface="微軟正黑體"/>
              </a:rPr>
              <a:t>電</a:t>
            </a:r>
            <a:r>
              <a:rPr sz="1800">
                <a:latin typeface="微軟正黑體"/>
                <a:ea typeface="微軟正黑體"/>
                <a:cs typeface="微軟正黑體"/>
              </a:rPr>
              <a:t>擴</a:t>
            </a:r>
            <a:r>
              <a:rPr sz="1800">
                <a:latin typeface="微軟正黑體"/>
                <a:ea typeface="微軟正黑體"/>
                <a:cs typeface="微軟正黑體"/>
              </a:rPr>
              <a:t>產</a:t>
            </a:r>
            <a:r>
              <a:rPr sz="1800">
                <a:latin typeface="微軟正黑體"/>
                <a:ea typeface="微軟正黑體"/>
                <a:cs typeface="微軟正黑體"/>
              </a:rPr>
              <a:t>仍</a:t>
            </a:r>
            <a:r>
              <a:rPr sz="1800">
                <a:latin typeface="微軟正黑體"/>
                <a:ea typeface="微軟正黑體"/>
                <a:cs typeface="微軟正黑體"/>
              </a:rPr>
              <a:t>難</a:t>
            </a:r>
            <a:r>
              <a:rPr sz="1800">
                <a:latin typeface="微軟正黑體"/>
                <a:ea typeface="微軟正黑體"/>
                <a:cs typeface="微軟正黑體"/>
              </a:rPr>
              <a:t>滿</a:t>
            </a:r>
            <a:r>
              <a:rPr sz="1800">
                <a:latin typeface="微軟正黑體"/>
                <a:ea typeface="微軟正黑體"/>
                <a:cs typeface="微軟正黑體"/>
              </a:rPr>
              <a:t>足</a:t>
            </a:r>
            <a:r>
              <a:rPr sz="1800">
                <a:latin typeface="微軟正黑體"/>
                <a:ea typeface="微軟正黑體"/>
                <a:cs typeface="微軟正黑體"/>
              </a:rPr>
              <a:t>2028</a:t>
            </a:r>
            <a:r>
              <a:rPr sz="1800">
                <a:latin typeface="微軟正黑體"/>
                <a:ea typeface="微軟正黑體"/>
                <a:cs typeface="微軟正黑體"/>
              </a:rPr>
              <a:t>年</a:t>
            </a:r>
            <a:r>
              <a:rPr sz="1800">
                <a:latin typeface="微軟正黑體"/>
                <a:ea typeface="微軟正黑體"/>
                <a:cs typeface="微軟正黑體"/>
              </a:rPr>
              <a:t>前</a:t>
            </a:r>
            <a:r>
              <a:rPr sz="1800">
                <a:latin typeface="微軟正黑體"/>
                <a:ea typeface="微軟正黑體"/>
                <a:cs typeface="微軟正黑體"/>
              </a:rPr>
              <a:t>需</a:t>
            </a:r>
            <a:r>
              <a:rPr sz="1800">
                <a:latin typeface="微軟正黑體"/>
                <a:ea typeface="微軟正黑體"/>
                <a:cs typeface="微軟正黑體"/>
              </a:rPr>
              <a:t>求</a:t>
            </a:r>
            <a:r>
              <a:rPr sz="1800">
                <a:latin typeface="微軟正黑體"/>
                <a:ea typeface="微軟正黑體"/>
                <a:cs typeface="微軟正黑體"/>
              </a:rPr>
              <a:t>。</a:t>
            </a:r>
            <a:r>
              <a:rPr sz="1800">
                <a:latin typeface="微軟正黑體"/>
                <a:ea typeface="微軟正黑體"/>
                <a:cs typeface="微軟正黑體"/>
              </a:rPr>
              <a:t>製</a:t>
            </a:r>
            <a:r>
              <a:rPr sz="1800">
                <a:latin typeface="微軟正黑體"/>
                <a:ea typeface="微軟正黑體"/>
                <a:cs typeface="微軟正黑體"/>
              </a:rPr>
              <a:t>程</a:t>
            </a:r>
            <a:r>
              <a:rPr sz="1800">
                <a:latin typeface="微軟正黑體"/>
                <a:ea typeface="微軟正黑體"/>
                <a:cs typeface="微軟正黑體"/>
              </a:rPr>
              <a:t>、</a:t>
            </a:r>
            <a:r>
              <a:rPr sz="1800">
                <a:latin typeface="微軟正黑體"/>
                <a:ea typeface="微軟正黑體"/>
                <a:cs typeface="微軟正黑體"/>
              </a:rPr>
              <a:t>封</a:t>
            </a:r>
            <a:r>
              <a:rPr sz="1800">
                <a:latin typeface="微軟正黑體"/>
                <a:ea typeface="微軟正黑體"/>
                <a:cs typeface="微軟正黑體"/>
              </a:rPr>
              <a:t>裝</a:t>
            </a:r>
            <a:r>
              <a:rPr sz="1800">
                <a:latin typeface="微軟正黑體"/>
                <a:ea typeface="微軟正黑體"/>
                <a:cs typeface="微軟正黑體"/>
              </a:rPr>
              <a:t>與</a:t>
            </a:r>
            <a:r>
              <a:rPr sz="1800">
                <a:latin typeface="微軟正黑體"/>
                <a:ea typeface="微軟正黑體"/>
                <a:cs typeface="微軟正黑體"/>
              </a:rPr>
              <a:t>載</a:t>
            </a:r>
            <a:r>
              <a:rPr sz="1800">
                <a:latin typeface="微軟正黑體"/>
                <a:ea typeface="微軟正黑體"/>
                <a:cs typeface="微軟正黑體"/>
              </a:rPr>
              <a:t>板</a:t>
            </a:r>
            <a:r>
              <a:rPr sz="1800">
                <a:latin typeface="微軟正黑體"/>
                <a:ea typeface="微軟正黑體"/>
                <a:cs typeface="微軟正黑體"/>
              </a:rPr>
              <a:t>瓶</a:t>
            </a:r>
            <a:r>
              <a:rPr sz="1800">
                <a:latin typeface="微軟正黑體"/>
                <a:ea typeface="微軟正黑體"/>
                <a:cs typeface="微軟正黑體"/>
              </a:rPr>
              <a:t>頸</a:t>
            </a:r>
            <a:r>
              <a:rPr sz="1800">
                <a:latin typeface="微軟正黑體"/>
                <a:ea typeface="微軟正黑體"/>
                <a:cs typeface="微軟正黑體"/>
              </a:rPr>
              <a:t>並</a:t>
            </a:r>
            <a:r>
              <a:rPr sz="1800">
                <a:latin typeface="微軟正黑體"/>
                <a:ea typeface="微軟正黑體"/>
                <a:cs typeface="微軟正黑體"/>
              </a:rPr>
              <a:t>存</a:t>
            </a:r>
            <a:r>
              <a:rPr sz="1800">
                <a:latin typeface="微軟正黑體"/>
                <a:ea typeface="微軟正黑體"/>
                <a:cs typeface="微軟正黑體"/>
              </a:rPr>
              <a:t>，</a:t>
            </a:r>
            <a:r>
              <a:rPr sz="1800">
                <a:latin typeface="微軟正黑體"/>
                <a:ea typeface="微軟正黑體"/>
                <a:cs typeface="微軟正黑體"/>
              </a:rPr>
              <a:t>機</a:t>
            </a:r>
            <a:r>
              <a:rPr sz="1800">
                <a:latin typeface="微軟正黑體"/>
                <a:ea typeface="微軟正黑體"/>
                <a:cs typeface="微軟正黑體"/>
              </a:rPr>
              <a:t>會</a:t>
            </a:r>
            <a:r>
              <a:rPr sz="1800">
                <a:latin typeface="微軟正黑體"/>
                <a:ea typeface="微軟正黑體"/>
                <a:cs typeface="微軟正黑體"/>
              </a:rPr>
              <a:t>延</a:t>
            </a:r>
            <a:r>
              <a:rPr sz="1800">
                <a:latin typeface="微軟正黑體"/>
                <a:ea typeface="微軟正黑體"/>
                <a:cs typeface="微軟正黑體"/>
              </a:rPr>
              <a:t>伸</a:t>
            </a:r>
            <a:r>
              <a:rPr sz="1800">
                <a:latin typeface="微軟正黑體"/>
                <a:ea typeface="微軟正黑體"/>
                <a:cs typeface="微軟正黑體"/>
              </a:rPr>
              <a:t>至</a:t>
            </a:r>
            <a:r>
              <a:rPr sz="1800">
                <a:latin typeface="微軟正黑體"/>
                <a:ea typeface="微軟正黑體"/>
                <a:cs typeface="微軟正黑體"/>
              </a:rPr>
              <a:t>獨</a:t>
            </a:r>
            <a:r>
              <a:rPr sz="1800">
                <a:latin typeface="微軟正黑體"/>
                <a:ea typeface="微軟正黑體"/>
                <a:cs typeface="微軟正黑體"/>
              </a:rPr>
              <a:t>立</a:t>
            </a:r>
            <a:r>
              <a:rPr sz="1800">
                <a:latin typeface="微軟正黑體"/>
                <a:ea typeface="微軟正黑體"/>
                <a:cs typeface="微軟正黑體"/>
              </a:rPr>
              <a:t>封</a:t>
            </a:r>
            <a:r>
              <a:rPr sz="1800">
                <a:latin typeface="微軟正黑體"/>
                <a:ea typeface="微軟正黑體"/>
                <a:cs typeface="微軟正黑體"/>
              </a:rPr>
              <a:t>測</a:t>
            </a:r>
            <a:r>
              <a:rPr sz="1800">
                <a:latin typeface="微軟正黑體"/>
                <a:ea typeface="微軟正黑體"/>
                <a:cs typeface="微軟正黑體"/>
              </a:rPr>
              <a:t>、</a:t>
            </a:r>
            <a:r>
              <a:rPr sz="1800">
                <a:latin typeface="微軟正黑體"/>
                <a:ea typeface="微軟正黑體"/>
                <a:cs typeface="微軟正黑體"/>
              </a:rPr>
              <a:t>設</a:t>
            </a:r>
            <a:r>
              <a:rPr sz="1800">
                <a:latin typeface="微軟正黑體"/>
                <a:ea typeface="微軟正黑體"/>
                <a:cs typeface="微軟正黑體"/>
              </a:rPr>
              <a:t>備</a:t>
            </a:r>
            <a:r>
              <a:rPr sz="1800">
                <a:latin typeface="微軟正黑體"/>
                <a:ea typeface="微軟正黑體"/>
                <a:cs typeface="微軟正黑體"/>
              </a:rPr>
              <a:t>及</a:t>
            </a:r>
            <a:r>
              <a:rPr sz="1800">
                <a:latin typeface="微軟正黑體"/>
                <a:ea typeface="微軟正黑體"/>
                <a:cs typeface="微軟正黑體"/>
              </a:rPr>
              <a:t>材</a:t>
            </a:r>
            <a:r>
              <a:rPr sz="1800">
                <a:latin typeface="微軟正黑體"/>
                <a:ea typeface="微軟正黑體"/>
                <a:cs typeface="微軟正黑體"/>
              </a:rPr>
              <a:t>料</a:t>
            </a:r>
            <a:r>
              <a:rPr sz="1800">
                <a:latin typeface="微軟正黑體"/>
                <a:ea typeface="微軟正黑體"/>
                <a:cs typeface="微軟正黑體"/>
              </a:rPr>
              <a:t>。</a:t>
            </a:r>
            <a:endParaRPr sz="1800">
              <a:latin typeface="微軟正黑體"/>
              <a:ea typeface="微軟正黑體"/>
              <a:cs typeface="微軟正黑體"/>
            </a:endParaRPr>
          </a:p>
          <a:p xmlns:a="http://schemas.openxmlformats.org/drawingml/2006/main">
            <a:pPr marL="285750" indent="-285750">
              <a:buFont typeface="Arial"/>
              <a:buChar char="•"/>
            </a:pPr>
            <a:r>
              <a:rPr sz="1800">
                <a:latin typeface="微軟正黑體"/>
                <a:ea typeface="微軟正黑體"/>
                <a:cs typeface="微軟正黑體"/>
              </a:rPr>
              <a:t>Google</a:t>
            </a:r>
            <a:r>
              <a:rPr sz="1800">
                <a:latin typeface="微軟正黑體"/>
                <a:ea typeface="微軟正黑體"/>
                <a:cs typeface="微軟正黑體"/>
              </a:rPr>
              <a:t>、</a:t>
            </a:r>
            <a:r>
              <a:rPr sz="1800">
                <a:latin typeface="微軟正黑體"/>
                <a:ea typeface="微軟正黑體"/>
                <a:cs typeface="微軟正黑體"/>
              </a:rPr>
              <a:t>Meta</a:t>
            </a:r>
            <a:r>
              <a:rPr sz="1800">
                <a:latin typeface="微軟正黑體"/>
                <a:ea typeface="微軟正黑體"/>
                <a:cs typeface="微軟正黑體"/>
              </a:rPr>
              <a:t>自</a:t>
            </a:r>
            <a:r>
              <a:rPr sz="1800">
                <a:latin typeface="微軟正黑體"/>
                <a:ea typeface="微軟正黑體"/>
                <a:cs typeface="微軟正黑體"/>
              </a:rPr>
              <a:t>研</a:t>
            </a:r>
            <a:r>
              <a:rPr sz="1800">
                <a:latin typeface="微軟正黑體"/>
                <a:ea typeface="微軟正黑體"/>
                <a:cs typeface="微軟正黑體"/>
              </a:rPr>
              <a:t>方</a:t>
            </a:r>
            <a:r>
              <a:rPr sz="1800">
                <a:latin typeface="微軟正黑體"/>
                <a:ea typeface="微軟正黑體"/>
                <a:cs typeface="微軟正黑體"/>
              </a:rPr>
              <a:t>案</a:t>
            </a:r>
            <a:r>
              <a:rPr sz="1800">
                <a:latin typeface="微軟正黑體"/>
                <a:ea typeface="微軟正黑體"/>
                <a:cs typeface="微軟正黑體"/>
              </a:rPr>
              <a:t>預</a:t>
            </a:r>
            <a:r>
              <a:rPr sz="1800">
                <a:latin typeface="微軟正黑體"/>
                <a:ea typeface="微軟正黑體"/>
                <a:cs typeface="微軟正黑體"/>
              </a:rPr>
              <a:t>期</a:t>
            </a:r>
            <a:r>
              <a:rPr sz="1800">
                <a:latin typeface="微軟正黑體"/>
                <a:ea typeface="微軟正黑體"/>
                <a:cs typeface="微軟正黑體"/>
              </a:rPr>
              <a:t>尋</a:t>
            </a:r>
            <a:r>
              <a:rPr sz="1800">
                <a:latin typeface="微軟正黑體"/>
                <a:ea typeface="微軟正黑體"/>
                <a:cs typeface="微軟正黑體"/>
              </a:rPr>
              <a:t>求</a:t>
            </a:r>
            <a:r>
              <a:rPr sz="1800">
                <a:latin typeface="微軟正黑體"/>
                <a:ea typeface="微軟正黑體"/>
                <a:cs typeface="微軟正黑體"/>
              </a:rPr>
              <a:t>Intel</a:t>
            </a:r>
            <a:r>
              <a:rPr sz="1800">
                <a:latin typeface="微軟正黑體"/>
                <a:ea typeface="微軟正黑體"/>
                <a:cs typeface="微軟正黑體"/>
              </a:rPr>
              <a:t>、</a:t>
            </a:r>
            <a:r>
              <a:rPr sz="1800">
                <a:latin typeface="微軟正黑體"/>
                <a:ea typeface="微軟正黑體"/>
                <a:cs typeface="微軟正黑體"/>
              </a:rPr>
              <a:t>聯</a:t>
            </a:r>
            <a:r>
              <a:rPr sz="1800">
                <a:latin typeface="微軟正黑體"/>
                <a:ea typeface="微軟正黑體"/>
                <a:cs typeface="微軟正黑體"/>
              </a:rPr>
              <a:t>電</a:t>
            </a:r>
            <a:r>
              <a:rPr sz="1800">
                <a:latin typeface="微軟正黑體"/>
                <a:ea typeface="微軟正黑體"/>
                <a:cs typeface="微軟正黑體"/>
              </a:rPr>
              <a:t>等</a:t>
            </a:r>
            <a:r>
              <a:rPr sz="1800">
                <a:latin typeface="微軟正黑體"/>
                <a:ea typeface="微軟正黑體"/>
                <a:cs typeface="微軟正黑體"/>
              </a:rPr>
              <a:t>產</a:t>
            </a:r>
            <a:r>
              <a:rPr sz="1800">
                <a:latin typeface="微軟正黑體"/>
                <a:ea typeface="微軟正黑體"/>
                <a:cs typeface="微軟正黑體"/>
              </a:rPr>
              <a:t>能</a:t>
            </a:r>
            <a:r>
              <a:rPr sz="1800">
                <a:latin typeface="微軟正黑體"/>
                <a:ea typeface="微軟正黑體"/>
                <a:cs typeface="微軟正黑體"/>
              </a:rPr>
              <a:t>支</a:t>
            </a:r>
            <a:r>
              <a:rPr sz="1800">
                <a:latin typeface="微軟正黑體"/>
                <a:ea typeface="微軟正黑體"/>
                <a:cs typeface="微軟正黑體"/>
              </a:rPr>
              <a:t>援</a:t>
            </a:r>
            <a:r>
              <a:rPr sz="1800">
                <a:latin typeface="微軟正黑體"/>
                <a:ea typeface="微軟正黑體"/>
                <a:cs typeface="微軟正黑體"/>
              </a:rPr>
              <a:t>。</a:t>
            </a:r>
            <a:r>
              <a:rPr sz="1800">
                <a:latin typeface="微軟正黑體"/>
                <a:ea typeface="微軟正黑體"/>
                <a:cs typeface="微軟正黑體"/>
              </a:rPr>
              <a:t>外</a:t>
            </a:r>
            <a:r>
              <a:rPr sz="1800">
                <a:latin typeface="微軟正黑體"/>
                <a:ea typeface="微軟正黑體"/>
                <a:cs typeface="微軟正黑體"/>
              </a:rPr>
              <a:t>溢</a:t>
            </a:r>
            <a:r>
              <a:rPr sz="1800">
                <a:latin typeface="微軟正黑體"/>
                <a:ea typeface="微軟正黑體"/>
                <a:cs typeface="微軟正黑體"/>
              </a:rPr>
              <a:t>題</a:t>
            </a:r>
            <a:r>
              <a:rPr sz="1800">
                <a:latin typeface="微軟正黑體"/>
                <a:ea typeface="微軟正黑體"/>
                <a:cs typeface="微軟正黑體"/>
              </a:rPr>
              <a:t>材</a:t>
            </a:r>
            <a:r>
              <a:rPr sz="1800">
                <a:latin typeface="微軟正黑體"/>
                <a:ea typeface="微軟正黑體"/>
                <a:cs typeface="微軟正黑體"/>
              </a:rPr>
              <a:t>須</a:t>
            </a:r>
            <a:r>
              <a:rPr sz="1800">
                <a:latin typeface="微軟正黑體"/>
                <a:ea typeface="微軟正黑體"/>
                <a:cs typeface="微軟正黑體"/>
              </a:rPr>
              <a:t>轉</a:t>
            </a:r>
            <a:r>
              <a:rPr sz="1800">
                <a:latin typeface="微軟正黑體"/>
                <a:ea typeface="微軟正黑體"/>
                <a:cs typeface="微軟正黑體"/>
              </a:rPr>
              <a:t>為</a:t>
            </a:r>
            <a:r>
              <a:rPr sz="1800">
                <a:latin typeface="微軟正黑體"/>
                <a:ea typeface="微軟正黑體"/>
                <a:cs typeface="微軟正黑體"/>
              </a:rPr>
              <a:t>接</a:t>
            </a:r>
            <a:r>
              <a:rPr sz="1800">
                <a:latin typeface="微軟正黑體"/>
                <a:ea typeface="微軟正黑體"/>
                <a:cs typeface="微軟正黑體"/>
              </a:rPr>
              <a:t>單</a:t>
            </a:r>
            <a:r>
              <a:rPr sz="1800">
                <a:latin typeface="微軟正黑體"/>
                <a:ea typeface="微軟正黑體"/>
                <a:cs typeface="微軟正黑體"/>
              </a:rPr>
              <a:t>與</a:t>
            </a:r>
            <a:r>
              <a:rPr sz="1800">
                <a:latin typeface="微軟正黑體"/>
                <a:ea typeface="微軟正黑體"/>
                <a:cs typeface="微軟正黑體"/>
              </a:rPr>
              <a:t>業</a:t>
            </a:r>
            <a:r>
              <a:rPr sz="1800">
                <a:latin typeface="微軟正黑體"/>
                <a:ea typeface="微軟正黑體"/>
                <a:cs typeface="微軟正黑體"/>
              </a:rPr>
              <a:t>績</a:t>
            </a:r>
            <a:r>
              <a:rPr sz="1800">
                <a:latin typeface="微軟正黑體"/>
                <a:ea typeface="微軟正黑體"/>
                <a:cs typeface="微軟正黑體"/>
              </a:rPr>
              <a:t>，</a:t>
            </a:r>
            <a:r>
              <a:rPr sz="1800">
                <a:latin typeface="微軟正黑體"/>
                <a:ea typeface="微軟正黑體"/>
                <a:cs typeface="微軟正黑體"/>
              </a:rPr>
              <a:t>原</a:t>
            </a:r>
            <a:r>
              <a:rPr sz="1800">
                <a:latin typeface="微軟正黑體"/>
                <a:ea typeface="微軟正黑體"/>
                <a:cs typeface="微軟正黑體"/>
              </a:rPr>
              <a:t>報</a:t>
            </a:r>
            <a:r>
              <a:rPr sz="1800">
                <a:latin typeface="微軟正黑體"/>
                <a:ea typeface="微軟正黑體"/>
                <a:cs typeface="微軟正黑體"/>
              </a:rPr>
              <a:t>告</a:t>
            </a:r>
            <a:r>
              <a:rPr sz="1800">
                <a:latin typeface="微軟正黑體"/>
                <a:ea typeface="微軟正黑體"/>
                <a:cs typeface="微軟正黑體"/>
              </a:rPr>
              <a:t>聚</a:t>
            </a:r>
            <a:r>
              <a:rPr sz="1800">
                <a:latin typeface="微軟正黑體"/>
                <a:ea typeface="微軟正黑體"/>
                <a:cs typeface="微軟正黑體"/>
              </a:rPr>
              <a:t>焦</a:t>
            </a:r>
            <a:r>
              <a:rPr sz="1800">
                <a:latin typeface="微軟正黑體"/>
                <a:ea typeface="微軟正黑體"/>
                <a:cs typeface="微軟正黑體"/>
              </a:rPr>
              <a:t>聯</a:t>
            </a:r>
            <a:r>
              <a:rPr sz="1800">
                <a:latin typeface="微軟正黑體"/>
                <a:ea typeface="微軟正黑體"/>
                <a:cs typeface="微軟正黑體"/>
              </a:rPr>
              <a:t>發</a:t>
            </a:r>
            <a:r>
              <a:rPr sz="1800">
                <a:latin typeface="微軟正黑體"/>
                <a:ea typeface="微軟正黑體"/>
                <a:cs typeface="微軟正黑體"/>
              </a:rPr>
              <a:t>科</a:t>
            </a:r>
            <a:r>
              <a:rPr sz="1800">
                <a:latin typeface="微軟正黑體"/>
                <a:ea typeface="微軟正黑體"/>
                <a:cs typeface="微軟正黑體"/>
              </a:rPr>
              <a:t>、</a:t>
            </a:r>
            <a:r>
              <a:rPr sz="1800">
                <a:latin typeface="微軟正黑體"/>
                <a:ea typeface="微軟正黑體"/>
                <a:cs typeface="微軟正黑體"/>
              </a:rPr>
              <a:t>志</a:t>
            </a:r>
            <a:r>
              <a:rPr sz="1800">
                <a:latin typeface="微軟正黑體"/>
                <a:ea typeface="微軟正黑體"/>
                <a:cs typeface="微軟正黑體"/>
              </a:rPr>
              <a:t>聖</a:t>
            </a:r>
            <a:r>
              <a:rPr sz="1800">
                <a:latin typeface="微軟正黑體"/>
                <a:ea typeface="微軟正黑體"/>
                <a:cs typeface="微軟正黑體"/>
              </a:rPr>
              <a:t>、</a:t>
            </a:r>
            <a:r>
              <a:rPr sz="1800">
                <a:latin typeface="微軟正黑體"/>
                <a:ea typeface="微軟正黑體"/>
                <a:cs typeface="微軟正黑體"/>
              </a:rPr>
              <a:t>致</a:t>
            </a:r>
            <a:r>
              <a:rPr sz="1800">
                <a:latin typeface="微軟正黑體"/>
                <a:ea typeface="微軟正黑體"/>
                <a:cs typeface="微軟正黑體"/>
              </a:rPr>
              <a:t>茂</a:t>
            </a:r>
            <a:r>
              <a:rPr sz="1800">
                <a:latin typeface="微軟正黑體"/>
                <a:ea typeface="微軟正黑體"/>
                <a:cs typeface="微軟正黑體"/>
              </a:rPr>
              <a:t>與</a:t>
            </a:r>
            <a:r>
              <a:rPr sz="1800">
                <a:latin typeface="微軟正黑體"/>
                <a:ea typeface="微軟正黑體"/>
                <a:cs typeface="微軟正黑體"/>
              </a:rPr>
              <a:t>萬</a:t>
            </a:r>
            <a:r>
              <a:rPr sz="1800">
                <a:latin typeface="微軟正黑體"/>
                <a:ea typeface="微軟正黑體"/>
                <a:cs typeface="微軟正黑體"/>
              </a:rPr>
              <a:t>潤</a:t>
            </a:r>
            <a:r>
              <a:rPr sz="1800">
                <a:latin typeface="微軟正黑體"/>
                <a:ea typeface="微軟正黑體"/>
                <a:cs typeface="微軟正黑體"/>
              </a:rPr>
              <a:t>。</a:t>
            </a:r>
            <a:endParaRPr sz="1800">
              <a:latin typeface="微軟正黑體"/>
              <a:ea typeface="微軟正黑體"/>
              <a:cs typeface="微軟正黑體"/>
            </a:endParaRPr>
          </a:p>
        </p:txBody>
      </p:sp>
      <p:sp>
        <p:nvSpPr>
          <p:cNvPr id="12" name="矩形 11">
            <a:extLst xmlns:a="http://schemas.openxmlformats.org/drawingml/2006/main">
              <a:ext uri="{FF2B5EF4-FFF2-40B4-BE49-F238E27FC236}">
                <a16:creationId xmlns:a16="http://schemas.microsoft.com/office/drawing/2014/main" id="{D458EA3A-EC57-A4D3-E5FC-606D51CB141D}"/>
              </a:ext>
            </a:extLst>
          </p:cNvPr>
          <p:cNvSpPr>
            <a:spLocks xmlns:a="http://schemas.openxmlformats.org/drawingml/2006/main" noGrp="1"/>
          </p:cNvSpPr>
          <p:nvPr/>
        </p:nvSpPr>
        <p:spPr>
          <a:xfrm xmlns:a="http://schemas.openxmlformats.org/drawingml/2006/main">
            <a:off x="8262257" y="6542809"/>
            <a:ext cx="3137741" cy="307777"/>
          </a:xfrm>
          <a:prstGeom xmlns:a="http://schemas.openxmlformats.org/drawingml/2006/main" prst="rect">
            <a:avLst/>
          </a:prstGeom>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buNone/>
            </a:pPr>
            <a:r>
              <a:rPr sz="1400">
                <a:latin typeface="微軟正黑體"/>
                <a:ea typeface="微軟正黑體"/>
                <a:cs typeface="微軟正黑體"/>
              </a:rPr>
              <a:t>資料來源：富邦投顧(2026/9/30)</a:t>
            </a:r>
            <a:endParaRPr sz="1400"/>
          </a:p>
        </p:txBody>
      </p:sp>
      <p:sp>
        <p:nvSpPr>
          <p:cNvPr id="2" name="文字方塊 1">
            <a:extLst xmlns:a="http://schemas.openxmlformats.org/drawingml/2006/main">
              <a:ext uri="{FF2B5EF4-FFF2-40B4-BE49-F238E27FC236}">
                <a16:creationId xmlns:a16="http://schemas.microsoft.com/office/drawing/2014/main" id="{86251B1F-8ACA-0C62-E227-25E855E1FB02}"/>
              </a:ext>
            </a:extLst>
          </p:cNvPr>
          <p:cNvSpPr>
            <a:spLocks xmlns:a="http://schemas.openxmlformats.org/drawingml/2006/main" noGrp="1"/>
          </p:cNvSpPr>
          <p:nvPr/>
        </p:nvSpPr>
        <p:spPr>
          <a:xfrm xmlns:a="http://schemas.openxmlformats.org/drawingml/2006/main">
            <a:off x="2431885" y="2262651"/>
            <a:ext cx="1338828"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b="1">
                <a:latin typeface="微軟正黑體"/>
                <a:ea typeface="微軟正黑體"/>
                <a:cs typeface="微軟正黑體"/>
              </a:rPr>
              <a:t>產能缺口</a:t>
            </a:r>
            <a:endParaRPr/>
          </a:p>
        </p:txBody>
      </p:sp>
      <p:sp>
        <p:nvSpPr>
          <p:cNvPr id="8" name="文字方塊 7">
            <a:extLst xmlns:a="http://schemas.openxmlformats.org/drawingml/2006/main">
              <a:ext uri="{FF2B5EF4-FFF2-40B4-BE49-F238E27FC236}">
                <a16:creationId xmlns:a16="http://schemas.microsoft.com/office/drawing/2014/main" id="{D9F034B6-A874-95BD-5D6A-382DD9C5D182}"/>
              </a:ext>
            </a:extLst>
          </p:cNvPr>
          <p:cNvSpPr>
            <a:spLocks xmlns:a="http://schemas.openxmlformats.org/drawingml/2006/main" noGrp="1"/>
          </p:cNvSpPr>
          <p:nvPr/>
        </p:nvSpPr>
        <p:spPr>
          <a:xfrm xmlns:a="http://schemas.openxmlformats.org/drawingml/2006/main">
            <a:off x="7787751" y="2239517"/>
            <a:ext cx="1800493"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b="1">
                <a:latin typeface="微軟正黑體"/>
                <a:ea typeface="微軟正黑體"/>
                <a:cs typeface="微軟正黑體"/>
              </a:rPr>
              <a:t>外溢受益環節</a:t>
            </a:r>
            <a:endParaRPr/>
          </a:p>
        </p:txBody>
      </p:sp>
      <p:sp>
        <p:nvSpPr>
          <p:cNvPr id="15363" name="">
            <a:extLst xmlns:a="http://schemas.openxmlformats.org/drawingml/2006/main">
              <a:ext uri="{FF2B5EF4-FFF2-40B4-BE49-F238E27FC236}">
                <a16:creationId xmlns:a16="http://schemas.microsoft.com/office/drawing/2014/main" id="{A302585E-2A4C-43F3-B949-437AA58ABB2D}"/>
              </a:ext>
            </a:extLst>
          </p:cNvPr>
          <p:cNvSpPr>
            <a:spLocks xmlns:a="http://schemas.openxmlformats.org/drawingml/2006/main" noGrp="1"/>
          </p:cNvSpPr>
          <p:nvPr/>
        </p:nvSpPr>
        <p:spPr>
          <a:xfrm xmlns:a="http://schemas.openxmlformats.org/drawingml/2006/main">
            <a:off x="379232" y="2608849"/>
            <a:ext cx="5400000" cy="3708000"/>
          </a:xfrm>
          <a:prstGeom xmlns:a="http://schemas.openxmlformats.org/drawingml/2006/main" prst="roundRect">
            <a:avLst>
              <a:gd name="adj" fmla="val 3596"/>
            </a:avLst>
          </a:prstGeom>
          <a:solidFill xmlns:a="http://schemas.openxmlformats.org/drawingml/2006/main">
            <a:srgbClr val="FFFFFF"/>
          </a:solidFill>
          <a:ln xmlns:a="http://schemas.openxmlformats.org/drawingml/2006/main" w="6191">
            <a:solidFill>
              <a:srgbClr val="CDE6EB"/>
            </a:solidFill>
          </a:ln>
        </p:spPr>
      </p:sp>
      <p:graphicFrame>
        <p:nvGraphicFramePr>
          <p:cNvPr id="15375" name=""/>
          <p:cNvGraphicFramePr/>
          <p:nvPr/>
        </p:nvGraphicFramePr>
        <p:xfrm>
          <a:off xmlns:a="http://schemas.openxmlformats.org/drawingml/2006/main" x="474482" y="2704099"/>
          <a:ext xmlns:a="http://schemas.openxmlformats.org/drawingml/2006/main" cx="5209500" cy="3165075"/>
        </p:xfrm>
        <a:graphic xmlns:a="http://schemas.openxmlformats.org/drawingml/2006/main">
          <a:graphicData uri="http://schemas.openxmlformats.org/drawingml/2006/table">
            <a:tbl>
              <a:tblPr/>
              <a:tblGrid>
                <a:gridCol w="1406565"/>
                <a:gridCol w="3802935"/>
              </a:tblGrid>
              <a:tr h="409575">
                <a:tc>
                  <a:txBody>
                    <a:bodyPr/>
                    <a:lstStyle/>
                    <a:p>
                      <a:r>
                        <a:rPr sz="1500" b="1">
                          <a:solidFill>
                            <a:srgbClr val="FFFFFF"/>
                          </a:solidFill>
                          <a:latin typeface="微軟正黑體"/>
                          <a:ea typeface="微軟正黑體"/>
                          <a:cs typeface="微軟正黑體"/>
                        </a:rPr>
                        <a:t>環節</a:t>
                      </a:r>
                    </a:p>
                  </a:txBody>
                  <a:tcPr marL="85725" marR="76200" marT="85725" marB="47625" anchor="ctr">
                    <a:solidFill>
                      <a:srgbClr val="00829B"/>
                    </a:solidFill>
                  </a:tcPr>
                </a:tc>
                <a:tc>
                  <a:txBody>
                    <a:bodyPr/>
                    <a:lstStyle/>
                    <a:p>
                      <a:r>
                        <a:rPr sz="1500" b="1">
                          <a:solidFill>
                            <a:srgbClr val="FFFFFF"/>
                          </a:solidFill>
                          <a:latin typeface="微軟正黑體"/>
                          <a:ea typeface="微軟正黑體"/>
                          <a:cs typeface="微軟正黑體"/>
                        </a:rPr>
                        <a:t>原報告展望</a:t>
                      </a:r>
                    </a:p>
                  </a:txBody>
                  <a:tcPr marL="85725" marR="76200" marT="85725" marB="47625" anchor="ctr">
                    <a:solidFill>
                      <a:srgbClr val="00829B"/>
                    </a:solidFill>
                  </a:tcPr>
                </a:tc>
              </a:tr>
              <a:tr h="918500">
                <a:tc>
                  <a:txBody>
                    <a:bodyPr/>
                    <a:lstStyle/>
                    <a:p>
                      <a:r>
                        <a:rPr sz="1500" b="1">
                          <a:solidFill>
                            <a:srgbClr val="076F89"/>
                          </a:solidFill>
                          <a:latin typeface="微軟正黑體"/>
                          <a:ea typeface="微軟正黑體"/>
                          <a:cs typeface="微軟正黑體"/>
                        </a:rPr>
                        <a:t>N2／N3</a:t>
                      </a:r>
                    </a:p>
                  </a:txBody>
                  <a:tcPr marL="85725" marR="76200" marT="85725" marB="47625" anchor="ctr">
                    <a:solidFill>
                      <a:srgbClr val="F4F9FA"/>
                    </a:solidFill>
                  </a:tcPr>
                </a:tc>
                <a:tc>
                  <a:txBody>
                    <a:bodyPr/>
                    <a:lstStyle/>
                    <a:p>
                      <a:r>
                        <a:rPr sz="1500">
                          <a:solidFill>
                            <a:srgbClr val="172B34"/>
                          </a:solidFill>
                          <a:latin typeface="微軟正黑體"/>
                          <a:ea typeface="微軟正黑體"/>
                          <a:cs typeface="微軟正黑體"/>
                        </a:rPr>
                        <a:t>2026–27產能吃緊；2027先進製程供需缺口估15–20%</a:t>
                      </a:r>
                    </a:p>
                  </a:txBody>
                  <a:tcPr marL="85725" marR="76200" marT="85725" marB="47625" anchor="ctr">
                    <a:solidFill>
                      <a:srgbClr val="F4F9FA"/>
                    </a:solidFill>
                  </a:tcPr>
                </a:tc>
              </a:tr>
              <a:tr h="918500">
                <a:tc>
                  <a:txBody>
                    <a:bodyPr/>
                    <a:lstStyle/>
                    <a:p>
                      <a:r>
                        <a:rPr sz="1500" b="1">
                          <a:solidFill>
                            <a:srgbClr val="076F89"/>
                          </a:solidFill>
                          <a:latin typeface="微軟正黑體"/>
                          <a:ea typeface="微軟正黑體"/>
                          <a:cs typeface="微軟正黑體"/>
                        </a:rPr>
                        <a:t>CoWoS</a:t>
                      </a:r>
                    </a:p>
                  </a:txBody>
                  <a:tcPr marL="85725" marR="76200" marT="85725" marB="47625" anchor="ctr">
                    <a:solidFill>
                      <a:srgbClr val="FFFFFF"/>
                    </a:solidFill>
                  </a:tcPr>
                </a:tc>
                <a:tc>
                  <a:txBody>
                    <a:bodyPr/>
                    <a:lstStyle/>
                    <a:p>
                      <a:r>
                        <a:rPr sz="1500">
                          <a:solidFill>
                            <a:srgbClr val="172B34"/>
                          </a:solidFill>
                          <a:latin typeface="微軟正黑體"/>
                          <a:ea typeface="微軟正黑體"/>
                          <a:cs typeface="微軟正黑體"/>
                        </a:rPr>
                        <a:t>持續擴產，仍難滿足2028年前需求</a:t>
                      </a:r>
                    </a:p>
                  </a:txBody>
                  <a:tcPr marL="85725" marR="76200" marT="85725" marB="47625" anchor="ctr">
                    <a:solidFill>
                      <a:srgbClr val="FFFFFF"/>
                    </a:solidFill>
                  </a:tcPr>
                </a:tc>
              </a:tr>
              <a:tr h="918500">
                <a:tc>
                  <a:txBody>
                    <a:bodyPr/>
                    <a:lstStyle/>
                    <a:p>
                      <a:r>
                        <a:rPr sz="1500" b="1">
                          <a:solidFill>
                            <a:srgbClr val="076F89"/>
                          </a:solidFill>
                          <a:latin typeface="微軟正黑體"/>
                          <a:ea typeface="微軟正黑體"/>
                          <a:cs typeface="微軟正黑體"/>
                        </a:rPr>
                        <a:t>資本支出</a:t>
                      </a:r>
                    </a:p>
                  </a:txBody>
                  <a:tcPr marL="85725" marR="76200" marT="85725" marB="47625" anchor="ctr">
                    <a:solidFill>
                      <a:srgbClr val="F4F9FA"/>
                    </a:solidFill>
                  </a:tcPr>
                </a:tc>
                <a:tc>
                  <a:txBody>
                    <a:bodyPr/>
                    <a:lstStyle/>
                    <a:p>
                      <a:r>
                        <a:rPr sz="1500">
                          <a:solidFill>
                            <a:srgbClr val="172B34"/>
                          </a:solidFill>
                          <a:latin typeface="微軟正黑體"/>
                          <a:ea typeface="微軟正黑體"/>
                          <a:cs typeface="微軟正黑體"/>
                        </a:rPr>
                        <a:t>2027年富邦預估750–800億美元，往區間上緣靠攏</a:t>
                      </a:r>
                    </a:p>
                  </a:txBody>
                  <a:tcPr marL="85725" marR="76200" marT="85725" marB="47625" anchor="ctr">
                    <a:solidFill>
                      <a:srgbClr val="F4F9FA"/>
                    </a:solidFill>
                  </a:tcPr>
                </a:tc>
              </a:tr>
            </a:tbl>
          </a:graphicData>
        </a:graphic>
      </p:graphicFrame>
      <p:sp>
        <p:nvSpPr>
          <p:cNvPr id="15365" name="">
            <a:extLst xmlns:a="http://schemas.openxmlformats.org/drawingml/2006/main">
              <a:ext uri="{FF2B5EF4-FFF2-40B4-BE49-F238E27FC236}">
                <a16:creationId xmlns:a16="http://schemas.microsoft.com/office/drawing/2014/main" id="{D5AFF3ED-93B6-4156-AE9F-FEA1BD5A5A45}"/>
              </a:ext>
            </a:extLst>
          </p:cNvPr>
          <p:cNvSpPr>
            <a:spLocks xmlns:a="http://schemas.openxmlformats.org/drawingml/2006/main" noGrp="1"/>
          </p:cNvSpPr>
          <p:nvPr/>
        </p:nvSpPr>
        <p:spPr>
          <a:xfrm xmlns:a="http://schemas.openxmlformats.org/drawingml/2006/main">
            <a:off x="493532" y="5945374"/>
            <a:ext cx="5171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4E656E"/>
                </a:solidFill>
                <a:latin typeface="微軟正黑體"/>
                <a:ea typeface="微軟正黑體"/>
                <a:cs typeface="微軟正黑體"/>
              </a:defRPr>
            </a:pPr>
            <a:r>
              <a:rPr sz="1050" b="0">
                <a:solidFill>
                  <a:srgbClr val="4E656E"/>
                </a:solidFill>
                <a:latin typeface="微軟正黑體"/>
                <a:ea typeface="微軟正黑體"/>
                <a:cs typeface="微軟正黑體"/>
              </a:rPr>
              <a:t>先進製程供需缺口估15–20%；CoWoS另見上表。</a:t>
            </a:r>
          </a:p>
        </p:txBody>
      </p:sp>
      <p:sp>
        <p:nvSpPr>
          <p:cNvPr id="15366" name="">
            <a:extLst xmlns:a="http://schemas.openxmlformats.org/drawingml/2006/main">
              <a:ext uri="{FF2B5EF4-FFF2-40B4-BE49-F238E27FC236}">
                <a16:creationId xmlns:a16="http://schemas.microsoft.com/office/drawing/2014/main" id="{3D3FC5CE-E355-4D52-A3A7-A9E00619659B}"/>
              </a:ext>
            </a:extLst>
          </p:cNvPr>
          <p:cNvSpPr>
            <a:spLocks xmlns:a="http://schemas.openxmlformats.org/drawingml/2006/main" noGrp="1"/>
          </p:cNvSpPr>
          <p:nvPr/>
        </p:nvSpPr>
        <p:spPr>
          <a:xfrm xmlns:a="http://schemas.openxmlformats.org/drawingml/2006/main">
            <a:off x="6116753" y="2631983"/>
            <a:ext cx="5400000" cy="3708000"/>
          </a:xfrm>
          <a:prstGeom xmlns:a="http://schemas.openxmlformats.org/drawingml/2006/main" prst="roundRect">
            <a:avLst>
              <a:gd name="adj" fmla="val 3596"/>
            </a:avLst>
          </a:prstGeom>
          <a:solidFill xmlns:a="http://schemas.openxmlformats.org/drawingml/2006/main">
            <a:srgbClr val="FFFFFF"/>
          </a:solidFill>
          <a:ln xmlns:a="http://schemas.openxmlformats.org/drawingml/2006/main" w="6191">
            <a:solidFill>
              <a:srgbClr val="CDE6EB"/>
            </a:solidFill>
          </a:ln>
        </p:spPr>
      </p:sp>
      <p:graphicFrame>
        <p:nvGraphicFramePr>
          <p:cNvPr id="15378" name=""/>
          <p:cNvGraphicFramePr/>
          <p:nvPr/>
        </p:nvGraphicFramePr>
        <p:xfrm>
          <a:off xmlns:a="http://schemas.openxmlformats.org/drawingml/2006/main" x="6212003" y="2727233"/>
          <a:ext xmlns:a="http://schemas.openxmlformats.org/drawingml/2006/main" cx="5209500" cy="3165075"/>
        </p:xfrm>
        <a:graphic xmlns:a="http://schemas.openxmlformats.org/drawingml/2006/main">
          <a:graphicData uri="http://schemas.openxmlformats.org/drawingml/2006/table">
            <a:tbl>
              <a:tblPr/>
              <a:tblGrid>
                <a:gridCol w="1406565"/>
                <a:gridCol w="3802935"/>
              </a:tblGrid>
              <a:tr h="409575">
                <a:tc>
                  <a:txBody>
                    <a:bodyPr/>
                    <a:lstStyle/>
                    <a:p>
                      <a:r>
                        <a:rPr sz="1500" b="1">
                          <a:solidFill>
                            <a:srgbClr val="FFFFFF"/>
                          </a:solidFill>
                          <a:latin typeface="微軟正黑體"/>
                          <a:ea typeface="微軟正黑體"/>
                          <a:cs typeface="微軟正黑體"/>
                        </a:rPr>
                        <a:t>觀察方向</a:t>
                      </a:r>
                    </a:p>
                  </a:txBody>
                  <a:tcPr marL="85725" marR="76200" marT="85725" marB="47625" anchor="ctr">
                    <a:solidFill>
                      <a:srgbClr val="00829B"/>
                    </a:solidFill>
                  </a:tcPr>
                </a:tc>
                <a:tc>
                  <a:txBody>
                    <a:bodyPr/>
                    <a:lstStyle/>
                    <a:p>
                      <a:r>
                        <a:rPr sz="1500" b="1">
                          <a:solidFill>
                            <a:srgbClr val="FFFFFF"/>
                          </a:solidFill>
                          <a:latin typeface="微軟正黑體"/>
                          <a:ea typeface="微軟正黑體"/>
                          <a:cs typeface="微軟正黑體"/>
                        </a:rPr>
                        <a:t>投資重點</a:t>
                      </a:r>
                    </a:p>
                  </a:txBody>
                  <a:tcPr marL="85725" marR="76200" marT="85725" marB="47625" anchor="ctr">
                    <a:solidFill>
                      <a:srgbClr val="00829B"/>
                    </a:solidFill>
                  </a:tcPr>
                </a:tc>
              </a:tr>
              <a:tr h="918500">
                <a:tc>
                  <a:txBody>
                    <a:bodyPr/>
                    <a:lstStyle/>
                    <a:p>
                      <a:r>
                        <a:rPr sz="1500" b="1">
                          <a:solidFill>
                            <a:srgbClr val="076F89"/>
                          </a:solidFill>
                          <a:latin typeface="微軟正黑體"/>
                          <a:ea typeface="微軟正黑體"/>
                          <a:cs typeface="微軟正黑體"/>
                        </a:rPr>
                        <a:t>非台積電產能</a:t>
                      </a:r>
                    </a:p>
                  </a:txBody>
                  <a:tcPr marL="85725" marR="76200" marT="85725" marB="47625" anchor="ctr">
                    <a:solidFill>
                      <a:srgbClr val="F4F9FA"/>
                    </a:solidFill>
                  </a:tcPr>
                </a:tc>
                <a:tc>
                  <a:txBody>
                    <a:bodyPr/>
                    <a:lstStyle/>
                    <a:p>
                      <a:r>
                        <a:rPr sz="1500">
                          <a:solidFill>
                            <a:srgbClr val="172B34"/>
                          </a:solidFill>
                          <a:latin typeface="微軟正黑體"/>
                          <a:ea typeface="微軟正黑體"/>
                          <a:cs typeface="微軟正黑體"/>
                        </a:rPr>
                        <a:t>Google、Meta自研方案，預期尋求Intel、聯電支援</a:t>
                      </a:r>
                    </a:p>
                  </a:txBody>
                  <a:tcPr marL="85725" marR="76200" marT="85725" marB="47625" anchor="ctr">
                    <a:solidFill>
                      <a:srgbClr val="F4F9FA"/>
                    </a:solidFill>
                  </a:tcPr>
                </a:tc>
              </a:tr>
              <a:tr h="918500">
                <a:tc>
                  <a:txBody>
                    <a:bodyPr/>
                    <a:lstStyle/>
                    <a:p>
                      <a:r>
                        <a:rPr sz="1500" b="1">
                          <a:solidFill>
                            <a:srgbClr val="076F89"/>
                          </a:solidFill>
                          <a:latin typeface="微軟正黑體"/>
                          <a:ea typeface="微軟正黑體"/>
                          <a:cs typeface="微軟正黑體"/>
                        </a:rPr>
                        <a:t>台灣受益環節</a:t>
                      </a:r>
                    </a:p>
                  </a:txBody>
                  <a:tcPr marL="85725" marR="76200" marT="85725" marB="47625" anchor="ctr">
                    <a:solidFill>
                      <a:srgbClr val="FFFFFF"/>
                    </a:solidFill>
                  </a:tcPr>
                </a:tc>
                <a:tc>
                  <a:txBody>
                    <a:bodyPr/>
                    <a:lstStyle/>
                    <a:p>
                      <a:r>
                        <a:rPr sz="1500">
                          <a:solidFill>
                            <a:srgbClr val="172B34"/>
                          </a:solidFill>
                          <a:latin typeface="微軟正黑體"/>
                          <a:ea typeface="微軟正黑體"/>
                          <a:cs typeface="微軟正黑體"/>
                        </a:rPr>
                        <a:t>獨立封測、上游製程設備與材料</a:t>
                      </a:r>
                    </a:p>
                  </a:txBody>
                  <a:tcPr marL="85725" marR="76200" marT="85725" marB="47625" anchor="ctr">
                    <a:solidFill>
                      <a:srgbClr val="FFFFFF"/>
                    </a:solidFill>
                  </a:tcPr>
                </a:tc>
              </a:tr>
              <a:tr h="918500">
                <a:tc>
                  <a:txBody>
                    <a:bodyPr/>
                    <a:lstStyle/>
                    <a:p>
                      <a:r>
                        <a:rPr sz="1500" b="1">
                          <a:solidFill>
                            <a:srgbClr val="076F89"/>
                          </a:solidFill>
                          <a:latin typeface="微軟正黑體"/>
                          <a:ea typeface="微軟正黑體"/>
                          <a:cs typeface="微軟正黑體"/>
                        </a:rPr>
                        <a:t>主題標的</a:t>
                      </a:r>
                    </a:p>
                  </a:txBody>
                  <a:tcPr marL="85725" marR="76200" marT="85725" marB="47625" anchor="ctr">
                    <a:solidFill>
                      <a:srgbClr val="F4F9FA"/>
                    </a:solidFill>
                  </a:tcPr>
                </a:tc>
                <a:tc>
                  <a:txBody>
                    <a:bodyPr/>
                    <a:lstStyle/>
                    <a:p>
                      <a:r>
                        <a:rPr sz="1500">
                          <a:solidFill>
                            <a:srgbClr val="172B34"/>
                          </a:solidFill>
                          <a:latin typeface="微軟正黑體"/>
                          <a:ea typeface="微軟正黑體"/>
                          <a:cs typeface="微軟正黑體"/>
                        </a:rPr>
                        <a:t>聯發科2454、志聖2467</a:t>
                      </a:r>
                    </a:p>
                    <a:p>
                      <a:r>
                        <a:rPr sz="1500">
                          <a:solidFill>
                            <a:srgbClr val="172B34"/>
                          </a:solidFill>
                          <a:latin typeface="微軟正黑體"/>
                          <a:ea typeface="微軟正黑體"/>
                          <a:cs typeface="微軟正黑體"/>
                        </a:rPr>
                        <a:t>致茂2360、萬潤6187</a:t>
                      </a:r>
                    </a:p>
                  </a:txBody>
                  <a:tcPr marL="85725" marR="76200" marT="85725" marB="47625" anchor="ctr">
                    <a:solidFill>
                      <a:srgbClr val="F4F9FA"/>
                    </a:solidFill>
                  </a:tcPr>
                </a:tc>
              </a:tr>
            </a:tbl>
          </a:graphicData>
        </a:graphic>
      </p:graphicFrame>
      <p:sp>
        <p:nvSpPr>
          <p:cNvPr id="15368" name="">
            <a:extLst xmlns:a="http://schemas.openxmlformats.org/drawingml/2006/main">
              <a:ext uri="{FF2B5EF4-FFF2-40B4-BE49-F238E27FC236}">
                <a16:creationId xmlns:a16="http://schemas.microsoft.com/office/drawing/2014/main" id="{F5382B02-ECF4-4FA6-8538-EF238E514F49}"/>
              </a:ext>
            </a:extLst>
          </p:cNvPr>
          <p:cNvSpPr>
            <a:spLocks xmlns:a="http://schemas.openxmlformats.org/drawingml/2006/main" noGrp="1"/>
          </p:cNvSpPr>
          <p:nvPr/>
        </p:nvSpPr>
        <p:spPr>
          <a:xfrm xmlns:a="http://schemas.openxmlformats.org/drawingml/2006/main">
            <a:off x="6231053" y="5968508"/>
            <a:ext cx="5171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4E656E"/>
                </a:solidFill>
                <a:latin typeface="微軟正黑體"/>
                <a:ea typeface="微軟正黑體"/>
                <a:cs typeface="微軟正黑體"/>
              </a:defRPr>
            </a:pPr>
            <a:r>
              <a:rPr sz="1050" b="0">
                <a:solidFill>
                  <a:srgbClr val="4E656E"/>
                </a:solidFill>
                <a:latin typeface="微軟正黑體"/>
                <a:ea typeface="微軟正黑體"/>
                <a:cs typeface="微軟正黑體"/>
              </a:rPr>
              <a:t>驗證條件：外溢接單轉為實質營收及獲利。</a:t>
            </a:r>
          </a:p>
        </p:txBody>
      </p:sp>
    </p:spTree>
    <p:extLst>
      <p:ext uri="{BB962C8B-B14F-4D97-AF65-F5344CB8AC3E}">
        <p14:creationId xmlns:p14="http://schemas.microsoft.com/office/powerpoint/2010/main" val="251261530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5362" name="標題 3">
            <a:extLst xmlns:a="http://schemas.openxmlformats.org/drawingml/2006/main">
              <a:ext uri="{FF2B5EF4-FFF2-40B4-BE49-F238E27FC236}">
                <a16:creationId xmlns:a16="http://schemas.microsoft.com/office/drawing/2014/main" id="{D0052553-414B-0149-5353-CA3A7D03E857}"/>
              </a:ext>
            </a:extLst>
          </p:cNvPr>
          <p:cNvSpPr>
            <a:spLocks xmlns:a="http://schemas.openxmlformats.org/drawingml/2006/main" noGrp="1"/>
          </p:cNvSpPr>
          <p:nvPr>
            <p:ph type="title" idx="0"/>
          </p:nvPr>
        </p:nvSpPr>
        <p:spPr>
          <a:xfrm xmlns:a="http://schemas.openxmlformats.org/drawingml/2006/main">
            <a:off x="935999" y="288000"/>
            <a:ext cx="10463999" cy="430887"/>
          </a:xfrm>
        </p:spPr>
        <p:txBody>
          <a:bodyPr xmlns:a="http://schemas.openxmlformats.org/drawingml/2006/main">
            <a:noAutofit/>
          </a:bodyPr>
          <a:lstStyle xmlns:a="http://schemas.openxmlformats.org/drawingml/2006/main"/>
          <a:p xmlns:a="http://schemas.openxmlformats.org/drawingml/2006/main">
            <a:r>
              <a:rPr sz="2800" b="1">
                <a:latin typeface="微軟正黑體"/>
                <a:ea typeface="微軟正黑體"/>
                <a:cs typeface="微軟正黑體"/>
              </a:rPr>
              <a:t>AI資本支出續強，高速互連擴大商機</a:t>
            </a:r>
          </a:p>
        </p:txBody>
      </p:sp>
      <p:sp>
        <p:nvSpPr>
          <p:cNvPr id="5" name="文字方塊 14">
            <a:extLst xmlns:a="http://schemas.openxmlformats.org/drawingml/2006/main">
              <a:ext uri="{FF2B5EF4-FFF2-40B4-BE49-F238E27FC236}">
                <a16:creationId xmlns:a16="http://schemas.microsoft.com/office/drawing/2014/main" id="{9C99D567-D09F-0FEC-56C5-3BB1DD958482}"/>
              </a:ext>
            </a:extLst>
          </p:cNvPr>
          <p:cNvSpPr>
            <a:spLocks xmlns:a="http://schemas.openxmlformats.org/drawingml/2006/main" noGrp="1"/>
          </p:cNvSpPr>
          <p:nvPr/>
        </p:nvSpPr>
        <p:spPr>
          <a:xfrm xmlns:a="http://schemas.openxmlformats.org/drawingml/2006/main">
            <a:off x="792001" y="900000"/>
            <a:ext cx="10463999" cy="14935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36000" rIns="36000"/>
          <a:lstStyle xmlns:a="http://schemas.openxmlformats.org/drawingml/2006/main">
            <a:lvl1pPr>
              <a:spcBef>
                <a:spcPct val="30000"/>
              </a:spcBef>
              <a:buClr>
                <a:srgbClr val="00829B"/>
              </a:buClr>
              <a:buSzPct val="70000"/>
              <a:buFont typeface="Wingdings"/>
              <a:buChar char="n"/>
              <a:defRPr sz="2600">
                <a:solidFill>
                  <a:schemeClr val="tx1"/>
                </a:solidFill>
                <a:latin typeface="Doradani Lt"/>
                <a:ea typeface="Doradani Lt"/>
                <a:cs typeface="Doradani Lt"/>
              </a:defRPr>
            </a:lvl1pPr>
            <a:lvl2pPr marL="742950" indent="-285750">
              <a:spcBef>
                <a:spcPct val="30000"/>
              </a:spcBef>
              <a:buSzPct val="70000"/>
              <a:buFont typeface="Wingdings"/>
              <a:buChar char="l"/>
              <a:defRPr sz="2200">
                <a:solidFill>
                  <a:schemeClr val="tx1"/>
                </a:solidFill>
                <a:latin typeface="Doradani Lt"/>
                <a:ea typeface="Doradani Lt"/>
                <a:cs typeface="Doradani Lt"/>
              </a:defRPr>
            </a:lvl2pPr>
            <a:lvl3pPr marL="1143000" indent="-228600">
              <a:spcBef>
                <a:spcPct val="30000"/>
              </a:spcBef>
              <a:buClr>
                <a:srgbClr val="00829B"/>
              </a:buClr>
              <a:buSzPct val="70000"/>
              <a:buFont typeface="Wingdings"/>
              <a:buChar char="n"/>
              <a:defRPr>
                <a:solidFill>
                  <a:schemeClr val="tx1"/>
                </a:solidFill>
                <a:latin typeface="Doradani Lt"/>
                <a:ea typeface="Doradani Lt"/>
                <a:cs typeface="Doradani Lt"/>
              </a:defRPr>
            </a:lvl3pPr>
            <a:lvl4pPr marL="1600200" indent="-228600">
              <a:spcBef>
                <a:spcPct val="30000"/>
              </a:spcBef>
              <a:buFont typeface="Wingdings"/>
              <a:buChar char="l"/>
              <a:defRPr>
                <a:solidFill>
                  <a:schemeClr val="tx1"/>
                </a:solidFill>
                <a:latin typeface="Doradani Lt"/>
                <a:ea typeface="Doradani Lt"/>
                <a:cs typeface="Doradani Lt"/>
              </a:defRPr>
            </a:lvl4pPr>
            <a:lvl5pPr marL="2057400" indent="-228600">
              <a:lnSpc>
                <a:spcPct val="120000"/>
              </a:lnSpc>
              <a:buChar char="»"/>
              <a:defRPr sz="2000">
                <a:solidFill>
                  <a:schemeClr val="tx1"/>
                </a:solidFill>
                <a:latin typeface="Arial"/>
                <a:ea typeface="Arial"/>
                <a:cs typeface="Arial"/>
              </a:defRPr>
            </a:lvl5pPr>
            <a:lvl6pPr marL="2514600" indent="-228600">
              <a:lnSpc>
                <a:spcPct val="120000"/>
              </a:lnSpc>
              <a:spcBef>
                <a:spcPct val="0"/>
              </a:spcBef>
              <a:spcAft>
                <a:spcPct val="0"/>
              </a:spcAft>
              <a:buChar char="»"/>
              <a:defRPr sz="2000">
                <a:solidFill>
                  <a:schemeClr val="tx1"/>
                </a:solidFill>
                <a:latin typeface="Arial"/>
                <a:ea typeface="Arial"/>
                <a:cs typeface="Arial"/>
              </a:defRPr>
            </a:lvl6pPr>
            <a:lvl7pPr marL="2971800" indent="-228600">
              <a:lnSpc>
                <a:spcPct val="120000"/>
              </a:lnSpc>
              <a:spcBef>
                <a:spcPct val="0"/>
              </a:spcBef>
              <a:spcAft>
                <a:spcPct val="0"/>
              </a:spcAft>
              <a:buChar char="»"/>
              <a:defRPr sz="2000">
                <a:solidFill>
                  <a:schemeClr val="tx1"/>
                </a:solidFill>
                <a:latin typeface="Arial"/>
                <a:ea typeface="Arial"/>
                <a:cs typeface="Arial"/>
              </a:defRPr>
            </a:lvl7pPr>
            <a:lvl8pPr marL="3429000" indent="-228600">
              <a:lnSpc>
                <a:spcPct val="120000"/>
              </a:lnSpc>
              <a:spcBef>
                <a:spcPct val="0"/>
              </a:spcBef>
              <a:spcAft>
                <a:spcPct val="0"/>
              </a:spcAft>
              <a:buChar char="»"/>
              <a:defRPr sz="2000">
                <a:solidFill>
                  <a:schemeClr val="tx1"/>
                </a:solidFill>
                <a:latin typeface="Arial"/>
                <a:ea typeface="Arial"/>
                <a:cs typeface="Arial"/>
              </a:defRPr>
            </a:lvl8pPr>
            <a:lvl9pPr marL="3886200" indent="-228600">
              <a:lnSpc>
                <a:spcPct val="120000"/>
              </a:lnSpc>
              <a:spcBef>
                <a:spcPct val="0"/>
              </a:spcBef>
              <a:spcAft>
                <a:spcPct val="0"/>
              </a:spcAft>
              <a:buChar char="»"/>
              <a:defRPr sz="2000">
                <a:solidFill>
                  <a:schemeClr val="tx1"/>
                </a:solidFill>
                <a:latin typeface="Arial"/>
                <a:ea typeface="Arial"/>
                <a:cs typeface="Arial"/>
              </a:defRPr>
            </a:lvl9pPr>
          </a:lstStyle>
          <a:p xmlns:a="http://schemas.openxmlformats.org/drawingml/2006/main">
            <a:pPr marL="285750" indent="-285750">
              <a:buFont typeface="Arial"/>
              <a:buChar char="•"/>
            </a:pPr>
            <a:r>
              <a:rPr sz="1800">
                <a:latin typeface="微軟正黑體"/>
                <a:ea typeface="微軟正黑體"/>
                <a:cs typeface="微軟正黑體"/>
              </a:rPr>
              <a:t>四</a:t>
            </a:r>
            <a:r>
              <a:rPr sz="1800">
                <a:latin typeface="微軟正黑體"/>
                <a:ea typeface="微軟正黑體"/>
                <a:cs typeface="微軟正黑體"/>
              </a:rPr>
              <a:t>大</a:t>
            </a:r>
            <a:r>
              <a:rPr sz="1800">
                <a:latin typeface="微軟正黑體"/>
                <a:ea typeface="微軟正黑體"/>
                <a:cs typeface="微軟正黑體"/>
              </a:rPr>
              <a:t>CSP</a:t>
            </a:r>
            <a:r>
              <a:rPr sz="1800">
                <a:latin typeface="微軟正黑體"/>
                <a:ea typeface="微軟正黑體"/>
                <a:cs typeface="微軟正黑體"/>
              </a:rPr>
              <a:t> </a:t>
            </a:r>
            <a:r>
              <a:rPr sz="1800">
                <a:latin typeface="微軟正黑體"/>
                <a:ea typeface="微軟正黑體"/>
                <a:cs typeface="微軟正黑體"/>
              </a:rPr>
              <a:t>2027</a:t>
            </a:r>
            <a:r>
              <a:rPr sz="1800">
                <a:latin typeface="微軟正黑體"/>
                <a:ea typeface="微軟正黑體"/>
                <a:cs typeface="微軟正黑體"/>
              </a:rPr>
              <a:t>年</a:t>
            </a:r>
            <a:r>
              <a:rPr sz="1800">
                <a:latin typeface="微軟正黑體"/>
                <a:ea typeface="微軟正黑體"/>
                <a:cs typeface="微軟正黑體"/>
              </a:rPr>
              <a:t>資</a:t>
            </a:r>
            <a:r>
              <a:rPr sz="1800">
                <a:latin typeface="微軟正黑體"/>
                <a:ea typeface="微軟正黑體"/>
                <a:cs typeface="微軟正黑體"/>
              </a:rPr>
              <a:t>本</a:t>
            </a:r>
            <a:r>
              <a:rPr sz="1800">
                <a:latin typeface="微軟正黑體"/>
                <a:ea typeface="微軟正黑體"/>
                <a:cs typeface="微軟正黑體"/>
              </a:rPr>
              <a:t>支</a:t>
            </a:r>
            <a:r>
              <a:rPr sz="1800">
                <a:latin typeface="微軟正黑體"/>
                <a:ea typeface="微軟正黑體"/>
                <a:cs typeface="微軟正黑體"/>
              </a:rPr>
              <a:t>出</a:t>
            </a:r>
            <a:r>
              <a:rPr sz="1800">
                <a:latin typeface="微軟正黑體"/>
                <a:ea typeface="微軟正黑體"/>
                <a:cs typeface="微軟正黑體"/>
              </a:rPr>
              <a:t>預</a:t>
            </a:r>
            <a:r>
              <a:rPr sz="1800">
                <a:latin typeface="微軟正黑體"/>
                <a:ea typeface="微軟正黑體"/>
                <a:cs typeface="微軟正黑體"/>
              </a:rPr>
              <a:t>估</a:t>
            </a:r>
            <a:r>
              <a:rPr sz="1800">
                <a:latin typeface="微軟正黑體"/>
                <a:ea typeface="微軟正黑體"/>
                <a:cs typeface="微軟正黑體"/>
              </a:rPr>
              <a:t>年</a:t>
            </a:r>
            <a:r>
              <a:rPr sz="1800">
                <a:latin typeface="微軟正黑體"/>
                <a:ea typeface="微軟正黑體"/>
                <a:cs typeface="微軟正黑體"/>
              </a:rPr>
              <a:t>增</a:t>
            </a:r>
            <a:r>
              <a:rPr sz="1800">
                <a:latin typeface="微軟正黑體"/>
                <a:ea typeface="微軟正黑體"/>
                <a:cs typeface="微軟正黑體"/>
              </a:rPr>
              <a:t>60–70</a:t>
            </a:r>
            <a:r>
              <a:rPr sz="1800">
                <a:latin typeface="微軟正黑體"/>
                <a:ea typeface="微軟正黑體"/>
                <a:cs typeface="微軟正黑體"/>
              </a:rPr>
              <a:t>%</a:t>
            </a:r>
            <a:r>
              <a:rPr sz="1800">
                <a:latin typeface="微軟正黑體"/>
                <a:ea typeface="微軟正黑體"/>
                <a:cs typeface="微軟正黑體"/>
              </a:rPr>
              <a:t>，</a:t>
            </a:r>
            <a:r>
              <a:rPr sz="1800">
                <a:latin typeface="微軟正黑體"/>
                <a:ea typeface="微軟正黑體"/>
                <a:cs typeface="微軟正黑體"/>
              </a:rPr>
              <a:t>AI</a:t>
            </a:r>
            <a:r>
              <a:rPr sz="1800">
                <a:latin typeface="微軟正黑體"/>
                <a:ea typeface="微軟正黑體"/>
                <a:cs typeface="微軟正黑體"/>
              </a:rPr>
              <a:t>推</a:t>
            </a:r>
            <a:r>
              <a:rPr sz="1800">
                <a:latin typeface="微軟正黑體"/>
                <a:ea typeface="微軟正黑體"/>
                <a:cs typeface="微軟正黑體"/>
              </a:rPr>
              <a:t>論</a:t>
            </a:r>
            <a:r>
              <a:rPr sz="1800">
                <a:latin typeface="微軟正黑體"/>
                <a:ea typeface="微軟正黑體"/>
                <a:cs typeface="微軟正黑體"/>
              </a:rPr>
              <a:t>帶</a:t>
            </a:r>
            <a:r>
              <a:rPr sz="1800">
                <a:latin typeface="微軟正黑體"/>
                <a:ea typeface="微軟正黑體"/>
                <a:cs typeface="微軟正黑體"/>
              </a:rPr>
              <a:t>動</a:t>
            </a:r>
            <a:r>
              <a:rPr sz="1800">
                <a:latin typeface="微軟正黑體"/>
                <a:ea typeface="微軟正黑體"/>
                <a:cs typeface="微軟正黑體"/>
              </a:rPr>
              <a:t>通</a:t>
            </a:r>
            <a:r>
              <a:rPr sz="1800">
                <a:latin typeface="微軟正黑體"/>
                <a:ea typeface="微軟正黑體"/>
                <a:cs typeface="微軟正黑體"/>
              </a:rPr>
              <a:t>用</a:t>
            </a:r>
            <a:r>
              <a:rPr sz="1800">
                <a:latin typeface="微軟正黑體"/>
                <a:ea typeface="微軟正黑體"/>
                <a:cs typeface="微軟正黑體"/>
              </a:rPr>
              <a:t>與</a:t>
            </a:r>
            <a:r>
              <a:rPr sz="1800">
                <a:latin typeface="微軟正黑體"/>
                <a:ea typeface="微軟正黑體"/>
                <a:cs typeface="微軟正黑體"/>
              </a:rPr>
              <a:t>AI</a:t>
            </a:r>
            <a:r>
              <a:rPr sz="1800">
                <a:latin typeface="微軟正黑體"/>
                <a:ea typeface="微軟正黑體"/>
                <a:cs typeface="微軟正黑體"/>
              </a:rPr>
              <a:t>伺</a:t>
            </a:r>
            <a:r>
              <a:rPr sz="1800">
                <a:latin typeface="微軟正黑體"/>
                <a:ea typeface="微軟正黑體"/>
                <a:cs typeface="微軟正黑體"/>
              </a:rPr>
              <a:t>服</a:t>
            </a:r>
            <a:r>
              <a:rPr sz="1800">
                <a:latin typeface="微軟正黑體"/>
                <a:ea typeface="微軟正黑體"/>
                <a:cs typeface="微軟正黑體"/>
              </a:rPr>
              <a:t>器</a:t>
            </a:r>
            <a:r>
              <a:rPr sz="1800">
                <a:latin typeface="微軟正黑體"/>
                <a:ea typeface="微軟正黑體"/>
                <a:cs typeface="微軟正黑體"/>
              </a:rPr>
              <a:t>同</a:t>
            </a:r>
            <a:r>
              <a:rPr sz="1800">
                <a:latin typeface="微軟正黑體"/>
                <a:ea typeface="微軟正黑體"/>
                <a:cs typeface="微軟正黑體"/>
              </a:rPr>
              <a:t>步</a:t>
            </a:r>
            <a:r>
              <a:rPr sz="1800">
                <a:latin typeface="微軟正黑體"/>
                <a:ea typeface="微軟正黑體"/>
                <a:cs typeface="微軟正黑體"/>
              </a:rPr>
              <a:t>成</a:t>
            </a:r>
            <a:r>
              <a:rPr sz="1800">
                <a:latin typeface="微軟正黑體"/>
                <a:ea typeface="微軟正黑體"/>
                <a:cs typeface="微軟正黑體"/>
              </a:rPr>
              <a:t>長</a:t>
            </a:r>
            <a:r>
              <a:rPr sz="1800">
                <a:latin typeface="微軟正黑體"/>
                <a:ea typeface="微軟正黑體"/>
                <a:cs typeface="微軟正黑體"/>
              </a:rPr>
              <a:t>，</a:t>
            </a:r>
            <a:r>
              <a:rPr sz="1800">
                <a:latin typeface="微軟正黑體"/>
                <a:ea typeface="微軟正黑體"/>
                <a:cs typeface="微軟正黑體"/>
              </a:rPr>
              <a:t>持</a:t>
            </a:r>
            <a:r>
              <a:rPr sz="1800">
                <a:latin typeface="微軟正黑體"/>
                <a:ea typeface="微軟正黑體"/>
                <a:cs typeface="微軟正黑體"/>
              </a:rPr>
              <a:t>續</a:t>
            </a:r>
            <a:r>
              <a:rPr sz="1800">
                <a:latin typeface="微軟正黑體"/>
                <a:ea typeface="微軟正黑體"/>
                <a:cs typeface="微軟正黑體"/>
              </a:rPr>
              <a:t>支</a:t>
            </a:r>
            <a:r>
              <a:rPr sz="1800">
                <a:latin typeface="微軟正黑體"/>
                <a:ea typeface="微軟正黑體"/>
                <a:cs typeface="微軟正黑體"/>
              </a:rPr>
              <a:t>撐</a:t>
            </a:r>
            <a:r>
              <a:rPr sz="1800">
                <a:latin typeface="微軟正黑體"/>
                <a:ea typeface="微軟正黑體"/>
                <a:cs typeface="微軟正黑體"/>
              </a:rPr>
              <a:t>晶</a:t>
            </a:r>
            <a:r>
              <a:rPr sz="1800">
                <a:latin typeface="微軟正黑體"/>
                <a:ea typeface="微軟正黑體"/>
                <a:cs typeface="微軟正黑體"/>
              </a:rPr>
              <a:t>圓</a:t>
            </a:r>
            <a:r>
              <a:rPr sz="1800">
                <a:latin typeface="微軟正黑體"/>
                <a:ea typeface="微軟正黑體"/>
                <a:cs typeface="微軟正黑體"/>
              </a:rPr>
              <a:t>代</a:t>
            </a:r>
            <a:r>
              <a:rPr sz="1800">
                <a:latin typeface="微軟正黑體"/>
                <a:ea typeface="微軟正黑體"/>
                <a:cs typeface="微軟正黑體"/>
              </a:rPr>
              <a:t>工</a:t>
            </a:r>
            <a:r>
              <a:rPr sz="1800">
                <a:latin typeface="微軟正黑體"/>
                <a:ea typeface="微軟正黑體"/>
                <a:cs typeface="微軟正黑體"/>
              </a:rPr>
              <a:t>、</a:t>
            </a:r>
            <a:r>
              <a:rPr sz="1800">
                <a:latin typeface="微軟正黑體"/>
                <a:ea typeface="微軟正黑體"/>
                <a:cs typeface="微軟正黑體"/>
              </a:rPr>
              <a:t>載</a:t>
            </a:r>
            <a:r>
              <a:rPr sz="1800">
                <a:latin typeface="微軟正黑體"/>
                <a:ea typeface="微軟正黑體"/>
                <a:cs typeface="微軟正黑體"/>
              </a:rPr>
              <a:t>板</a:t>
            </a:r>
            <a:r>
              <a:rPr sz="1800">
                <a:latin typeface="微軟正黑體"/>
                <a:ea typeface="微軟正黑體"/>
                <a:cs typeface="微軟正黑體"/>
              </a:rPr>
              <a:t>及</a:t>
            </a:r>
            <a:r>
              <a:rPr sz="1800">
                <a:latin typeface="微軟正黑體"/>
                <a:ea typeface="微軟正黑體"/>
                <a:cs typeface="微軟正黑體"/>
              </a:rPr>
              <a:t>高</a:t>
            </a:r>
            <a:r>
              <a:rPr sz="1800">
                <a:latin typeface="微軟正黑體"/>
                <a:ea typeface="微軟正黑體"/>
                <a:cs typeface="微軟正黑體"/>
              </a:rPr>
              <a:t>速</a:t>
            </a:r>
            <a:r>
              <a:rPr sz="1800">
                <a:latin typeface="微軟正黑體"/>
                <a:ea typeface="微軟正黑體"/>
                <a:cs typeface="微軟正黑體"/>
              </a:rPr>
              <a:t>介</a:t>
            </a:r>
            <a:r>
              <a:rPr sz="1800">
                <a:latin typeface="微軟正黑體"/>
                <a:ea typeface="微軟正黑體"/>
                <a:cs typeface="微軟正黑體"/>
              </a:rPr>
              <a:t>面</a:t>
            </a:r>
            <a:r>
              <a:rPr sz="1800">
                <a:latin typeface="微軟正黑體"/>
                <a:ea typeface="微軟正黑體"/>
                <a:cs typeface="微軟正黑體"/>
              </a:rPr>
              <a:t>需</a:t>
            </a:r>
            <a:r>
              <a:rPr sz="1800">
                <a:latin typeface="微軟正黑體"/>
                <a:ea typeface="微軟正黑體"/>
                <a:cs typeface="微軟正黑體"/>
              </a:rPr>
              <a:t>求</a:t>
            </a:r>
            <a:r>
              <a:rPr sz="1800">
                <a:latin typeface="微軟正黑體"/>
                <a:ea typeface="微軟正黑體"/>
                <a:cs typeface="微軟正黑體"/>
              </a:rPr>
              <a:t>。</a:t>
            </a:r>
            <a:endParaRPr sz="1800">
              <a:latin typeface="微軟正黑體"/>
              <a:ea typeface="微軟正黑體"/>
              <a:cs typeface="微軟正黑體"/>
            </a:endParaRPr>
          </a:p>
          <a:p xmlns:a="http://schemas.openxmlformats.org/drawingml/2006/main">
            <a:pPr marL="285750" indent="-285750">
              <a:buFont typeface="Arial"/>
              <a:buChar char="•"/>
            </a:pPr>
            <a:r>
              <a:rPr sz="1800">
                <a:latin typeface="微軟正黑體"/>
                <a:ea typeface="微軟正黑體"/>
                <a:cs typeface="微軟正黑體"/>
              </a:rPr>
              <a:t>AI</a:t>
            </a:r>
            <a:r>
              <a:rPr sz="1800">
                <a:latin typeface="微軟正黑體"/>
                <a:ea typeface="微軟正黑體"/>
                <a:cs typeface="微軟正黑體"/>
              </a:rPr>
              <a:t>叢</a:t>
            </a:r>
            <a:r>
              <a:rPr sz="1800">
                <a:latin typeface="微軟正黑體"/>
                <a:ea typeface="微軟正黑體"/>
                <a:cs typeface="微軟正黑體"/>
              </a:rPr>
              <a:t>集</a:t>
            </a:r>
            <a:r>
              <a:rPr sz="1800">
                <a:latin typeface="微軟正黑體"/>
                <a:ea typeface="微軟正黑體"/>
                <a:cs typeface="微軟正黑體"/>
              </a:rPr>
              <a:t>擴</a:t>
            </a:r>
            <a:r>
              <a:rPr sz="1800">
                <a:latin typeface="微軟正黑體"/>
                <a:ea typeface="微軟正黑體"/>
                <a:cs typeface="微軟正黑體"/>
              </a:rPr>
              <a:t>大</a:t>
            </a:r>
            <a:r>
              <a:rPr sz="1800">
                <a:latin typeface="微軟正黑體"/>
                <a:ea typeface="微軟正黑體"/>
                <a:cs typeface="微軟正黑體"/>
              </a:rPr>
              <a:t>推</a:t>
            </a:r>
            <a:r>
              <a:rPr sz="1800">
                <a:latin typeface="微軟正黑體"/>
                <a:ea typeface="微軟正黑體"/>
                <a:cs typeface="微軟正黑體"/>
              </a:rPr>
              <a:t>升</a:t>
            </a:r>
            <a:r>
              <a:rPr sz="1800">
                <a:latin typeface="微軟正黑體"/>
                <a:ea typeface="微軟正黑體"/>
                <a:cs typeface="微軟正黑體"/>
              </a:rPr>
              <a:t>高</a:t>
            </a:r>
            <a:r>
              <a:rPr sz="1800">
                <a:latin typeface="微軟正黑體"/>
                <a:ea typeface="微軟正黑體"/>
                <a:cs typeface="微軟正黑體"/>
              </a:rPr>
              <a:t>速</a:t>
            </a:r>
            <a:r>
              <a:rPr sz="1800">
                <a:latin typeface="微軟正黑體"/>
                <a:ea typeface="微軟正黑體"/>
                <a:cs typeface="微軟正黑體"/>
              </a:rPr>
              <a:t>光</a:t>
            </a:r>
            <a:r>
              <a:rPr sz="1800">
                <a:latin typeface="微軟正黑體"/>
                <a:ea typeface="微軟正黑體"/>
                <a:cs typeface="微軟正黑體"/>
              </a:rPr>
              <a:t>通</a:t>
            </a:r>
            <a:r>
              <a:rPr sz="1800">
                <a:latin typeface="微軟正黑體"/>
                <a:ea typeface="微軟正黑體"/>
                <a:cs typeface="微軟正黑體"/>
              </a:rPr>
              <a:t>訊</a:t>
            </a:r>
            <a:r>
              <a:rPr sz="1800">
                <a:latin typeface="微軟正黑體"/>
                <a:ea typeface="微軟正黑體"/>
                <a:cs typeface="微軟正黑體"/>
              </a:rPr>
              <a:t>，</a:t>
            </a:r>
            <a:r>
              <a:rPr sz="1800">
                <a:latin typeface="微軟正黑體"/>
                <a:ea typeface="微軟正黑體"/>
                <a:cs typeface="微軟正黑體"/>
              </a:rPr>
              <a:t>CPO</a:t>
            </a:r>
            <a:r>
              <a:rPr sz="1800">
                <a:latin typeface="微軟正黑體"/>
                <a:ea typeface="微軟正黑體"/>
                <a:cs typeface="微軟正黑體"/>
              </a:rPr>
              <a:t>商</a:t>
            </a:r>
            <a:r>
              <a:rPr sz="1800">
                <a:latin typeface="微軟正黑體"/>
                <a:ea typeface="微軟正黑體"/>
                <a:cs typeface="微軟正黑體"/>
              </a:rPr>
              <a:t>機</a:t>
            </a:r>
            <a:r>
              <a:rPr sz="1800">
                <a:latin typeface="微軟正黑體"/>
                <a:ea typeface="微軟正黑體"/>
                <a:cs typeface="微軟正黑體"/>
              </a:rPr>
              <a:t>延</a:t>
            </a:r>
            <a:r>
              <a:rPr sz="1800">
                <a:latin typeface="微軟正黑體"/>
                <a:ea typeface="微軟正黑體"/>
                <a:cs typeface="微軟正黑體"/>
              </a:rPr>
              <a:t>伸</a:t>
            </a:r>
            <a:r>
              <a:rPr sz="1800">
                <a:latin typeface="微軟正黑體"/>
                <a:ea typeface="微軟正黑體"/>
                <a:cs typeface="微軟正黑體"/>
              </a:rPr>
              <a:t>至</a:t>
            </a:r>
            <a:r>
              <a:rPr sz="1800">
                <a:latin typeface="微軟正黑體"/>
                <a:ea typeface="微軟正黑體"/>
                <a:cs typeface="微軟正黑體"/>
              </a:rPr>
              <a:t>EIC</a:t>
            </a:r>
            <a:r>
              <a:rPr sz="1800">
                <a:latin typeface="微軟正黑體"/>
                <a:ea typeface="微軟正黑體"/>
                <a:cs typeface="微軟正黑體"/>
              </a:rPr>
              <a:t>／</a:t>
            </a:r>
            <a:r>
              <a:rPr sz="1800">
                <a:latin typeface="微軟正黑體"/>
                <a:ea typeface="微軟正黑體"/>
                <a:cs typeface="微軟正黑體"/>
              </a:rPr>
              <a:t>PIC</a:t>
            </a:r>
            <a:r>
              <a:rPr sz="1800">
                <a:latin typeface="微軟正黑體"/>
                <a:ea typeface="微軟正黑體"/>
                <a:cs typeface="微軟正黑體"/>
              </a:rPr>
              <a:t>、</a:t>
            </a:r>
            <a:r>
              <a:rPr sz="1800">
                <a:latin typeface="微軟正黑體"/>
                <a:ea typeface="微軟正黑體"/>
                <a:cs typeface="微軟正黑體"/>
              </a:rPr>
              <a:t>先</a:t>
            </a:r>
            <a:r>
              <a:rPr sz="1800">
                <a:latin typeface="微軟正黑體"/>
                <a:ea typeface="微軟正黑體"/>
                <a:cs typeface="微軟正黑體"/>
              </a:rPr>
              <a:t>進</a:t>
            </a:r>
            <a:r>
              <a:rPr sz="1800">
                <a:latin typeface="微軟正黑體"/>
                <a:ea typeface="微軟正黑體"/>
                <a:cs typeface="微軟正黑體"/>
              </a:rPr>
              <a:t>封</a:t>
            </a:r>
            <a:r>
              <a:rPr sz="1800">
                <a:latin typeface="微軟正黑體"/>
                <a:ea typeface="微軟正黑體"/>
                <a:cs typeface="微軟正黑體"/>
              </a:rPr>
              <a:t>裝</a:t>
            </a:r>
            <a:r>
              <a:rPr sz="1800">
                <a:latin typeface="微軟正黑體"/>
                <a:ea typeface="微軟正黑體"/>
                <a:cs typeface="微軟正黑體"/>
              </a:rPr>
              <a:t>與</a:t>
            </a:r>
            <a:r>
              <a:rPr sz="1800">
                <a:latin typeface="微軟正黑體"/>
                <a:ea typeface="微軟正黑體"/>
                <a:cs typeface="微軟正黑體"/>
              </a:rPr>
              <a:t>光</a:t>
            </a:r>
            <a:r>
              <a:rPr sz="1800">
                <a:latin typeface="微軟正黑體"/>
                <a:ea typeface="微軟正黑體"/>
                <a:cs typeface="微軟正黑體"/>
              </a:rPr>
              <a:t>學</a:t>
            </a:r>
            <a:r>
              <a:rPr sz="1800">
                <a:latin typeface="微軟正黑體"/>
                <a:ea typeface="微軟正黑體"/>
                <a:cs typeface="微軟正黑體"/>
              </a:rPr>
              <a:t>零</a:t>
            </a:r>
            <a:r>
              <a:rPr sz="1800">
                <a:latin typeface="微軟正黑體"/>
                <a:ea typeface="微軟正黑體"/>
                <a:cs typeface="微軟正黑體"/>
              </a:rPr>
              <a:t>組</a:t>
            </a:r>
            <a:r>
              <a:rPr sz="1800">
                <a:latin typeface="微軟正黑體"/>
                <a:ea typeface="微軟正黑體"/>
                <a:cs typeface="微軟正黑體"/>
              </a:rPr>
              <a:t>件</a:t>
            </a:r>
            <a:r>
              <a:rPr sz="1800">
                <a:latin typeface="微軟正黑體"/>
                <a:ea typeface="微軟正黑體"/>
                <a:cs typeface="微軟正黑體"/>
              </a:rPr>
              <a:t>。</a:t>
            </a:r>
            <a:r>
              <a:rPr sz="1800">
                <a:latin typeface="微軟正黑體"/>
                <a:ea typeface="微軟正黑體"/>
                <a:cs typeface="微軟正黑體"/>
              </a:rPr>
              <a:t>台</a:t>
            </a:r>
            <a:r>
              <a:rPr sz="1800">
                <a:latin typeface="微軟正黑體"/>
                <a:ea typeface="微軟正黑體"/>
                <a:cs typeface="微軟正黑體"/>
              </a:rPr>
              <a:t>廠</a:t>
            </a:r>
            <a:r>
              <a:rPr sz="1800">
                <a:latin typeface="微軟正黑體"/>
                <a:ea typeface="微軟正黑體"/>
                <a:cs typeface="微軟正黑體"/>
              </a:rPr>
              <a:t>供</a:t>
            </a:r>
            <a:r>
              <a:rPr sz="1800">
                <a:latin typeface="微軟正黑體"/>
                <a:ea typeface="微軟正黑體"/>
                <a:cs typeface="微軟正黑體"/>
              </a:rPr>
              <a:t>應</a:t>
            </a:r>
            <a:r>
              <a:rPr sz="1800">
                <a:latin typeface="微軟正黑體"/>
                <a:ea typeface="微軟正黑體"/>
                <a:cs typeface="微軟正黑體"/>
              </a:rPr>
              <a:t>鏈</a:t>
            </a:r>
            <a:r>
              <a:rPr sz="1800">
                <a:latin typeface="微軟正黑體"/>
                <a:ea typeface="微軟正黑體"/>
                <a:cs typeface="微軟正黑體"/>
              </a:rPr>
              <a:t>日</a:t>
            </a:r>
            <a:r>
              <a:rPr sz="1800">
                <a:latin typeface="微軟正黑體"/>
                <a:ea typeface="微軟正黑體"/>
                <a:cs typeface="微軟正黑體"/>
              </a:rPr>
              <a:t>趨</a:t>
            </a:r>
            <a:r>
              <a:rPr sz="1800">
                <a:latin typeface="微軟正黑體"/>
                <a:ea typeface="微軟正黑體"/>
                <a:cs typeface="微軟正黑體"/>
              </a:rPr>
              <a:t>完</a:t>
            </a:r>
            <a:r>
              <a:rPr sz="1800">
                <a:latin typeface="微軟正黑體"/>
                <a:ea typeface="微軟正黑體"/>
                <a:cs typeface="微軟正黑體"/>
              </a:rPr>
              <a:t>整</a:t>
            </a:r>
            <a:r>
              <a:rPr sz="1800">
                <a:latin typeface="微軟正黑體"/>
                <a:ea typeface="微軟正黑體"/>
                <a:cs typeface="微軟正黑體"/>
              </a:rPr>
              <a:t>，</a:t>
            </a:r>
            <a:r>
              <a:rPr sz="1800">
                <a:latin typeface="微軟正黑體"/>
                <a:ea typeface="微軟正黑體"/>
                <a:cs typeface="微軟正黑體"/>
              </a:rPr>
              <a:t>選</a:t>
            </a:r>
            <a:r>
              <a:rPr sz="1800">
                <a:latin typeface="微軟正黑體"/>
                <a:ea typeface="微軟正黑體"/>
                <a:cs typeface="微軟正黑體"/>
              </a:rPr>
              <a:t>股</a:t>
            </a:r>
            <a:r>
              <a:rPr sz="1800">
                <a:latin typeface="微軟正黑體"/>
                <a:ea typeface="微軟正黑體"/>
                <a:cs typeface="微軟正黑體"/>
              </a:rPr>
              <a:t>重</a:t>
            </a:r>
            <a:r>
              <a:rPr sz="1800">
                <a:latin typeface="微軟正黑體"/>
                <a:ea typeface="微軟正黑體"/>
                <a:cs typeface="微軟正黑體"/>
              </a:rPr>
              <a:t>視</a:t>
            </a:r>
            <a:r>
              <a:rPr sz="1800">
                <a:latin typeface="微軟正黑體"/>
                <a:ea typeface="微軟正黑體"/>
                <a:cs typeface="微軟正黑體"/>
              </a:rPr>
              <a:t>關</a:t>
            </a:r>
            <a:r>
              <a:rPr sz="1800">
                <a:latin typeface="微軟正黑體"/>
                <a:ea typeface="微軟正黑體"/>
                <a:cs typeface="微軟正黑體"/>
              </a:rPr>
              <a:t>鍵</a:t>
            </a:r>
            <a:r>
              <a:rPr sz="1800">
                <a:latin typeface="微軟正黑體"/>
                <a:ea typeface="微軟正黑體"/>
                <a:cs typeface="微軟正黑體"/>
              </a:rPr>
              <a:t>技</a:t>
            </a:r>
            <a:r>
              <a:rPr sz="1800">
                <a:latin typeface="微軟正黑體"/>
                <a:ea typeface="微軟正黑體"/>
                <a:cs typeface="微軟正黑體"/>
              </a:rPr>
              <a:t>術</a:t>
            </a:r>
            <a:r>
              <a:rPr sz="1800">
                <a:latin typeface="微軟正黑體"/>
                <a:ea typeface="微軟正黑體"/>
                <a:cs typeface="微軟正黑體"/>
              </a:rPr>
              <a:t>與</a:t>
            </a:r>
            <a:r>
              <a:rPr sz="1800">
                <a:latin typeface="微軟正黑體"/>
                <a:ea typeface="微軟正黑體"/>
                <a:cs typeface="微軟正黑體"/>
              </a:rPr>
              <a:t>量</a:t>
            </a:r>
            <a:r>
              <a:rPr sz="1800">
                <a:latin typeface="微軟正黑體"/>
                <a:ea typeface="微軟正黑體"/>
                <a:cs typeface="微軟正黑體"/>
              </a:rPr>
              <a:t>產</a:t>
            </a:r>
            <a:r>
              <a:rPr sz="1800">
                <a:latin typeface="微軟正黑體"/>
                <a:ea typeface="微軟正黑體"/>
                <a:cs typeface="微軟正黑體"/>
              </a:rPr>
              <a:t>進</a:t>
            </a:r>
            <a:r>
              <a:rPr sz="1800">
                <a:latin typeface="微軟正黑體"/>
                <a:ea typeface="微軟正黑體"/>
                <a:cs typeface="微軟正黑體"/>
              </a:rPr>
              <a:t>度</a:t>
            </a:r>
            <a:r>
              <a:rPr sz="1800">
                <a:latin typeface="微軟正黑體"/>
                <a:ea typeface="微軟正黑體"/>
                <a:cs typeface="微軟正黑體"/>
              </a:rPr>
              <a:t>。</a:t>
            </a:r>
            <a:endParaRPr sz="1800">
              <a:latin typeface="微軟正黑體"/>
              <a:ea typeface="微軟正黑體"/>
              <a:cs typeface="微軟正黑體"/>
            </a:endParaRPr>
          </a:p>
        </p:txBody>
      </p:sp>
      <p:sp>
        <p:nvSpPr>
          <p:cNvPr id="12" name="矩形 11">
            <a:extLst xmlns:a="http://schemas.openxmlformats.org/drawingml/2006/main">
              <a:ext uri="{FF2B5EF4-FFF2-40B4-BE49-F238E27FC236}">
                <a16:creationId xmlns:a16="http://schemas.microsoft.com/office/drawing/2014/main" id="{D458EA3A-EC57-A4D3-E5FC-606D51CB141D}"/>
              </a:ext>
            </a:extLst>
          </p:cNvPr>
          <p:cNvSpPr>
            <a:spLocks xmlns:a="http://schemas.openxmlformats.org/drawingml/2006/main" noGrp="1"/>
          </p:cNvSpPr>
          <p:nvPr/>
        </p:nvSpPr>
        <p:spPr>
          <a:xfrm xmlns:a="http://schemas.openxmlformats.org/drawingml/2006/main">
            <a:off x="8262257" y="6542809"/>
            <a:ext cx="3137741" cy="307777"/>
          </a:xfrm>
          <a:prstGeom xmlns:a="http://schemas.openxmlformats.org/drawingml/2006/main" prst="rect">
            <a:avLst/>
          </a:prstGeom>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buNone/>
            </a:pPr>
            <a:r>
              <a:rPr sz="1400">
                <a:latin typeface="微軟正黑體"/>
                <a:ea typeface="微軟正黑體"/>
                <a:cs typeface="微軟正黑體"/>
              </a:rPr>
              <a:t>資料來源：富邦投顧(2026/9/30)</a:t>
            </a:r>
            <a:endParaRPr sz="1400"/>
          </a:p>
        </p:txBody>
      </p:sp>
      <p:sp>
        <p:nvSpPr>
          <p:cNvPr id="2" name="文字方塊 1">
            <a:extLst xmlns:a="http://schemas.openxmlformats.org/drawingml/2006/main">
              <a:ext uri="{FF2B5EF4-FFF2-40B4-BE49-F238E27FC236}">
                <a16:creationId xmlns:a16="http://schemas.microsoft.com/office/drawing/2014/main" id="{86251B1F-8ACA-0C62-E227-25E855E1FB02}"/>
              </a:ext>
            </a:extLst>
          </p:cNvPr>
          <p:cNvSpPr>
            <a:spLocks xmlns:a="http://schemas.openxmlformats.org/drawingml/2006/main" noGrp="1"/>
          </p:cNvSpPr>
          <p:nvPr/>
        </p:nvSpPr>
        <p:spPr>
          <a:xfrm xmlns:a="http://schemas.openxmlformats.org/drawingml/2006/main">
            <a:off x="2431885" y="2262651"/>
            <a:ext cx="1338828"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b="1">
                <a:latin typeface="微軟正黑體"/>
                <a:ea typeface="微軟正黑體"/>
                <a:cs typeface="微軟正黑體"/>
              </a:rPr>
              <a:t>AI基建</a:t>
            </a:r>
            <a:endParaRPr/>
          </a:p>
        </p:txBody>
      </p:sp>
      <p:sp>
        <p:nvSpPr>
          <p:cNvPr id="8" name="文字方塊 7">
            <a:extLst xmlns:a="http://schemas.openxmlformats.org/drawingml/2006/main">
              <a:ext uri="{FF2B5EF4-FFF2-40B4-BE49-F238E27FC236}">
                <a16:creationId xmlns:a16="http://schemas.microsoft.com/office/drawing/2014/main" id="{D9F034B6-A874-95BD-5D6A-382DD9C5D182}"/>
              </a:ext>
            </a:extLst>
          </p:cNvPr>
          <p:cNvSpPr>
            <a:spLocks xmlns:a="http://schemas.openxmlformats.org/drawingml/2006/main" noGrp="1"/>
          </p:cNvSpPr>
          <p:nvPr/>
        </p:nvSpPr>
        <p:spPr>
          <a:xfrm xmlns:a="http://schemas.openxmlformats.org/drawingml/2006/main">
            <a:off x="7787751" y="2239517"/>
            <a:ext cx="1800493"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b="1">
                <a:latin typeface="微軟正黑體"/>
                <a:ea typeface="微軟正黑體"/>
                <a:cs typeface="微軟正黑體"/>
              </a:rPr>
              <a:t>CPO價值鏈</a:t>
            </a:r>
            <a:endParaRPr/>
          </a:p>
        </p:txBody>
      </p:sp>
      <p:sp>
        <p:nvSpPr>
          <p:cNvPr id="15363" name="">
            <a:extLst xmlns:a="http://schemas.openxmlformats.org/drawingml/2006/main">
              <a:ext uri="{FF2B5EF4-FFF2-40B4-BE49-F238E27FC236}">
                <a16:creationId xmlns:a16="http://schemas.microsoft.com/office/drawing/2014/main" id="{EA00D0DE-DE6C-44C6-8F1D-5BB822EBCA62}"/>
              </a:ext>
            </a:extLst>
          </p:cNvPr>
          <p:cNvSpPr>
            <a:spLocks xmlns:a="http://schemas.openxmlformats.org/drawingml/2006/main" noGrp="1"/>
          </p:cNvSpPr>
          <p:nvPr/>
        </p:nvSpPr>
        <p:spPr>
          <a:xfrm xmlns:a="http://schemas.openxmlformats.org/drawingml/2006/main">
            <a:off x="379232" y="2608849"/>
            <a:ext cx="5400000" cy="3708000"/>
          </a:xfrm>
          <a:prstGeom xmlns:a="http://schemas.openxmlformats.org/drawingml/2006/main" prst="roundRect">
            <a:avLst>
              <a:gd name="adj" fmla="val 3596"/>
            </a:avLst>
          </a:prstGeom>
          <a:solidFill xmlns:a="http://schemas.openxmlformats.org/drawingml/2006/main">
            <a:srgbClr val="FFFFFF"/>
          </a:solidFill>
          <a:ln xmlns:a="http://schemas.openxmlformats.org/drawingml/2006/main" w="6191">
            <a:solidFill>
              <a:srgbClr val="CDE6EB"/>
            </a:solidFill>
          </a:ln>
        </p:spPr>
      </p:sp>
      <p:graphicFrame>
        <p:nvGraphicFramePr>
          <p:cNvPr id="15375" name=""/>
          <p:cNvGraphicFramePr/>
          <p:nvPr/>
        </p:nvGraphicFramePr>
        <p:xfrm>
          <a:off xmlns:a="http://schemas.openxmlformats.org/drawingml/2006/main" x="474482" y="2704099"/>
          <a:ext xmlns:a="http://schemas.openxmlformats.org/drawingml/2006/main" cx="5209500" cy="3165075"/>
        </p:xfrm>
        <a:graphic xmlns:a="http://schemas.openxmlformats.org/drawingml/2006/main">
          <a:graphicData uri="http://schemas.openxmlformats.org/drawingml/2006/table">
            <a:tbl>
              <a:tblPr/>
              <a:tblGrid>
                <a:gridCol w="2083800"/>
                <a:gridCol w="3125700"/>
              </a:tblGrid>
              <a:tr h="409575">
                <a:tc>
                  <a:txBody>
                    <a:bodyPr/>
                    <a:lstStyle/>
                    <a:p>
                      <a:r>
                        <a:rPr sz="1500" b="1">
                          <a:solidFill>
                            <a:srgbClr val="FFFFFF"/>
                          </a:solidFill>
                          <a:latin typeface="微軟正黑體"/>
                          <a:ea typeface="微軟正黑體"/>
                          <a:cs typeface="微軟正黑體"/>
                        </a:rPr>
                        <a:t>需求指標</a:t>
                      </a:r>
                    </a:p>
                  </a:txBody>
                  <a:tcPr marL="85725" marR="76200" marT="85725" marB="47625" anchor="ctr">
                    <a:solidFill>
                      <a:srgbClr val="00829B"/>
                    </a:solidFill>
                  </a:tcPr>
                </a:tc>
                <a:tc>
                  <a:txBody>
                    <a:bodyPr/>
                    <a:lstStyle/>
                    <a:p>
                      <a:r>
                        <a:rPr sz="1500" b="1">
                          <a:solidFill>
                            <a:srgbClr val="FFFFFF"/>
                          </a:solidFill>
                          <a:latin typeface="微軟正黑體"/>
                          <a:ea typeface="微軟正黑體"/>
                          <a:cs typeface="微軟正黑體"/>
                        </a:rPr>
                        <a:t>原報告預估</a:t>
                      </a:r>
                    </a:p>
                  </a:txBody>
                  <a:tcPr marL="85725" marR="76200" marT="85725" marB="47625" anchor="ctr">
                    <a:solidFill>
                      <a:srgbClr val="00829B"/>
                    </a:solidFill>
                  </a:tcPr>
                </a:tc>
              </a:tr>
              <a:tr h="688875">
                <a:tc>
                  <a:txBody>
                    <a:bodyPr/>
                    <a:lstStyle/>
                    <a:p>
                      <a:r>
                        <a:rPr sz="1500" b="1">
                          <a:solidFill>
                            <a:srgbClr val="076F89"/>
                          </a:solidFill>
                          <a:latin typeface="微軟正黑體"/>
                          <a:ea typeface="微軟正黑體"/>
                          <a:cs typeface="微軟正黑體"/>
                        </a:rPr>
                        <a:t>四大CSP</a:t>
                      </a:r>
                    </a:p>
                    <a:p>
                      <a:r>
                        <a:rPr sz="1500" b="1">
                          <a:solidFill>
                            <a:srgbClr val="076F89"/>
                          </a:solidFill>
                          <a:latin typeface="微軟正黑體"/>
                          <a:ea typeface="微軟正黑體"/>
                          <a:cs typeface="微軟正黑體"/>
                        </a:rPr>
                        <a:t>2027資本支出</a:t>
                      </a:r>
                    </a:p>
                  </a:txBody>
                  <a:tcPr marL="85725" marR="76200" marT="85725" marB="47625" anchor="ctr">
                    <a:solidFill>
                      <a:srgbClr val="F4F9FA"/>
                    </a:solidFill>
                  </a:tcPr>
                </a:tc>
                <a:tc>
                  <a:txBody>
                    <a:bodyPr/>
                    <a:lstStyle/>
                    <a:p>
                      <a:r>
                        <a:rPr sz="1500">
                          <a:solidFill>
                            <a:srgbClr val="172B34"/>
                          </a:solidFill>
                          <a:latin typeface="微軟正黑體"/>
                          <a:ea typeface="微軟正黑體"/>
                          <a:cs typeface="微軟正黑體"/>
                        </a:rPr>
                        <a:t>年增60–70%</a:t>
                      </a:r>
                    </a:p>
                  </a:txBody>
                  <a:tcPr marL="85725" marR="76200" marT="85725" marB="47625" anchor="ctr">
                    <a:solidFill>
                      <a:srgbClr val="F4F9FA"/>
                    </a:solidFill>
                  </a:tcPr>
                </a:tc>
              </a:tr>
              <a:tr h="688875">
                <a:tc>
                  <a:txBody>
                    <a:bodyPr/>
                    <a:lstStyle/>
                    <a:p>
                      <a:r>
                        <a:rPr sz="1500" b="1">
                          <a:solidFill>
                            <a:srgbClr val="076F89"/>
                          </a:solidFill>
                          <a:latin typeface="微軟正黑體"/>
                          <a:ea typeface="微軟正黑體"/>
                          <a:cs typeface="微軟正黑體"/>
                        </a:rPr>
                        <a:t>2026通用伺服器</a:t>
                      </a:r>
                    </a:p>
                  </a:txBody>
                  <a:tcPr marL="85725" marR="76200" marT="85725" marB="47625" anchor="ctr">
                    <a:solidFill>
                      <a:srgbClr val="FFFFFF"/>
                    </a:solidFill>
                  </a:tcPr>
                </a:tc>
                <a:tc>
                  <a:txBody>
                    <a:bodyPr/>
                    <a:lstStyle/>
                    <a:p>
                      <a:r>
                        <a:rPr sz="1500">
                          <a:solidFill>
                            <a:srgbClr val="172B34"/>
                          </a:solidFill>
                          <a:latin typeface="微軟正黑體"/>
                          <a:ea typeface="微軟正黑體"/>
                          <a:cs typeface="微軟正黑體"/>
                        </a:rPr>
                        <a:t>1,703萬台；年增26.5%</a:t>
                      </a:r>
                    </a:p>
                  </a:txBody>
                  <a:tcPr marL="85725" marR="76200" marT="85725" marB="47625" anchor="ctr">
                    <a:solidFill>
                      <a:srgbClr val="FFFFFF"/>
                    </a:solidFill>
                  </a:tcPr>
                </a:tc>
              </a:tr>
              <a:tr h="688875">
                <a:tc>
                  <a:txBody>
                    <a:bodyPr/>
                    <a:lstStyle/>
                    <a:p>
                      <a:r>
                        <a:rPr sz="1500" b="1">
                          <a:solidFill>
                            <a:srgbClr val="076F89"/>
                          </a:solidFill>
                          <a:latin typeface="微軟正黑體"/>
                          <a:ea typeface="微軟正黑體"/>
                          <a:cs typeface="微軟正黑體"/>
                        </a:rPr>
                        <a:t>2026 AI伺服器</a:t>
                      </a:r>
                    </a:p>
                  </a:txBody>
                  <a:tcPr marL="85725" marR="76200" marT="85725" marB="47625" anchor="ctr">
                    <a:solidFill>
                      <a:srgbClr val="F4F9FA"/>
                    </a:solidFill>
                  </a:tcPr>
                </a:tc>
                <a:tc>
                  <a:txBody>
                    <a:bodyPr/>
                    <a:lstStyle/>
                    <a:p>
                      <a:r>
                        <a:rPr sz="1500">
                          <a:solidFill>
                            <a:srgbClr val="172B34"/>
                          </a:solidFill>
                          <a:latin typeface="微軟正黑體"/>
                          <a:ea typeface="微軟正黑體"/>
                          <a:cs typeface="微軟正黑體"/>
                        </a:rPr>
                        <a:t>年增64%；滲透率16%</a:t>
                      </a:r>
                    </a:p>
                  </a:txBody>
                  <a:tcPr marL="85725" marR="76200" marT="85725" marB="47625" anchor="ctr">
                    <a:solidFill>
                      <a:srgbClr val="F4F9FA"/>
                    </a:solidFill>
                  </a:tcPr>
                </a:tc>
              </a:tr>
              <a:tr h="688875">
                <a:tc>
                  <a:txBody>
                    <a:bodyPr/>
                    <a:lstStyle/>
                    <a:p>
                      <a:r>
                        <a:rPr sz="1500" b="1">
                          <a:solidFill>
                            <a:srgbClr val="076F89"/>
                          </a:solidFill>
                          <a:latin typeface="微軟正黑體"/>
                          <a:ea typeface="微軟正黑體"/>
                          <a:cs typeface="微軟正黑體"/>
                        </a:rPr>
                        <a:t>NVIDIA</a:t>
                      </a:r>
                    </a:p>
                    <a:p>
                      <a:r>
                        <a:rPr sz="1500" b="1">
                          <a:solidFill>
                            <a:srgbClr val="076F89"/>
                          </a:solidFill>
                          <a:latin typeface="微軟正黑體"/>
                          <a:ea typeface="微軟正黑體"/>
                          <a:cs typeface="微軟正黑體"/>
                        </a:rPr>
                        <a:t>2026 AI機櫃</a:t>
                      </a:r>
                    </a:p>
                  </a:txBody>
                  <a:tcPr marL="85725" marR="76200" marT="85725" marB="47625" anchor="ctr">
                    <a:solidFill>
                      <a:srgbClr val="FFFFFF"/>
                    </a:solidFill>
                  </a:tcPr>
                </a:tc>
                <a:tc>
                  <a:txBody>
                    <a:bodyPr/>
                    <a:lstStyle/>
                    <a:p>
                      <a:r>
                        <a:rPr sz="1500">
                          <a:solidFill>
                            <a:srgbClr val="172B34"/>
                          </a:solidFill>
                          <a:latin typeface="微軟正黑體"/>
                          <a:ea typeface="微軟正黑體"/>
                          <a:cs typeface="微軟正黑體"/>
                        </a:rPr>
                        <a:t>8萬櫃；VR200預計4Q26量產</a:t>
                      </a:r>
                    </a:p>
                  </a:txBody>
                  <a:tcPr marL="85725" marR="76200" marT="85725" marB="47625" anchor="ctr">
                    <a:solidFill>
                      <a:srgbClr val="FFFFFF"/>
                    </a:solidFill>
                  </a:tcPr>
                </a:tc>
              </a:tr>
            </a:tbl>
          </a:graphicData>
        </a:graphic>
      </p:graphicFrame>
      <p:sp>
        <p:nvSpPr>
          <p:cNvPr id="15365" name="">
            <a:extLst xmlns:a="http://schemas.openxmlformats.org/drawingml/2006/main">
              <a:ext uri="{FF2B5EF4-FFF2-40B4-BE49-F238E27FC236}">
                <a16:creationId xmlns:a16="http://schemas.microsoft.com/office/drawing/2014/main" id="{BE5DFFF0-D1CA-42C2-A39D-4B38AD5080C7}"/>
              </a:ext>
            </a:extLst>
          </p:cNvPr>
          <p:cNvSpPr>
            <a:spLocks xmlns:a="http://schemas.openxmlformats.org/drawingml/2006/main" noGrp="1"/>
          </p:cNvSpPr>
          <p:nvPr/>
        </p:nvSpPr>
        <p:spPr>
          <a:xfrm xmlns:a="http://schemas.openxmlformats.org/drawingml/2006/main">
            <a:off x="493532" y="5945374"/>
            <a:ext cx="5171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4E656E"/>
                </a:solidFill>
                <a:latin typeface="微軟正黑體"/>
                <a:ea typeface="微軟正黑體"/>
                <a:cs typeface="微軟正黑體"/>
              </a:defRPr>
            </a:pPr>
            <a:r>
              <a:rPr sz="1050" b="0">
                <a:solidFill>
                  <a:srgbClr val="4E656E"/>
                </a:solidFill>
                <a:latin typeface="微軟正黑體"/>
                <a:ea typeface="微軟正黑體"/>
                <a:cs typeface="微軟正黑體"/>
              </a:rPr>
              <a:t>原報告AI基建：台積電、欣興、昇陽半、創意。</a:t>
            </a:r>
          </a:p>
        </p:txBody>
      </p:sp>
      <p:sp>
        <p:nvSpPr>
          <p:cNvPr id="15366" name="">
            <a:extLst xmlns:a="http://schemas.openxmlformats.org/drawingml/2006/main">
              <a:ext uri="{FF2B5EF4-FFF2-40B4-BE49-F238E27FC236}">
                <a16:creationId xmlns:a16="http://schemas.microsoft.com/office/drawing/2014/main" id="{38374DEE-864E-4CEC-8115-F318D550701D}"/>
              </a:ext>
            </a:extLst>
          </p:cNvPr>
          <p:cNvSpPr>
            <a:spLocks xmlns:a="http://schemas.openxmlformats.org/drawingml/2006/main" noGrp="1"/>
          </p:cNvSpPr>
          <p:nvPr/>
        </p:nvSpPr>
        <p:spPr>
          <a:xfrm xmlns:a="http://schemas.openxmlformats.org/drawingml/2006/main">
            <a:off x="6116753" y="2631983"/>
            <a:ext cx="5400000" cy="3708000"/>
          </a:xfrm>
          <a:prstGeom xmlns:a="http://schemas.openxmlformats.org/drawingml/2006/main" prst="roundRect">
            <a:avLst>
              <a:gd name="adj" fmla="val 3596"/>
            </a:avLst>
          </a:prstGeom>
          <a:solidFill xmlns:a="http://schemas.openxmlformats.org/drawingml/2006/main">
            <a:srgbClr val="FFFFFF"/>
          </a:solidFill>
          <a:ln xmlns:a="http://schemas.openxmlformats.org/drawingml/2006/main" w="6191">
            <a:solidFill>
              <a:srgbClr val="CDE6EB"/>
            </a:solidFill>
          </a:ln>
        </p:spPr>
      </p:sp>
      <p:graphicFrame>
        <p:nvGraphicFramePr>
          <p:cNvPr id="15378" name=""/>
          <p:cNvGraphicFramePr/>
          <p:nvPr/>
        </p:nvGraphicFramePr>
        <p:xfrm>
          <a:off xmlns:a="http://schemas.openxmlformats.org/drawingml/2006/main" x="6212003" y="2727233"/>
          <a:ext xmlns:a="http://schemas.openxmlformats.org/drawingml/2006/main" cx="5209500" cy="3165075"/>
        </p:xfrm>
        <a:graphic xmlns:a="http://schemas.openxmlformats.org/drawingml/2006/main">
          <a:graphicData uri="http://schemas.openxmlformats.org/drawingml/2006/table">
            <a:tbl>
              <a:tblPr/>
              <a:tblGrid>
                <a:gridCol w="1458660"/>
                <a:gridCol w="3750840"/>
              </a:tblGrid>
              <a:tr h="409575">
                <a:tc>
                  <a:txBody>
                    <a:bodyPr/>
                    <a:lstStyle/>
                    <a:p>
                      <a:r>
                        <a:rPr sz="1500" b="1">
                          <a:solidFill>
                            <a:srgbClr val="FFFFFF"/>
                          </a:solidFill>
                          <a:latin typeface="微軟正黑體"/>
                          <a:ea typeface="微軟正黑體"/>
                          <a:cs typeface="微軟正黑體"/>
                        </a:rPr>
                        <a:t>環節／指標</a:t>
                      </a:r>
                    </a:p>
                  </a:txBody>
                  <a:tcPr marL="85725" marR="76200" marT="85725" marB="47625" anchor="ctr">
                    <a:solidFill>
                      <a:srgbClr val="00829B"/>
                    </a:solidFill>
                  </a:tcPr>
                </a:tc>
                <a:tc>
                  <a:txBody>
                    <a:bodyPr/>
                    <a:lstStyle/>
                    <a:p>
                      <a:r>
                        <a:rPr sz="1500" b="1">
                          <a:solidFill>
                            <a:srgbClr val="FFFFFF"/>
                          </a:solidFill>
                          <a:latin typeface="微軟正黑體"/>
                          <a:ea typeface="微軟正黑體"/>
                          <a:cs typeface="微軟正黑體"/>
                        </a:rPr>
                        <a:t>觀察重點</a:t>
                      </a:r>
                    </a:p>
                  </a:txBody>
                  <a:tcPr marL="85725" marR="76200" marT="85725" marB="47625" anchor="ctr">
                    <a:solidFill>
                      <a:srgbClr val="00829B"/>
                    </a:solidFill>
                  </a:tcPr>
                </a:tc>
              </a:tr>
              <a:tr h="688875">
                <a:tc>
                  <a:txBody>
                    <a:bodyPr/>
                    <a:lstStyle/>
                    <a:p>
                      <a:r>
                        <a:rPr sz="1500" b="1">
                          <a:solidFill>
                            <a:srgbClr val="076F89"/>
                          </a:solidFill>
                          <a:latin typeface="微軟正黑體"/>
                          <a:ea typeface="微軟正黑體"/>
                          <a:cs typeface="微軟正黑體"/>
                        </a:rPr>
                        <a:t>需求規模</a:t>
                      </a:r>
                    </a:p>
                  </a:txBody>
                  <a:tcPr marL="85725" marR="76200" marT="85725" marB="47625" anchor="ctr">
                    <a:solidFill>
                      <a:srgbClr val="F4F9FA"/>
                    </a:solidFill>
                  </a:tcPr>
                </a:tc>
                <a:tc>
                  <a:txBody>
                    <a:bodyPr/>
                    <a:lstStyle/>
                    <a:p>
                      <a:r>
                        <a:rPr sz="1500">
                          <a:solidFill>
                            <a:srgbClr val="172B34"/>
                          </a:solidFill>
                          <a:latin typeface="微軟正黑體"/>
                          <a:ea typeface="微軟正黑體"/>
                          <a:cs typeface="微軟正黑體"/>
                        </a:rPr>
                        <a:t>2027年800G以上光模組</a:t>
                      </a:r>
                    </a:p>
                    <a:p>
                      <a:r>
                        <a:rPr sz="1500">
                          <a:solidFill>
                            <a:srgbClr val="172B34"/>
                          </a:solidFill>
                          <a:latin typeface="微軟正黑體"/>
                          <a:ea typeface="微軟正黑體"/>
                          <a:cs typeface="微軟正黑體"/>
                        </a:rPr>
                        <a:t>出貨預估逾1.4億支</a:t>
                      </a:r>
                    </a:p>
                  </a:txBody>
                  <a:tcPr marL="85725" marR="76200" marT="85725" marB="47625" anchor="ctr">
                    <a:solidFill>
                      <a:srgbClr val="F4F9FA"/>
                    </a:solidFill>
                  </a:tcPr>
                </a:tc>
              </a:tr>
              <a:tr h="688875">
                <a:tc>
                  <a:txBody>
                    <a:bodyPr/>
                    <a:lstStyle/>
                    <a:p>
                      <a:r>
                        <a:rPr sz="1500" b="1">
                          <a:solidFill>
                            <a:srgbClr val="076F89"/>
                          </a:solidFill>
                          <a:latin typeface="微軟正黑體"/>
                          <a:ea typeface="微軟正黑體"/>
                          <a:cs typeface="微軟正黑體"/>
                        </a:rPr>
                        <a:t>晶片</a:t>
                      </a:r>
                    </a:p>
                  </a:txBody>
                  <a:tcPr marL="85725" marR="76200" marT="85725" marB="47625" anchor="ctr">
                    <a:solidFill>
                      <a:srgbClr val="FFFFFF"/>
                    </a:solidFill>
                  </a:tcPr>
                </a:tc>
                <a:tc>
                  <a:txBody>
                    <a:bodyPr/>
                    <a:lstStyle/>
                    <a:p>
                      <a:r>
                        <a:rPr sz="1500">
                          <a:solidFill>
                            <a:srgbClr val="172B34"/>
                          </a:solidFill>
                          <a:latin typeface="微軟正黑體"/>
                          <a:ea typeface="微軟正黑體"/>
                          <a:cs typeface="微軟正黑體"/>
                        </a:rPr>
                        <a:t>EIC、PIC設計與製造</a:t>
                      </a:r>
                    </a:p>
                  </a:txBody>
                  <a:tcPr marL="85725" marR="76200" marT="85725" marB="47625" anchor="ctr">
                    <a:solidFill>
                      <a:srgbClr val="FFFFFF"/>
                    </a:solidFill>
                  </a:tcPr>
                </a:tc>
              </a:tr>
              <a:tr h="688875">
                <a:tc>
                  <a:txBody>
                    <a:bodyPr/>
                    <a:lstStyle/>
                    <a:p>
                      <a:r>
                        <a:rPr sz="1500" b="1">
                          <a:solidFill>
                            <a:srgbClr val="076F89"/>
                          </a:solidFill>
                          <a:latin typeface="微軟正黑體"/>
                          <a:ea typeface="微軟正黑體"/>
                          <a:cs typeface="微軟正黑體"/>
                        </a:rPr>
                        <a:t>封裝</a:t>
                      </a:r>
                    </a:p>
                  </a:txBody>
                  <a:tcPr marL="85725" marR="76200" marT="85725" marB="47625" anchor="ctr">
                    <a:solidFill>
                      <a:srgbClr val="F4F9FA"/>
                    </a:solidFill>
                  </a:tcPr>
                </a:tc>
                <a:tc>
                  <a:txBody>
                    <a:bodyPr/>
                    <a:lstStyle/>
                    <a:p>
                      <a:r>
                        <a:rPr sz="1500">
                          <a:solidFill>
                            <a:srgbClr val="172B34"/>
                          </a:solidFill>
                          <a:latin typeface="微軟正黑體"/>
                          <a:ea typeface="微軟正黑體"/>
                          <a:cs typeface="微軟正黑體"/>
                        </a:rPr>
                        <a:t>EIC、PIC先進封裝</a:t>
                      </a:r>
                    </a:p>
                  </a:txBody>
                  <a:tcPr marL="85725" marR="76200" marT="85725" marB="47625" anchor="ctr">
                    <a:solidFill>
                      <a:srgbClr val="F4F9FA"/>
                    </a:solidFill>
                  </a:tcPr>
                </a:tc>
              </a:tr>
              <a:tr h="688875">
                <a:tc>
                  <a:txBody>
                    <a:bodyPr/>
                    <a:lstStyle/>
                    <a:p>
                      <a:r>
                        <a:rPr sz="1500" b="1">
                          <a:solidFill>
                            <a:srgbClr val="076F89"/>
                          </a:solidFill>
                          <a:latin typeface="微軟正黑體"/>
                          <a:ea typeface="微軟正黑體"/>
                          <a:cs typeface="微軟正黑體"/>
                        </a:rPr>
                        <a:t>光學及量測</a:t>
                      </a:r>
                    </a:p>
                  </a:txBody>
                  <a:tcPr marL="85725" marR="76200" marT="85725" marB="47625" anchor="ctr">
                    <a:solidFill>
                      <a:srgbClr val="FFFFFF"/>
                    </a:solidFill>
                  </a:tcPr>
                </a:tc>
                <a:tc>
                  <a:txBody>
                    <a:bodyPr/>
                    <a:lstStyle/>
                    <a:p>
                      <a:r>
                        <a:rPr sz="1500">
                          <a:solidFill>
                            <a:srgbClr val="172B34"/>
                          </a:solidFill>
                          <a:latin typeface="微軟正黑體"/>
                          <a:ea typeface="微軟正黑體"/>
                          <a:cs typeface="微軟正黑體"/>
                        </a:rPr>
                        <a:t>雷射、微透鏡、光耦合、FAU、光學黏膠與訊號量測</a:t>
                      </a:r>
                    </a:p>
                  </a:txBody>
                  <a:tcPr marL="85725" marR="76200" marT="85725" marB="47625" anchor="ctr">
                    <a:solidFill>
                      <a:srgbClr val="FFFFFF"/>
                    </a:solidFill>
                  </a:tcPr>
                </a:tc>
              </a:tr>
            </a:tbl>
          </a:graphicData>
        </a:graphic>
      </p:graphicFrame>
      <p:sp>
        <p:nvSpPr>
          <p:cNvPr id="15368" name="">
            <a:extLst xmlns:a="http://schemas.openxmlformats.org/drawingml/2006/main">
              <a:ext uri="{FF2B5EF4-FFF2-40B4-BE49-F238E27FC236}">
                <a16:creationId xmlns:a16="http://schemas.microsoft.com/office/drawing/2014/main" id="{5230B6D1-9D3F-4070-8C42-D0A4826753A6}"/>
              </a:ext>
            </a:extLst>
          </p:cNvPr>
          <p:cNvSpPr>
            <a:spLocks xmlns:a="http://schemas.openxmlformats.org/drawingml/2006/main" noGrp="1"/>
          </p:cNvSpPr>
          <p:nvPr/>
        </p:nvSpPr>
        <p:spPr>
          <a:xfrm xmlns:a="http://schemas.openxmlformats.org/drawingml/2006/main">
            <a:off x="6231053" y="5968508"/>
            <a:ext cx="5171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4E656E"/>
                </a:solidFill>
                <a:latin typeface="微軟正黑體"/>
                <a:ea typeface="微軟正黑體"/>
                <a:cs typeface="微軟正黑體"/>
              </a:defRPr>
            </a:pPr>
            <a:r>
              <a:rPr sz="1050" b="0">
                <a:solidFill>
                  <a:srgbClr val="4E656E"/>
                </a:solidFill>
                <a:latin typeface="微軟正黑體"/>
                <a:ea typeface="微軟正黑體"/>
                <a:cs typeface="微軟正黑體"/>
              </a:rPr>
              <a:t>下一階段：CPO導入Scale-up網路。</a:t>
            </a:r>
          </a:p>
        </p:txBody>
      </p:sp>
    </p:spTree>
    <p:extLst>
      <p:ext uri="{BB962C8B-B14F-4D97-AF65-F5344CB8AC3E}">
        <p14:creationId xmlns:p14="http://schemas.microsoft.com/office/powerpoint/2010/main" val="251261530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5362" name="標題 3">
            <a:extLst xmlns:a="http://schemas.openxmlformats.org/drawingml/2006/main">
              <a:ext uri="{FF2B5EF4-FFF2-40B4-BE49-F238E27FC236}">
                <a16:creationId xmlns:a16="http://schemas.microsoft.com/office/drawing/2014/main" id="{D0052553-414B-0149-5353-CA3A7D03E857}"/>
              </a:ext>
            </a:extLst>
          </p:cNvPr>
          <p:cNvSpPr>
            <a:spLocks xmlns:a="http://schemas.openxmlformats.org/drawingml/2006/main" noGrp="1"/>
          </p:cNvSpPr>
          <p:nvPr>
            <p:ph type="title" idx="0"/>
          </p:nvPr>
        </p:nvSpPr>
        <p:spPr>
          <a:xfrm xmlns:a="http://schemas.openxmlformats.org/drawingml/2006/main">
            <a:off x="935999" y="288000"/>
            <a:ext cx="10463999" cy="430887"/>
          </a:xfrm>
        </p:spPr>
        <p:txBody>
          <a:bodyPr xmlns:a="http://schemas.openxmlformats.org/drawingml/2006/main">
            <a:noAutofit/>
          </a:bodyPr>
          <a:lstStyle xmlns:a="http://schemas.openxmlformats.org/drawingml/2006/main"/>
          <a:p xmlns:a="http://schemas.openxmlformats.org/drawingml/2006/main">
            <a:r>
              <a:rPr sz="2800" b="1">
                <a:latin typeface="微軟正黑體"/>
                <a:ea typeface="微軟正黑體"/>
                <a:cs typeface="微軟正黑體"/>
              </a:rPr>
              <a:t>升規接棒漲價，量產能力決定優劣</a:t>
            </a:r>
          </a:p>
        </p:txBody>
      </p:sp>
      <p:sp>
        <p:nvSpPr>
          <p:cNvPr id="5" name="文字方塊 14">
            <a:extLst xmlns:a="http://schemas.openxmlformats.org/drawingml/2006/main">
              <a:ext uri="{FF2B5EF4-FFF2-40B4-BE49-F238E27FC236}">
                <a16:creationId xmlns:a16="http://schemas.microsoft.com/office/drawing/2014/main" id="{9C99D567-D09F-0FEC-56C5-3BB1DD958482}"/>
              </a:ext>
            </a:extLst>
          </p:cNvPr>
          <p:cNvSpPr>
            <a:spLocks xmlns:a="http://schemas.openxmlformats.org/drawingml/2006/main" noGrp="1"/>
          </p:cNvSpPr>
          <p:nvPr/>
        </p:nvSpPr>
        <p:spPr>
          <a:xfrm xmlns:a="http://schemas.openxmlformats.org/drawingml/2006/main">
            <a:off x="792001" y="900000"/>
            <a:ext cx="10463999" cy="14935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36000" rIns="36000"/>
          <a:lstStyle xmlns:a="http://schemas.openxmlformats.org/drawingml/2006/main">
            <a:lvl1pPr>
              <a:spcBef>
                <a:spcPct val="30000"/>
              </a:spcBef>
              <a:buClr>
                <a:srgbClr val="00829B"/>
              </a:buClr>
              <a:buSzPct val="70000"/>
              <a:buFont typeface="Wingdings"/>
              <a:buChar char="n"/>
              <a:defRPr sz="2600">
                <a:solidFill>
                  <a:schemeClr val="tx1"/>
                </a:solidFill>
                <a:latin typeface="Doradani Lt"/>
                <a:ea typeface="Doradani Lt"/>
                <a:cs typeface="Doradani Lt"/>
              </a:defRPr>
            </a:lvl1pPr>
            <a:lvl2pPr marL="742950" indent="-285750">
              <a:spcBef>
                <a:spcPct val="30000"/>
              </a:spcBef>
              <a:buSzPct val="70000"/>
              <a:buFont typeface="Wingdings"/>
              <a:buChar char="l"/>
              <a:defRPr sz="2200">
                <a:solidFill>
                  <a:schemeClr val="tx1"/>
                </a:solidFill>
                <a:latin typeface="Doradani Lt"/>
                <a:ea typeface="Doradani Lt"/>
                <a:cs typeface="Doradani Lt"/>
              </a:defRPr>
            </a:lvl2pPr>
            <a:lvl3pPr marL="1143000" indent="-228600">
              <a:spcBef>
                <a:spcPct val="30000"/>
              </a:spcBef>
              <a:buClr>
                <a:srgbClr val="00829B"/>
              </a:buClr>
              <a:buSzPct val="70000"/>
              <a:buFont typeface="Wingdings"/>
              <a:buChar char="n"/>
              <a:defRPr>
                <a:solidFill>
                  <a:schemeClr val="tx1"/>
                </a:solidFill>
                <a:latin typeface="Doradani Lt"/>
                <a:ea typeface="Doradani Lt"/>
                <a:cs typeface="Doradani Lt"/>
              </a:defRPr>
            </a:lvl3pPr>
            <a:lvl4pPr marL="1600200" indent="-228600">
              <a:spcBef>
                <a:spcPct val="30000"/>
              </a:spcBef>
              <a:buFont typeface="Wingdings"/>
              <a:buChar char="l"/>
              <a:defRPr>
                <a:solidFill>
                  <a:schemeClr val="tx1"/>
                </a:solidFill>
                <a:latin typeface="Doradani Lt"/>
                <a:ea typeface="Doradani Lt"/>
                <a:cs typeface="Doradani Lt"/>
              </a:defRPr>
            </a:lvl4pPr>
            <a:lvl5pPr marL="2057400" indent="-228600">
              <a:lnSpc>
                <a:spcPct val="120000"/>
              </a:lnSpc>
              <a:buChar char="»"/>
              <a:defRPr sz="2000">
                <a:solidFill>
                  <a:schemeClr val="tx1"/>
                </a:solidFill>
                <a:latin typeface="Arial"/>
                <a:ea typeface="Arial"/>
                <a:cs typeface="Arial"/>
              </a:defRPr>
            </a:lvl5pPr>
            <a:lvl6pPr marL="2514600" indent="-228600">
              <a:lnSpc>
                <a:spcPct val="120000"/>
              </a:lnSpc>
              <a:spcBef>
                <a:spcPct val="0"/>
              </a:spcBef>
              <a:spcAft>
                <a:spcPct val="0"/>
              </a:spcAft>
              <a:buChar char="»"/>
              <a:defRPr sz="2000">
                <a:solidFill>
                  <a:schemeClr val="tx1"/>
                </a:solidFill>
                <a:latin typeface="Arial"/>
                <a:ea typeface="Arial"/>
                <a:cs typeface="Arial"/>
              </a:defRPr>
            </a:lvl6pPr>
            <a:lvl7pPr marL="2971800" indent="-228600">
              <a:lnSpc>
                <a:spcPct val="120000"/>
              </a:lnSpc>
              <a:spcBef>
                <a:spcPct val="0"/>
              </a:spcBef>
              <a:spcAft>
                <a:spcPct val="0"/>
              </a:spcAft>
              <a:buChar char="»"/>
              <a:defRPr sz="2000">
                <a:solidFill>
                  <a:schemeClr val="tx1"/>
                </a:solidFill>
                <a:latin typeface="Arial"/>
                <a:ea typeface="Arial"/>
                <a:cs typeface="Arial"/>
              </a:defRPr>
            </a:lvl7pPr>
            <a:lvl8pPr marL="3429000" indent="-228600">
              <a:lnSpc>
                <a:spcPct val="120000"/>
              </a:lnSpc>
              <a:spcBef>
                <a:spcPct val="0"/>
              </a:spcBef>
              <a:spcAft>
                <a:spcPct val="0"/>
              </a:spcAft>
              <a:buChar char="»"/>
              <a:defRPr sz="2000">
                <a:solidFill>
                  <a:schemeClr val="tx1"/>
                </a:solidFill>
                <a:latin typeface="Arial"/>
                <a:ea typeface="Arial"/>
                <a:cs typeface="Arial"/>
              </a:defRPr>
            </a:lvl8pPr>
            <a:lvl9pPr marL="3886200" indent="-228600">
              <a:lnSpc>
                <a:spcPct val="120000"/>
              </a:lnSpc>
              <a:spcBef>
                <a:spcPct val="0"/>
              </a:spcBef>
              <a:spcAft>
                <a:spcPct val="0"/>
              </a:spcAft>
              <a:buChar char="»"/>
              <a:defRPr sz="2000">
                <a:solidFill>
                  <a:schemeClr val="tx1"/>
                </a:solidFill>
                <a:latin typeface="Arial"/>
                <a:ea typeface="Arial"/>
                <a:cs typeface="Arial"/>
              </a:defRPr>
            </a:lvl9pPr>
          </a:lstStyle>
          <a:p xmlns:a="http://schemas.openxmlformats.org/drawingml/2006/main">
            <a:pPr marL="285750" indent="-285750">
              <a:buFont typeface="Arial"/>
              <a:buChar char="•"/>
            </a:pPr>
            <a:r>
              <a:rPr sz="1800">
                <a:latin typeface="微軟正黑體"/>
                <a:ea typeface="微軟正黑體"/>
                <a:cs typeface="微軟正黑體"/>
              </a:rPr>
              <a:t>既</a:t>
            </a:r>
            <a:r>
              <a:rPr sz="1800">
                <a:latin typeface="微軟正黑體"/>
                <a:ea typeface="微軟正黑體"/>
                <a:cs typeface="微軟正黑體"/>
              </a:rPr>
              <a:t>有</a:t>
            </a:r>
            <a:r>
              <a:rPr sz="1800">
                <a:latin typeface="微軟正黑體"/>
                <a:ea typeface="微軟正黑體"/>
                <a:cs typeface="微軟正黑體"/>
              </a:rPr>
              <a:t>漲</a:t>
            </a:r>
            <a:r>
              <a:rPr sz="1800">
                <a:latin typeface="微軟正黑體"/>
                <a:ea typeface="微軟正黑體"/>
                <a:cs typeface="微軟正黑體"/>
              </a:rPr>
              <a:t>價</a:t>
            </a:r>
            <a:r>
              <a:rPr sz="1800">
                <a:latin typeface="微軟正黑體"/>
                <a:ea typeface="微軟正黑體"/>
                <a:cs typeface="微軟正黑體"/>
              </a:rPr>
              <a:t>多</a:t>
            </a:r>
            <a:r>
              <a:rPr sz="1800">
                <a:latin typeface="微軟正黑體"/>
                <a:ea typeface="微軟正黑體"/>
                <a:cs typeface="微軟正黑體"/>
              </a:rPr>
              <a:t>已</a:t>
            </a:r>
            <a:r>
              <a:rPr sz="1800">
                <a:latin typeface="微軟正黑體"/>
                <a:ea typeface="微軟正黑體"/>
                <a:cs typeface="微軟正黑體"/>
              </a:rPr>
              <a:t>納</a:t>
            </a:r>
            <a:r>
              <a:rPr sz="1800">
                <a:latin typeface="微軟正黑體"/>
                <a:ea typeface="微軟正黑體"/>
                <a:cs typeface="微軟正黑體"/>
              </a:rPr>
              <a:t>入</a:t>
            </a:r>
            <a:r>
              <a:rPr sz="1800">
                <a:latin typeface="微軟正黑體"/>
                <a:ea typeface="微軟正黑體"/>
                <a:cs typeface="微軟正黑體"/>
              </a:rPr>
              <a:t>市</a:t>
            </a:r>
            <a:r>
              <a:rPr sz="1800">
                <a:latin typeface="微軟正黑體"/>
                <a:ea typeface="微軟正黑體"/>
                <a:cs typeface="微軟正黑體"/>
              </a:rPr>
              <a:t>場</a:t>
            </a:r>
            <a:r>
              <a:rPr sz="1800">
                <a:latin typeface="微軟正黑體"/>
                <a:ea typeface="微軟正黑體"/>
                <a:cs typeface="微軟正黑體"/>
              </a:rPr>
              <a:t>預</a:t>
            </a:r>
            <a:r>
              <a:rPr sz="1800">
                <a:latin typeface="微軟正黑體"/>
                <a:ea typeface="微軟正黑體"/>
                <a:cs typeface="微軟正黑體"/>
              </a:rPr>
              <a:t>期</a:t>
            </a:r>
            <a:r>
              <a:rPr sz="1800">
                <a:latin typeface="微軟正黑體"/>
                <a:ea typeface="微軟正黑體"/>
                <a:cs typeface="微軟正黑體"/>
              </a:rPr>
              <a:t>，</a:t>
            </a:r>
            <a:r>
              <a:rPr sz="1800">
                <a:latin typeface="微軟正黑體"/>
                <a:ea typeface="微軟正黑體"/>
                <a:cs typeface="微軟正黑體"/>
              </a:rPr>
              <a:t>4Q26</a:t>
            </a:r>
            <a:r>
              <a:rPr sz="1800">
                <a:latin typeface="微軟正黑體"/>
                <a:ea typeface="微軟正黑體"/>
                <a:cs typeface="微軟正黑體"/>
              </a:rPr>
              <a:t>零</a:t>
            </a:r>
            <a:r>
              <a:rPr sz="1800">
                <a:latin typeface="微軟正黑體"/>
                <a:ea typeface="微軟正黑體"/>
                <a:cs typeface="微軟正黑體"/>
              </a:rPr>
              <a:t>組</a:t>
            </a:r>
            <a:r>
              <a:rPr sz="1800">
                <a:latin typeface="微軟正黑體"/>
                <a:ea typeface="微軟正黑體"/>
                <a:cs typeface="微軟正黑體"/>
              </a:rPr>
              <a:t>件</a:t>
            </a:r>
            <a:r>
              <a:rPr sz="1800">
                <a:latin typeface="微軟正黑體"/>
                <a:ea typeface="微軟正黑體"/>
                <a:cs typeface="微軟正黑體"/>
              </a:rPr>
              <a:t>選</a:t>
            </a:r>
            <a:r>
              <a:rPr sz="1800">
                <a:latin typeface="微軟正黑體"/>
                <a:ea typeface="微軟正黑體"/>
                <a:cs typeface="微軟正黑體"/>
              </a:rPr>
              <a:t>股</a:t>
            </a:r>
            <a:r>
              <a:rPr sz="1800">
                <a:latin typeface="微軟正黑體"/>
                <a:ea typeface="微軟正黑體"/>
                <a:cs typeface="微軟正黑體"/>
              </a:rPr>
              <a:t>轉</a:t>
            </a:r>
            <a:r>
              <a:rPr sz="1800">
                <a:latin typeface="微軟正黑體"/>
                <a:ea typeface="微軟正黑體"/>
                <a:cs typeface="微軟正黑體"/>
              </a:rPr>
              <a:t>看</a:t>
            </a:r>
            <a:r>
              <a:rPr sz="1800">
                <a:latin typeface="微軟正黑體"/>
                <a:ea typeface="微軟正黑體"/>
                <a:cs typeface="微軟正黑體"/>
              </a:rPr>
              <a:t>規</a:t>
            </a:r>
            <a:r>
              <a:rPr sz="1800">
                <a:latin typeface="微軟正黑體"/>
                <a:ea typeface="微軟正黑體"/>
                <a:cs typeface="微軟正黑體"/>
              </a:rPr>
              <a:t>格</a:t>
            </a:r>
            <a:r>
              <a:rPr sz="1800">
                <a:latin typeface="微軟正黑體"/>
                <a:ea typeface="微軟正黑體"/>
                <a:cs typeface="微軟正黑體"/>
              </a:rPr>
              <a:t>升</a:t>
            </a:r>
            <a:r>
              <a:rPr sz="1800">
                <a:latin typeface="微軟正黑體"/>
                <a:ea typeface="微軟正黑體"/>
                <a:cs typeface="微軟正黑體"/>
              </a:rPr>
              <a:t>級</a:t>
            </a:r>
            <a:r>
              <a:rPr sz="1800">
                <a:latin typeface="微軟正黑體"/>
                <a:ea typeface="微軟正黑體"/>
                <a:cs typeface="微軟正黑體"/>
              </a:rPr>
              <a:t>。</a:t>
            </a:r>
            <a:r>
              <a:rPr sz="1800">
                <a:latin typeface="微軟正黑體"/>
                <a:ea typeface="微軟正黑體"/>
                <a:cs typeface="微軟正黑體"/>
              </a:rPr>
              <a:t>CCL</a:t>
            </a:r>
            <a:r>
              <a:rPr sz="1800">
                <a:latin typeface="微軟正黑體"/>
                <a:ea typeface="微軟正黑體"/>
                <a:cs typeface="微軟正黑體"/>
              </a:rPr>
              <a:t> </a:t>
            </a:r>
            <a:r>
              <a:rPr sz="1800">
                <a:latin typeface="微軟正黑體"/>
                <a:ea typeface="微軟正黑體"/>
                <a:cs typeface="微軟正黑體"/>
              </a:rPr>
              <a:t>M8</a:t>
            </a:r>
            <a:r>
              <a:rPr sz="1800">
                <a:latin typeface="微軟正黑體"/>
                <a:ea typeface="微軟正黑體"/>
                <a:cs typeface="微軟正黑體"/>
              </a:rPr>
              <a:t>／</a:t>
            </a:r>
            <a:r>
              <a:rPr sz="1800">
                <a:latin typeface="微軟正黑體"/>
                <a:ea typeface="微軟正黑體"/>
                <a:cs typeface="微軟正黑體"/>
              </a:rPr>
              <a:t>M9</a:t>
            </a:r>
            <a:r>
              <a:rPr sz="1800">
                <a:latin typeface="微軟正黑體"/>
                <a:ea typeface="微軟正黑體"/>
                <a:cs typeface="微軟正黑體"/>
              </a:rPr>
              <a:t>及</a:t>
            </a:r>
            <a:r>
              <a:rPr sz="1800">
                <a:latin typeface="微軟正黑體"/>
                <a:ea typeface="微軟正黑體"/>
                <a:cs typeface="微軟正黑體"/>
              </a:rPr>
              <a:t>高</a:t>
            </a:r>
            <a:r>
              <a:rPr sz="1800">
                <a:latin typeface="微軟正黑體"/>
                <a:ea typeface="微軟正黑體"/>
                <a:cs typeface="微軟正黑體"/>
              </a:rPr>
              <a:t>壓</a:t>
            </a:r>
            <a:r>
              <a:rPr sz="1800">
                <a:latin typeface="微軟正黑體"/>
                <a:ea typeface="微軟正黑體"/>
                <a:cs typeface="微軟正黑體"/>
              </a:rPr>
              <a:t>電</a:t>
            </a:r>
            <a:r>
              <a:rPr sz="1800">
                <a:latin typeface="微軟正黑體"/>
                <a:ea typeface="微軟正黑體"/>
                <a:cs typeface="微軟正黑體"/>
              </a:rPr>
              <a:t>容</a:t>
            </a:r>
            <a:r>
              <a:rPr sz="1800">
                <a:latin typeface="微軟正黑體"/>
                <a:ea typeface="微軟正黑體"/>
                <a:cs typeface="微軟正黑體"/>
              </a:rPr>
              <a:t>為</a:t>
            </a:r>
            <a:r>
              <a:rPr sz="1800">
                <a:latin typeface="微軟正黑體"/>
                <a:ea typeface="微軟正黑體"/>
                <a:cs typeface="微軟正黑體"/>
              </a:rPr>
              <a:t>AI</a:t>
            </a:r>
            <a:r>
              <a:rPr sz="1800">
                <a:latin typeface="微軟正黑體"/>
                <a:ea typeface="微軟正黑體"/>
                <a:cs typeface="微軟正黑體"/>
              </a:rPr>
              <a:t>平</a:t>
            </a:r>
            <a:r>
              <a:rPr sz="1800">
                <a:latin typeface="微軟正黑體"/>
                <a:ea typeface="微軟正黑體"/>
                <a:cs typeface="微軟正黑體"/>
              </a:rPr>
              <a:t>台</a:t>
            </a:r>
            <a:r>
              <a:rPr sz="1800">
                <a:latin typeface="微軟正黑體"/>
                <a:ea typeface="微軟正黑體"/>
                <a:cs typeface="微軟正黑體"/>
              </a:rPr>
              <a:t>升</a:t>
            </a:r>
            <a:r>
              <a:rPr sz="1800">
                <a:latin typeface="微軟正黑體"/>
                <a:ea typeface="微軟正黑體"/>
                <a:cs typeface="微軟正黑體"/>
              </a:rPr>
              <a:t>級</a:t>
            </a:r>
            <a:r>
              <a:rPr sz="1800">
                <a:latin typeface="微軟正黑體"/>
                <a:ea typeface="微軟正黑體"/>
                <a:cs typeface="微軟正黑體"/>
              </a:rPr>
              <a:t>重</a:t>
            </a:r>
            <a:r>
              <a:rPr sz="1800">
                <a:latin typeface="微軟正黑體"/>
                <a:ea typeface="微軟正黑體"/>
                <a:cs typeface="微軟正黑體"/>
              </a:rPr>
              <a:t>點</a:t>
            </a:r>
            <a:r>
              <a:rPr sz="1800">
                <a:latin typeface="微軟正黑體"/>
                <a:ea typeface="微軟正黑體"/>
                <a:cs typeface="微軟正黑體"/>
              </a:rPr>
              <a:t>，</a:t>
            </a:r>
            <a:r>
              <a:rPr sz="1800">
                <a:latin typeface="微軟正黑體"/>
                <a:ea typeface="微軟正黑體"/>
                <a:cs typeface="微軟正黑體"/>
              </a:rPr>
              <a:t>率</a:t>
            </a:r>
            <a:r>
              <a:rPr sz="1800">
                <a:latin typeface="微軟正黑體"/>
                <a:ea typeface="微軟正黑體"/>
                <a:cs typeface="微軟正黑體"/>
              </a:rPr>
              <a:t>先</a:t>
            </a:r>
            <a:r>
              <a:rPr sz="1800">
                <a:latin typeface="微軟正黑體"/>
                <a:ea typeface="微軟正黑體"/>
                <a:cs typeface="微軟正黑體"/>
              </a:rPr>
              <a:t>升</a:t>
            </a:r>
            <a:r>
              <a:rPr sz="1800">
                <a:latin typeface="微軟正黑體"/>
                <a:ea typeface="微軟正黑體"/>
                <a:cs typeface="微軟正黑體"/>
              </a:rPr>
              <a:t>規</a:t>
            </a:r>
            <a:r>
              <a:rPr sz="1800">
                <a:latin typeface="微軟正黑體"/>
                <a:ea typeface="微軟正黑體"/>
                <a:cs typeface="微軟正黑體"/>
              </a:rPr>
              <a:t>並</a:t>
            </a:r>
            <a:r>
              <a:rPr sz="1800">
                <a:latin typeface="微軟正黑體"/>
                <a:ea typeface="微軟正黑體"/>
                <a:cs typeface="微軟正黑體"/>
              </a:rPr>
              <a:t>量</a:t>
            </a:r>
            <a:r>
              <a:rPr sz="1800">
                <a:latin typeface="微軟正黑體"/>
                <a:ea typeface="微軟正黑體"/>
                <a:cs typeface="微軟正黑體"/>
              </a:rPr>
              <a:t>產</a:t>
            </a:r>
            <a:r>
              <a:rPr sz="1800">
                <a:latin typeface="微軟正黑體"/>
                <a:ea typeface="微軟正黑體"/>
                <a:cs typeface="微軟正黑體"/>
              </a:rPr>
              <a:t>者</a:t>
            </a:r>
            <a:r>
              <a:rPr sz="1800">
                <a:latin typeface="微軟正黑體"/>
                <a:ea typeface="微軟正黑體"/>
                <a:cs typeface="微軟正黑體"/>
              </a:rPr>
              <a:t>較</a:t>
            </a:r>
            <a:r>
              <a:rPr sz="1800">
                <a:latin typeface="微軟正黑體"/>
                <a:ea typeface="微軟正黑體"/>
                <a:cs typeface="微軟正黑體"/>
              </a:rPr>
              <a:t>具</a:t>
            </a:r>
            <a:r>
              <a:rPr sz="1800">
                <a:latin typeface="微軟正黑體"/>
                <a:ea typeface="微軟正黑體"/>
                <a:cs typeface="微軟正黑體"/>
              </a:rPr>
              <a:t>競</a:t>
            </a:r>
            <a:r>
              <a:rPr sz="1800">
                <a:latin typeface="微軟正黑體"/>
                <a:ea typeface="微軟正黑體"/>
                <a:cs typeface="微軟正黑體"/>
              </a:rPr>
              <a:t>爭</a:t>
            </a:r>
            <a:r>
              <a:rPr sz="1800">
                <a:latin typeface="微軟正黑體"/>
                <a:ea typeface="微軟正黑體"/>
                <a:cs typeface="微軟正黑體"/>
              </a:rPr>
              <a:t>優</a:t>
            </a:r>
            <a:r>
              <a:rPr sz="1800">
                <a:latin typeface="微軟正黑體"/>
                <a:ea typeface="微軟正黑體"/>
                <a:cs typeface="微軟正黑體"/>
              </a:rPr>
              <a:t>勢</a:t>
            </a:r>
            <a:r>
              <a:rPr sz="1800">
                <a:latin typeface="微軟正黑體"/>
                <a:ea typeface="微軟正黑體"/>
                <a:cs typeface="微軟正黑體"/>
              </a:rPr>
              <a:t>。</a:t>
            </a:r>
            <a:endParaRPr sz="1800">
              <a:latin typeface="微軟正黑體"/>
              <a:ea typeface="微軟正黑體"/>
              <a:cs typeface="微軟正黑體"/>
            </a:endParaRPr>
          </a:p>
          <a:p xmlns:a="http://schemas.openxmlformats.org/drawingml/2006/main">
            <a:pPr marL="285750" indent="-285750">
              <a:buFont typeface="Arial"/>
              <a:buChar char="•"/>
            </a:pPr>
            <a:r>
              <a:rPr sz="1800">
                <a:latin typeface="微軟正黑體"/>
                <a:ea typeface="微軟正黑體"/>
                <a:cs typeface="微軟正黑體"/>
              </a:rPr>
              <a:t>Vera</a:t>
            </a:r>
            <a:r>
              <a:rPr sz="1800">
                <a:latin typeface="微軟正黑體"/>
                <a:ea typeface="微軟正黑體"/>
                <a:cs typeface="微軟正黑體"/>
              </a:rPr>
              <a:t> </a:t>
            </a:r>
            <a:r>
              <a:rPr sz="1800">
                <a:latin typeface="微軟正黑體"/>
                <a:ea typeface="微軟正黑體"/>
                <a:cs typeface="微軟正黑體"/>
              </a:rPr>
              <a:t>Rubin</a:t>
            </a:r>
            <a:r>
              <a:rPr sz="1800">
                <a:latin typeface="微軟正黑體"/>
                <a:ea typeface="微軟正黑體"/>
                <a:cs typeface="微軟正黑體"/>
              </a:rPr>
              <a:t>單</a:t>
            </a:r>
            <a:r>
              <a:rPr sz="1800">
                <a:latin typeface="微軟正黑體"/>
                <a:ea typeface="微軟正黑體"/>
                <a:cs typeface="微軟正黑體"/>
              </a:rPr>
              <a:t>櫃</a:t>
            </a:r>
            <a:r>
              <a:rPr sz="1800">
                <a:latin typeface="微軟正黑體"/>
                <a:ea typeface="微軟正黑體"/>
                <a:cs typeface="微軟正黑體"/>
              </a:rPr>
              <a:t>功</a:t>
            </a:r>
            <a:r>
              <a:rPr sz="1800">
                <a:latin typeface="微軟正黑體"/>
                <a:ea typeface="微軟正黑體"/>
                <a:cs typeface="微軟正黑體"/>
              </a:rPr>
              <a:t>耗</a:t>
            </a:r>
            <a:r>
              <a:rPr sz="1800">
                <a:latin typeface="微軟正黑體"/>
                <a:ea typeface="微軟正黑體"/>
                <a:cs typeface="微軟正黑體"/>
              </a:rPr>
              <a:t>將</a:t>
            </a:r>
            <a:r>
              <a:rPr sz="1800">
                <a:latin typeface="微軟正黑體"/>
                <a:ea typeface="微軟正黑體"/>
                <a:cs typeface="微軟正黑體"/>
              </a:rPr>
              <a:t>逾</a:t>
            </a:r>
            <a:r>
              <a:rPr sz="1800">
                <a:latin typeface="微軟正黑體"/>
                <a:ea typeface="微軟正黑體"/>
                <a:cs typeface="微軟正黑體"/>
              </a:rPr>
              <a:t>200kW</a:t>
            </a:r>
            <a:r>
              <a:rPr sz="1800">
                <a:latin typeface="微軟正黑體"/>
                <a:ea typeface="微軟正黑體"/>
                <a:cs typeface="微軟正黑體"/>
              </a:rPr>
              <a:t>，</a:t>
            </a:r>
            <a:r>
              <a:rPr sz="1800">
                <a:latin typeface="微軟正黑體"/>
                <a:ea typeface="微軟正黑體"/>
                <a:cs typeface="微軟正黑體"/>
              </a:rPr>
              <a:t>推</a:t>
            </a:r>
            <a:r>
              <a:rPr sz="1800">
                <a:latin typeface="微軟正黑體"/>
                <a:ea typeface="微軟正黑體"/>
                <a:cs typeface="微軟正黑體"/>
              </a:rPr>
              <a:t>升</a:t>
            </a:r>
            <a:r>
              <a:rPr sz="1800">
                <a:latin typeface="微軟正黑體"/>
                <a:ea typeface="微軟正黑體"/>
                <a:cs typeface="微軟正黑體"/>
              </a:rPr>
              <a:t>高</a:t>
            </a:r>
            <a:r>
              <a:rPr sz="1800">
                <a:latin typeface="微軟正黑體"/>
                <a:ea typeface="微軟正黑體"/>
                <a:cs typeface="微軟正黑體"/>
              </a:rPr>
              <a:t>功</a:t>
            </a:r>
            <a:r>
              <a:rPr sz="1800">
                <a:latin typeface="微軟正黑體"/>
                <a:ea typeface="微軟正黑體"/>
                <a:cs typeface="微軟正黑體"/>
              </a:rPr>
              <a:t>率</a:t>
            </a:r>
            <a:r>
              <a:rPr sz="1800">
                <a:latin typeface="微軟正黑體"/>
                <a:ea typeface="微軟正黑體"/>
                <a:cs typeface="微軟正黑體"/>
              </a:rPr>
              <a:t>電</a:t>
            </a:r>
            <a:r>
              <a:rPr sz="1800">
                <a:latin typeface="微軟正黑體"/>
                <a:ea typeface="微軟正黑體"/>
                <a:cs typeface="微軟正黑體"/>
              </a:rPr>
              <a:t>源</a:t>
            </a:r>
            <a:r>
              <a:rPr sz="1800">
                <a:latin typeface="微軟正黑體"/>
                <a:ea typeface="微軟正黑體"/>
                <a:cs typeface="微軟正黑體"/>
              </a:rPr>
              <a:t>與</a:t>
            </a:r>
            <a:r>
              <a:rPr sz="1800">
                <a:latin typeface="微軟正黑體"/>
                <a:ea typeface="微軟正黑體"/>
                <a:cs typeface="微軟正黑體"/>
              </a:rPr>
              <a:t>800VDC</a:t>
            </a:r>
            <a:r>
              <a:rPr sz="1800">
                <a:latin typeface="微軟正黑體"/>
                <a:ea typeface="微軟正黑體"/>
                <a:cs typeface="微軟正黑體"/>
              </a:rPr>
              <a:t>需</a:t>
            </a:r>
            <a:r>
              <a:rPr sz="1800">
                <a:latin typeface="微軟正黑體"/>
                <a:ea typeface="微軟正黑體"/>
                <a:cs typeface="微軟正黑體"/>
              </a:rPr>
              <a:t>求</a:t>
            </a:r>
            <a:r>
              <a:rPr sz="1800">
                <a:latin typeface="微軟正黑體"/>
                <a:ea typeface="微軟正黑體"/>
                <a:cs typeface="微軟正黑體"/>
              </a:rPr>
              <a:t>，</a:t>
            </a:r>
            <a:r>
              <a:rPr sz="1800">
                <a:latin typeface="微軟正黑體"/>
                <a:ea typeface="微軟正黑體"/>
                <a:cs typeface="微軟正黑體"/>
              </a:rPr>
              <a:t>高</a:t>
            </a:r>
            <a:r>
              <a:rPr sz="1800">
                <a:latin typeface="微軟正黑體"/>
                <a:ea typeface="微軟正黑體"/>
                <a:cs typeface="微軟正黑體"/>
              </a:rPr>
              <a:t>階</a:t>
            </a:r>
            <a:r>
              <a:rPr sz="1800">
                <a:latin typeface="微軟正黑體"/>
                <a:ea typeface="微軟正黑體"/>
                <a:cs typeface="微軟正黑體"/>
              </a:rPr>
              <a:t>CCL</a:t>
            </a:r>
            <a:r>
              <a:rPr sz="1800">
                <a:latin typeface="微軟正黑體"/>
                <a:ea typeface="微軟正黑體"/>
                <a:cs typeface="微軟正黑體"/>
              </a:rPr>
              <a:t>亦</a:t>
            </a:r>
            <a:r>
              <a:rPr sz="1800">
                <a:latin typeface="微軟正黑體"/>
                <a:ea typeface="微軟正黑體"/>
                <a:cs typeface="微軟正黑體"/>
              </a:rPr>
              <a:t>改</a:t>
            </a:r>
            <a:r>
              <a:rPr sz="1800">
                <a:latin typeface="微軟正黑體"/>
                <a:ea typeface="微軟正黑體"/>
                <a:cs typeface="微軟正黑體"/>
              </a:rPr>
              <a:t>善</a:t>
            </a:r>
            <a:r>
              <a:rPr sz="1800">
                <a:latin typeface="微軟正黑體"/>
                <a:ea typeface="微軟正黑體"/>
                <a:cs typeface="微軟正黑體"/>
              </a:rPr>
              <a:t>產</a:t>
            </a:r>
            <a:r>
              <a:rPr sz="1800">
                <a:latin typeface="微軟正黑體"/>
                <a:ea typeface="微軟正黑體"/>
                <a:cs typeface="微軟正黑體"/>
              </a:rPr>
              <a:t>品</a:t>
            </a:r>
            <a:r>
              <a:rPr sz="1800">
                <a:latin typeface="微軟正黑體"/>
                <a:ea typeface="微軟正黑體"/>
                <a:cs typeface="微軟正黑體"/>
              </a:rPr>
              <a:t>組</a:t>
            </a:r>
            <a:r>
              <a:rPr sz="1800">
                <a:latin typeface="微軟正黑體"/>
                <a:ea typeface="微軟正黑體"/>
                <a:cs typeface="微軟正黑體"/>
              </a:rPr>
              <a:t>合</a:t>
            </a:r>
            <a:r>
              <a:rPr sz="1800">
                <a:latin typeface="微軟正黑體"/>
                <a:ea typeface="微軟正黑體"/>
                <a:cs typeface="微軟正黑體"/>
              </a:rPr>
              <a:t>。</a:t>
            </a:r>
            <a:r>
              <a:rPr sz="1800">
                <a:latin typeface="微軟正黑體"/>
                <a:ea typeface="微軟正黑體"/>
                <a:cs typeface="微軟正黑體"/>
              </a:rPr>
              <a:t>原</a:t>
            </a:r>
            <a:r>
              <a:rPr sz="1800">
                <a:latin typeface="微軟正黑體"/>
                <a:ea typeface="微軟正黑體"/>
                <a:cs typeface="微軟正黑體"/>
              </a:rPr>
              <a:t>報</a:t>
            </a:r>
            <a:r>
              <a:rPr sz="1800">
                <a:latin typeface="微軟正黑體"/>
                <a:ea typeface="微軟正黑體"/>
                <a:cs typeface="微軟正黑體"/>
              </a:rPr>
              <a:t>告</a:t>
            </a:r>
            <a:r>
              <a:rPr sz="1800">
                <a:latin typeface="微軟正黑體"/>
                <a:ea typeface="微軟正黑體"/>
                <a:cs typeface="微軟正黑體"/>
              </a:rPr>
              <a:t>升</a:t>
            </a:r>
            <a:r>
              <a:rPr sz="1800">
                <a:latin typeface="微軟正黑體"/>
                <a:ea typeface="微軟正黑體"/>
                <a:cs typeface="微軟正黑體"/>
              </a:rPr>
              <a:t>規</a:t>
            </a:r>
            <a:r>
              <a:rPr sz="1800">
                <a:latin typeface="微軟正黑體"/>
                <a:ea typeface="微軟正黑體"/>
                <a:cs typeface="微軟正黑體"/>
              </a:rPr>
              <a:t>名</a:t>
            </a:r>
            <a:r>
              <a:rPr sz="1800">
                <a:latin typeface="微軟正黑體"/>
                <a:ea typeface="微軟正黑體"/>
                <a:cs typeface="微軟正黑體"/>
              </a:rPr>
              <a:t>單</a:t>
            </a:r>
            <a:r>
              <a:rPr sz="1800">
                <a:latin typeface="微軟正黑體"/>
                <a:ea typeface="微軟正黑體"/>
                <a:cs typeface="微軟正黑體"/>
              </a:rPr>
              <a:t>包</a:t>
            </a:r>
            <a:r>
              <a:rPr sz="1800">
                <a:latin typeface="微軟正黑體"/>
                <a:ea typeface="微軟正黑體"/>
                <a:cs typeface="微軟正黑體"/>
              </a:rPr>
              <a:t>括</a:t>
            </a:r>
            <a:r>
              <a:rPr sz="1800">
                <a:latin typeface="微軟正黑體"/>
                <a:ea typeface="微軟正黑體"/>
                <a:cs typeface="微軟正黑體"/>
              </a:rPr>
              <a:t>川</a:t>
            </a:r>
            <a:r>
              <a:rPr sz="1800">
                <a:latin typeface="微軟正黑體"/>
                <a:ea typeface="微軟正黑體"/>
                <a:cs typeface="微軟正黑體"/>
              </a:rPr>
              <a:t>湖</a:t>
            </a:r>
            <a:r>
              <a:rPr sz="1800">
                <a:latin typeface="微軟正黑體"/>
                <a:ea typeface="微軟正黑體"/>
                <a:cs typeface="微軟正黑體"/>
              </a:rPr>
              <a:t>、</a:t>
            </a:r>
            <a:r>
              <a:rPr sz="1800">
                <a:latin typeface="微軟正黑體"/>
                <a:ea typeface="微軟正黑體"/>
                <a:cs typeface="微軟正黑體"/>
              </a:rPr>
              <a:t>奇</a:t>
            </a:r>
            <a:r>
              <a:rPr sz="1800">
                <a:latin typeface="微軟正黑體"/>
                <a:ea typeface="微軟正黑體"/>
                <a:cs typeface="微軟正黑體"/>
              </a:rPr>
              <a:t>鋐</a:t>
            </a:r>
            <a:r>
              <a:rPr sz="1800">
                <a:latin typeface="微軟正黑體"/>
                <a:ea typeface="微軟正黑體"/>
                <a:cs typeface="微軟正黑體"/>
              </a:rPr>
              <a:t>、</a:t>
            </a:r>
            <a:r>
              <a:rPr sz="1800">
                <a:latin typeface="微軟正黑體"/>
                <a:ea typeface="微軟正黑體"/>
                <a:cs typeface="微軟正黑體"/>
              </a:rPr>
              <a:t>全</a:t>
            </a:r>
            <a:r>
              <a:rPr sz="1800">
                <a:latin typeface="微軟正黑體"/>
                <a:ea typeface="微軟正黑體"/>
                <a:cs typeface="微軟正黑體"/>
              </a:rPr>
              <a:t>新</a:t>
            </a:r>
            <a:r>
              <a:rPr sz="1800">
                <a:latin typeface="微軟正黑體"/>
                <a:ea typeface="微軟正黑體"/>
                <a:cs typeface="微軟正黑體"/>
              </a:rPr>
              <a:t>及</a:t>
            </a:r>
            <a:r>
              <a:rPr sz="1800">
                <a:latin typeface="微軟正黑體"/>
                <a:ea typeface="微軟正黑體"/>
                <a:cs typeface="微軟正黑體"/>
              </a:rPr>
              <a:t>貿</a:t>
            </a:r>
            <a:r>
              <a:rPr sz="1800">
                <a:latin typeface="微軟正黑體"/>
                <a:ea typeface="微軟正黑體"/>
                <a:cs typeface="微軟正黑體"/>
              </a:rPr>
              <a:t>聯</a:t>
            </a:r>
            <a:r>
              <a:rPr sz="1800">
                <a:latin typeface="微軟正黑體"/>
                <a:ea typeface="微軟正黑體"/>
                <a:cs typeface="微軟正黑體"/>
              </a:rPr>
              <a:t>-</a:t>
            </a:r>
            <a:r>
              <a:rPr sz="1800">
                <a:latin typeface="微軟正黑體"/>
                <a:ea typeface="微軟正黑體"/>
                <a:cs typeface="微軟正黑體"/>
              </a:rPr>
              <a:t>KY</a:t>
            </a:r>
            <a:r>
              <a:rPr sz="1800">
                <a:latin typeface="微軟正黑體"/>
                <a:ea typeface="微軟正黑體"/>
                <a:cs typeface="微軟正黑體"/>
              </a:rPr>
              <a:t>。</a:t>
            </a:r>
            <a:endParaRPr sz="1800">
              <a:latin typeface="微軟正黑體"/>
              <a:ea typeface="微軟正黑體"/>
              <a:cs typeface="微軟正黑體"/>
            </a:endParaRPr>
          </a:p>
        </p:txBody>
      </p:sp>
      <p:sp>
        <p:nvSpPr>
          <p:cNvPr id="12" name="矩形 11">
            <a:extLst xmlns:a="http://schemas.openxmlformats.org/drawingml/2006/main">
              <a:ext uri="{FF2B5EF4-FFF2-40B4-BE49-F238E27FC236}">
                <a16:creationId xmlns:a16="http://schemas.microsoft.com/office/drawing/2014/main" id="{D458EA3A-EC57-A4D3-E5FC-606D51CB141D}"/>
              </a:ext>
            </a:extLst>
          </p:cNvPr>
          <p:cNvSpPr>
            <a:spLocks xmlns:a="http://schemas.openxmlformats.org/drawingml/2006/main" noGrp="1"/>
          </p:cNvSpPr>
          <p:nvPr/>
        </p:nvSpPr>
        <p:spPr>
          <a:xfrm xmlns:a="http://schemas.openxmlformats.org/drawingml/2006/main">
            <a:off x="8262257" y="6542809"/>
            <a:ext cx="3137741" cy="307777"/>
          </a:xfrm>
          <a:prstGeom xmlns:a="http://schemas.openxmlformats.org/drawingml/2006/main" prst="rect">
            <a:avLst/>
          </a:prstGeom>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buNone/>
            </a:pPr>
            <a:r>
              <a:rPr sz="1400">
                <a:latin typeface="微軟正黑體"/>
                <a:ea typeface="微軟正黑體"/>
                <a:cs typeface="微軟正黑體"/>
              </a:rPr>
              <a:t>資料來源：富邦投顧(2026/9/30)</a:t>
            </a:r>
            <a:endParaRPr sz="1400"/>
          </a:p>
        </p:txBody>
      </p:sp>
      <p:sp>
        <p:nvSpPr>
          <p:cNvPr id="2" name="文字方塊 1">
            <a:extLst xmlns:a="http://schemas.openxmlformats.org/drawingml/2006/main">
              <a:ext uri="{FF2B5EF4-FFF2-40B4-BE49-F238E27FC236}">
                <a16:creationId xmlns:a16="http://schemas.microsoft.com/office/drawing/2014/main" id="{86251B1F-8ACA-0C62-E227-25E855E1FB02}"/>
              </a:ext>
            </a:extLst>
          </p:cNvPr>
          <p:cNvSpPr>
            <a:spLocks xmlns:a="http://schemas.openxmlformats.org/drawingml/2006/main" noGrp="1"/>
          </p:cNvSpPr>
          <p:nvPr/>
        </p:nvSpPr>
        <p:spPr>
          <a:xfrm xmlns:a="http://schemas.openxmlformats.org/drawingml/2006/main">
            <a:off x="2431885" y="2262651"/>
            <a:ext cx="1338828"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b="1">
                <a:latin typeface="微軟正黑體"/>
                <a:ea typeface="微軟正黑體"/>
                <a:cs typeface="微軟正黑體"/>
              </a:rPr>
              <a:t>電源升規</a:t>
            </a:r>
            <a:endParaRPr/>
          </a:p>
        </p:txBody>
      </p:sp>
      <p:sp>
        <p:nvSpPr>
          <p:cNvPr id="8" name="文字方塊 7">
            <a:extLst xmlns:a="http://schemas.openxmlformats.org/drawingml/2006/main">
              <a:ext uri="{FF2B5EF4-FFF2-40B4-BE49-F238E27FC236}">
                <a16:creationId xmlns:a16="http://schemas.microsoft.com/office/drawing/2014/main" id="{D9F034B6-A874-95BD-5D6A-382DD9C5D182}"/>
              </a:ext>
            </a:extLst>
          </p:cNvPr>
          <p:cNvSpPr>
            <a:spLocks xmlns:a="http://schemas.openxmlformats.org/drawingml/2006/main" noGrp="1"/>
          </p:cNvSpPr>
          <p:nvPr/>
        </p:nvSpPr>
        <p:spPr>
          <a:xfrm xmlns:a="http://schemas.openxmlformats.org/drawingml/2006/main">
            <a:off x="7787751" y="2239517"/>
            <a:ext cx="1800493"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b="1">
                <a:latin typeface="微軟正黑體"/>
                <a:ea typeface="微軟正黑體"/>
                <a:cs typeface="微軟正黑體"/>
              </a:rPr>
              <a:t>高階CCL占比</a:t>
            </a:r>
            <a:endParaRPr/>
          </a:p>
        </p:txBody>
      </p:sp>
      <p:sp>
        <p:nvSpPr>
          <p:cNvPr id="15363" name="">
            <a:extLst xmlns:a="http://schemas.openxmlformats.org/drawingml/2006/main">
              <a:ext uri="{FF2B5EF4-FFF2-40B4-BE49-F238E27FC236}">
                <a16:creationId xmlns:a16="http://schemas.microsoft.com/office/drawing/2014/main" id="{7B02A91F-D737-4BC8-8F26-F0A35DDE63CC}"/>
              </a:ext>
            </a:extLst>
          </p:cNvPr>
          <p:cNvSpPr>
            <a:spLocks xmlns:a="http://schemas.openxmlformats.org/drawingml/2006/main" noGrp="1"/>
          </p:cNvSpPr>
          <p:nvPr/>
        </p:nvSpPr>
        <p:spPr>
          <a:xfrm xmlns:a="http://schemas.openxmlformats.org/drawingml/2006/main">
            <a:off x="379232" y="2608849"/>
            <a:ext cx="5400000" cy="3708000"/>
          </a:xfrm>
          <a:prstGeom xmlns:a="http://schemas.openxmlformats.org/drawingml/2006/main" prst="roundRect">
            <a:avLst>
              <a:gd name="adj" fmla="val 3596"/>
            </a:avLst>
          </a:prstGeom>
          <a:solidFill xmlns:a="http://schemas.openxmlformats.org/drawingml/2006/main">
            <a:srgbClr val="FFFFFF"/>
          </a:solidFill>
          <a:ln xmlns:a="http://schemas.openxmlformats.org/drawingml/2006/main" w="6191">
            <a:solidFill>
              <a:srgbClr val="CDE6EB"/>
            </a:solidFill>
          </a:ln>
        </p:spPr>
      </p:sp>
      <p:graphicFrame>
        <p:nvGraphicFramePr>
          <p:cNvPr id="15373" name=""/>
          <p:cNvGraphicFramePr/>
          <p:nvPr/>
        </p:nvGraphicFramePr>
        <p:xfrm>
          <a:off xmlns:a="http://schemas.openxmlformats.org/drawingml/2006/main" x="474482" y="2704099"/>
          <a:ext xmlns:a="http://schemas.openxmlformats.org/drawingml/2006/main" cx="5209500" cy="3165075"/>
        </p:xfrm>
        <a:graphic xmlns:a="http://schemas.openxmlformats.org/drawingml/2006/main">
          <a:graphicData uri="http://schemas.openxmlformats.org/drawingml/2006/table">
            <a:tbl>
              <a:tblPr/>
              <a:tblGrid>
                <a:gridCol w="1614945"/>
                <a:gridCol w="3594555"/>
              </a:tblGrid>
              <a:tr h="409575">
                <a:tc>
                  <a:txBody>
                    <a:bodyPr/>
                    <a:lstStyle/>
                    <a:p>
                      <a:r>
                        <a:rPr sz="1500" b="1">
                          <a:solidFill>
                            <a:srgbClr val="FFFFFF"/>
                          </a:solidFill>
                          <a:latin typeface="微軟正黑體"/>
                          <a:ea typeface="微軟正黑體"/>
                          <a:cs typeface="微軟正黑體"/>
                        </a:rPr>
                        <a:t>項目</a:t>
                      </a:r>
                    </a:p>
                  </a:txBody>
                  <a:tcPr marL="85725" marR="76200" marT="85725" marB="47625" anchor="ctr">
                    <a:solidFill>
                      <a:srgbClr val="00829B"/>
                    </a:solidFill>
                  </a:tcPr>
                </a:tc>
                <a:tc>
                  <a:txBody>
                    <a:bodyPr/>
                    <a:lstStyle/>
                    <a:p>
                      <a:r>
                        <a:rPr sz="1500" b="1">
                          <a:solidFill>
                            <a:srgbClr val="FFFFFF"/>
                          </a:solidFill>
                          <a:latin typeface="微軟正黑體"/>
                          <a:ea typeface="微軟正黑體"/>
                          <a:cs typeface="微軟正黑體"/>
                        </a:rPr>
                        <a:t>規格／出貨展望</a:t>
                      </a:r>
                    </a:p>
                  </a:txBody>
                  <a:tcPr marL="85725" marR="76200" marT="85725" marB="47625" anchor="ctr">
                    <a:solidFill>
                      <a:srgbClr val="00829B"/>
                    </a:solidFill>
                  </a:tcPr>
                </a:tc>
              </a:tr>
              <a:tr h="688875">
                <a:tc>
                  <a:txBody>
                    <a:bodyPr/>
                    <a:lstStyle/>
                    <a:p>
                      <a:r>
                        <a:rPr sz="1500" b="1">
                          <a:solidFill>
                            <a:srgbClr val="076F89"/>
                          </a:solidFill>
                          <a:latin typeface="微軟正黑體"/>
                          <a:ea typeface="微軟正黑體"/>
                          <a:cs typeface="微軟正黑體"/>
                        </a:rPr>
                        <a:t>單顆PSU</a:t>
                      </a:r>
                    </a:p>
                  </a:txBody>
                  <a:tcPr marL="85725" marR="76200" marT="85725" marB="47625" anchor="ctr">
                    <a:solidFill>
                      <a:srgbClr val="F4F9FA"/>
                    </a:solidFill>
                  </a:tcPr>
                </a:tc>
                <a:tc>
                  <a:txBody>
                    <a:bodyPr/>
                    <a:lstStyle/>
                    <a:p>
                      <a:r>
                        <a:rPr sz="1500">
                          <a:solidFill>
                            <a:srgbClr val="172B34"/>
                          </a:solidFill>
                          <a:latin typeface="微軟正黑體"/>
                          <a:ea typeface="微軟正黑體"/>
                          <a:cs typeface="微軟正黑體"/>
                        </a:rPr>
                        <a:t>5.5kW → 18kW以上</a:t>
                      </a:r>
                    </a:p>
                  </a:txBody>
                  <a:tcPr marL="85725" marR="76200" marT="85725" marB="47625" anchor="ctr">
                    <a:solidFill>
                      <a:srgbClr val="F4F9FA"/>
                    </a:solidFill>
                  </a:tcPr>
                </a:tc>
              </a:tr>
              <a:tr h="688875">
                <a:tc>
                  <a:txBody>
                    <a:bodyPr/>
                    <a:lstStyle/>
                    <a:p>
                      <a:r>
                        <a:rPr sz="1500" b="1">
                          <a:solidFill>
                            <a:srgbClr val="076F89"/>
                          </a:solidFill>
                          <a:latin typeface="微軟正黑體"/>
                          <a:ea typeface="微軟正黑體"/>
                          <a:cs typeface="微軟正黑體"/>
                        </a:rPr>
                        <a:t>VR單櫃功耗</a:t>
                      </a:r>
                    </a:p>
                  </a:txBody>
                  <a:tcPr marL="85725" marR="76200" marT="85725" marB="47625" anchor="ctr">
                    <a:solidFill>
                      <a:srgbClr val="FFFFFF"/>
                    </a:solidFill>
                  </a:tcPr>
                </a:tc>
                <a:tc>
                  <a:txBody>
                    <a:bodyPr/>
                    <a:lstStyle/>
                    <a:p>
                      <a:r>
                        <a:rPr sz="1500">
                          <a:solidFill>
                            <a:srgbClr val="172B34"/>
                          </a:solidFill>
                          <a:latin typeface="微軟正黑體"/>
                          <a:ea typeface="微軟正黑體"/>
                          <a:cs typeface="微軟正黑體"/>
                        </a:rPr>
                        <a:t>逾200kW，推升800VDC導入需求</a:t>
                      </a:r>
                    </a:p>
                  </a:txBody>
                  <a:tcPr marL="85725" marR="76200" marT="85725" marB="47625" anchor="ctr">
                    <a:solidFill>
                      <a:srgbClr val="FFFFFF"/>
                    </a:solidFill>
                  </a:tcPr>
                </a:tc>
              </a:tr>
              <a:tr h="688875">
                <a:tc>
                  <a:txBody>
                    <a:bodyPr/>
                    <a:lstStyle/>
                    <a:p>
                      <a:r>
                        <a:rPr sz="1500" b="1">
                          <a:solidFill>
                            <a:srgbClr val="076F89"/>
                          </a:solidFill>
                          <a:latin typeface="微軟正黑體"/>
                          <a:ea typeface="微軟正黑體"/>
                          <a:cs typeface="微軟正黑體"/>
                        </a:rPr>
                        <a:t>台達電</a:t>
                      </a:r>
                    </a:p>
                    <a:p>
                      <a:r>
                        <a:rPr sz="1500" b="1">
                          <a:solidFill>
                            <a:srgbClr val="076F89"/>
                          </a:solidFill>
                          <a:latin typeface="微軟正黑體"/>
                          <a:ea typeface="微軟正黑體"/>
                          <a:cs typeface="微軟正黑體"/>
                        </a:rPr>
                        <a:t>800／400VDC</a:t>
                      </a:r>
                    </a:p>
                  </a:txBody>
                  <a:tcPr marL="85725" marR="76200" marT="85725" marB="47625" anchor="ctr">
                    <a:solidFill>
                      <a:srgbClr val="F4F9FA"/>
                    </a:solidFill>
                  </a:tcPr>
                </a:tc>
                <a:tc>
                  <a:txBody>
                    <a:bodyPr/>
                    <a:lstStyle/>
                    <a:p>
                      <a:r>
                        <a:rPr sz="1500">
                          <a:solidFill>
                            <a:srgbClr val="172B34"/>
                          </a:solidFill>
                          <a:latin typeface="微軟正黑體"/>
                          <a:ea typeface="微軟正黑體"/>
                          <a:cs typeface="微軟正黑體"/>
                        </a:rPr>
                        <a:t>3Q26量產、4Q26小量出貨</a:t>
                      </a:r>
                    </a:p>
                    <a:p>
                      <a:r>
                        <a:rPr sz="1500">
                          <a:solidFill>
                            <a:srgbClr val="172B34"/>
                          </a:solidFill>
                          <a:latin typeface="微軟正黑體"/>
                          <a:ea typeface="微軟正黑體"/>
                          <a:cs typeface="微軟正黑體"/>
                        </a:rPr>
                        <a:t>2027年預期放量</a:t>
                      </a:r>
                    </a:p>
                  </a:txBody>
                  <a:tcPr marL="85725" marR="76200" marT="85725" marB="47625" anchor="ctr">
                    <a:solidFill>
                      <a:srgbClr val="F4F9FA"/>
                    </a:solidFill>
                  </a:tcPr>
                </a:tc>
              </a:tr>
              <a:tr h="688875">
                <a:tc>
                  <a:txBody>
                    <a:bodyPr/>
                    <a:lstStyle/>
                    <a:p>
                      <a:r>
                        <a:rPr sz="1500" b="1">
                          <a:solidFill>
                            <a:srgbClr val="076F89"/>
                          </a:solidFill>
                          <a:latin typeface="微軟正黑體"/>
                          <a:ea typeface="微軟正黑體"/>
                          <a:cs typeface="微軟正黑體"/>
                        </a:rPr>
                        <a:t>光寶科</a:t>
                      </a:r>
                    </a:p>
                    <a:p>
                      <a:r>
                        <a:rPr sz="1500" b="1">
                          <a:solidFill>
                            <a:srgbClr val="076F89"/>
                          </a:solidFill>
                          <a:latin typeface="微軟正黑體"/>
                          <a:ea typeface="微軟正黑體"/>
                          <a:cs typeface="微軟正黑體"/>
                        </a:rPr>
                        <a:t>800VDC</a:t>
                      </a:r>
                    </a:p>
                  </a:txBody>
                  <a:tcPr marL="85725" marR="76200" marT="85725" marB="47625" anchor="ctr">
                    <a:solidFill>
                      <a:srgbClr val="FFFFFF"/>
                    </a:solidFill>
                  </a:tcPr>
                </a:tc>
                <a:tc>
                  <a:txBody>
                    <a:bodyPr/>
                    <a:lstStyle/>
                    <a:p>
                      <a:r>
                        <a:rPr sz="1500">
                          <a:solidFill>
                            <a:srgbClr val="172B34"/>
                          </a:solidFill>
                          <a:latin typeface="微軟正黑體"/>
                          <a:ea typeface="微軟正黑體"/>
                          <a:cs typeface="微軟正黑體"/>
                        </a:rPr>
                        <a:t>2026/11預計量產</a:t>
                      </a:r>
                    </a:p>
                    <a:p>
                      <a:r>
                        <a:rPr sz="1500">
                          <a:solidFill>
                            <a:srgbClr val="172B34"/>
                          </a:solidFill>
                          <a:latin typeface="微軟正黑體"/>
                          <a:ea typeface="微軟正黑體"/>
                          <a:cs typeface="微軟正黑體"/>
                        </a:rPr>
                        <a:t>1Q27 ASIC、2Q27 GPU出貨</a:t>
                      </a:r>
                    </a:p>
                  </a:txBody>
                  <a:tcPr marL="85725" marR="76200" marT="85725" marB="47625" anchor="ctr">
                    <a:solidFill>
                      <a:srgbClr val="FFFFFF"/>
                    </a:solidFill>
                  </a:tcPr>
                </a:tc>
              </a:tr>
            </a:tbl>
          </a:graphicData>
        </a:graphic>
      </p:graphicFrame>
      <p:sp>
        <p:nvSpPr>
          <p:cNvPr id="15365" name="">
            <a:extLst xmlns:a="http://schemas.openxmlformats.org/drawingml/2006/main">
              <a:ext uri="{FF2B5EF4-FFF2-40B4-BE49-F238E27FC236}">
                <a16:creationId xmlns:a16="http://schemas.microsoft.com/office/drawing/2014/main" id="{054AA458-E1BE-42C9-8BAB-44FBACC7959E}"/>
              </a:ext>
            </a:extLst>
          </p:cNvPr>
          <p:cNvSpPr>
            <a:spLocks xmlns:a="http://schemas.openxmlformats.org/drawingml/2006/main" noGrp="1"/>
          </p:cNvSpPr>
          <p:nvPr/>
        </p:nvSpPr>
        <p:spPr>
          <a:xfrm xmlns:a="http://schemas.openxmlformats.org/drawingml/2006/main">
            <a:off x="493532" y="5945374"/>
            <a:ext cx="5171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4E656E"/>
                </a:solidFill>
                <a:latin typeface="微軟正黑體"/>
                <a:ea typeface="微軟正黑體"/>
                <a:cs typeface="微軟正黑體"/>
              </a:defRPr>
            </a:pPr>
            <a:r>
              <a:rPr sz="1050" b="0">
                <a:solidFill>
                  <a:srgbClr val="4E656E"/>
                </a:solidFill>
                <a:latin typeface="微軟正黑體"/>
                <a:ea typeface="微軟正黑體"/>
                <a:cs typeface="微軟正黑體"/>
              </a:rPr>
              <a:t>時程為原報告展望，須追蹤客戶導入與量產。</a:t>
            </a:r>
          </a:p>
        </p:txBody>
      </p:sp>
      <p:graphicFrame>
        <p:nvGraphicFramePr>
          <p:cNvPr id="15375" name="Chart"/>
          <p:cNvGraphicFramePr/>
          <p:nvPr/>
        </p:nvGraphicFramePr>
        <p:xfrm>
          <a:off xmlns:a="http://schemas.openxmlformats.org/drawingml/2006/main" x="6116753" y="2631983"/>
          <a:ext xmlns:a="http://schemas.openxmlformats.org/drawingml/2006/main" cx="5400000" cy="3708000"/>
        </p:xfrm>
        <a:graphic xmlns:a="http://schemas.openxmlformats.org/drawingml/2006/main">
          <a:graphicData uri="http://schemas.openxmlformats.org/drawingml/2006/chart">
            <c:chart xmlns:r="http://schemas.openxmlformats.org/officeDocument/2006/relationships" xmlns:c="http://schemas.openxmlformats.org/drawingml/2006/chart" r:id="R96ee3970af694049"/>
          </a:graphicData>
        </a:graphic>
      </p:graphicFrame>
    </p:spTree>
    <p:extLst>
      <p:ext uri="{BB962C8B-B14F-4D97-AF65-F5344CB8AC3E}">
        <p14:creationId xmlns:p14="http://schemas.microsoft.com/office/powerpoint/2010/main" val="251261530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5362" name="標題 3">
            <a:extLst xmlns:a="http://schemas.openxmlformats.org/drawingml/2006/main">
              <a:ext uri="{FF2B5EF4-FFF2-40B4-BE49-F238E27FC236}">
                <a16:creationId xmlns:a16="http://schemas.microsoft.com/office/drawing/2014/main" id="{D0052553-414B-0149-5353-CA3A7D03E857}"/>
              </a:ext>
            </a:extLst>
          </p:cNvPr>
          <p:cNvSpPr>
            <a:spLocks xmlns:a="http://schemas.openxmlformats.org/drawingml/2006/main" noGrp="1"/>
          </p:cNvSpPr>
          <p:nvPr>
            <p:ph type="title" idx="0"/>
          </p:nvPr>
        </p:nvSpPr>
        <p:spPr>
          <a:xfrm xmlns:a="http://schemas.openxmlformats.org/drawingml/2006/main">
            <a:off x="935999" y="288000"/>
            <a:ext cx="10463999" cy="430887"/>
          </a:xfrm>
        </p:spPr>
        <p:txBody>
          <a:bodyPr xmlns:a="http://schemas.openxmlformats.org/drawingml/2006/main">
            <a:noAutofit/>
          </a:bodyPr>
          <a:lstStyle xmlns:a="http://schemas.openxmlformats.org/drawingml/2006/main"/>
          <a:p xmlns:a="http://schemas.openxmlformats.org/drawingml/2006/main">
            <a:r>
              <a:rPr sz="2800" b="1">
                <a:latin typeface="微軟正黑體"/>
                <a:ea typeface="微軟正黑體"/>
                <a:cs typeface="微軟正黑體"/>
              </a:rPr>
              <a:t>重電掌握缺口，金融著眼股息</a:t>
            </a:r>
          </a:p>
        </p:txBody>
      </p:sp>
      <p:sp>
        <p:nvSpPr>
          <p:cNvPr id="5" name="文字方塊 14">
            <a:extLst xmlns:a="http://schemas.openxmlformats.org/drawingml/2006/main">
              <a:ext uri="{FF2B5EF4-FFF2-40B4-BE49-F238E27FC236}">
                <a16:creationId xmlns:a16="http://schemas.microsoft.com/office/drawing/2014/main" id="{9C99D567-D09F-0FEC-56C5-3BB1DD958482}"/>
              </a:ext>
            </a:extLst>
          </p:cNvPr>
          <p:cNvSpPr>
            <a:spLocks xmlns:a="http://schemas.openxmlformats.org/drawingml/2006/main" noGrp="1"/>
          </p:cNvSpPr>
          <p:nvPr/>
        </p:nvSpPr>
        <p:spPr>
          <a:xfrm xmlns:a="http://schemas.openxmlformats.org/drawingml/2006/main">
            <a:off x="792001" y="900000"/>
            <a:ext cx="10463999" cy="14935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36000" rIns="36000"/>
          <a:lstStyle xmlns:a="http://schemas.openxmlformats.org/drawingml/2006/main">
            <a:lvl1pPr>
              <a:spcBef>
                <a:spcPct val="30000"/>
              </a:spcBef>
              <a:buClr>
                <a:srgbClr val="00829B"/>
              </a:buClr>
              <a:buSzPct val="70000"/>
              <a:buFont typeface="Wingdings"/>
              <a:buChar char="n"/>
              <a:defRPr sz="2600">
                <a:solidFill>
                  <a:schemeClr val="tx1"/>
                </a:solidFill>
                <a:latin typeface="Doradani Lt"/>
                <a:ea typeface="Doradani Lt"/>
                <a:cs typeface="Doradani Lt"/>
              </a:defRPr>
            </a:lvl1pPr>
            <a:lvl2pPr marL="742950" indent="-285750">
              <a:spcBef>
                <a:spcPct val="30000"/>
              </a:spcBef>
              <a:buSzPct val="70000"/>
              <a:buFont typeface="Wingdings"/>
              <a:buChar char="l"/>
              <a:defRPr sz="2200">
                <a:solidFill>
                  <a:schemeClr val="tx1"/>
                </a:solidFill>
                <a:latin typeface="Doradani Lt"/>
                <a:ea typeface="Doradani Lt"/>
                <a:cs typeface="Doradani Lt"/>
              </a:defRPr>
            </a:lvl2pPr>
            <a:lvl3pPr marL="1143000" indent="-228600">
              <a:spcBef>
                <a:spcPct val="30000"/>
              </a:spcBef>
              <a:buClr>
                <a:srgbClr val="00829B"/>
              </a:buClr>
              <a:buSzPct val="70000"/>
              <a:buFont typeface="Wingdings"/>
              <a:buChar char="n"/>
              <a:defRPr>
                <a:solidFill>
                  <a:schemeClr val="tx1"/>
                </a:solidFill>
                <a:latin typeface="Doradani Lt"/>
                <a:ea typeface="Doradani Lt"/>
                <a:cs typeface="Doradani Lt"/>
              </a:defRPr>
            </a:lvl3pPr>
            <a:lvl4pPr marL="1600200" indent="-228600">
              <a:spcBef>
                <a:spcPct val="30000"/>
              </a:spcBef>
              <a:buFont typeface="Wingdings"/>
              <a:buChar char="l"/>
              <a:defRPr>
                <a:solidFill>
                  <a:schemeClr val="tx1"/>
                </a:solidFill>
                <a:latin typeface="Doradani Lt"/>
                <a:ea typeface="Doradani Lt"/>
                <a:cs typeface="Doradani Lt"/>
              </a:defRPr>
            </a:lvl4pPr>
            <a:lvl5pPr marL="2057400" indent="-228600">
              <a:lnSpc>
                <a:spcPct val="120000"/>
              </a:lnSpc>
              <a:buChar char="»"/>
              <a:defRPr sz="2000">
                <a:solidFill>
                  <a:schemeClr val="tx1"/>
                </a:solidFill>
                <a:latin typeface="Arial"/>
                <a:ea typeface="Arial"/>
                <a:cs typeface="Arial"/>
              </a:defRPr>
            </a:lvl5pPr>
            <a:lvl6pPr marL="2514600" indent="-228600">
              <a:lnSpc>
                <a:spcPct val="120000"/>
              </a:lnSpc>
              <a:spcBef>
                <a:spcPct val="0"/>
              </a:spcBef>
              <a:spcAft>
                <a:spcPct val="0"/>
              </a:spcAft>
              <a:buChar char="»"/>
              <a:defRPr sz="2000">
                <a:solidFill>
                  <a:schemeClr val="tx1"/>
                </a:solidFill>
                <a:latin typeface="Arial"/>
                <a:ea typeface="Arial"/>
                <a:cs typeface="Arial"/>
              </a:defRPr>
            </a:lvl6pPr>
            <a:lvl7pPr marL="2971800" indent="-228600">
              <a:lnSpc>
                <a:spcPct val="120000"/>
              </a:lnSpc>
              <a:spcBef>
                <a:spcPct val="0"/>
              </a:spcBef>
              <a:spcAft>
                <a:spcPct val="0"/>
              </a:spcAft>
              <a:buChar char="»"/>
              <a:defRPr sz="2000">
                <a:solidFill>
                  <a:schemeClr val="tx1"/>
                </a:solidFill>
                <a:latin typeface="Arial"/>
                <a:ea typeface="Arial"/>
                <a:cs typeface="Arial"/>
              </a:defRPr>
            </a:lvl7pPr>
            <a:lvl8pPr marL="3429000" indent="-228600">
              <a:lnSpc>
                <a:spcPct val="120000"/>
              </a:lnSpc>
              <a:spcBef>
                <a:spcPct val="0"/>
              </a:spcBef>
              <a:spcAft>
                <a:spcPct val="0"/>
              </a:spcAft>
              <a:buChar char="»"/>
              <a:defRPr sz="2000">
                <a:solidFill>
                  <a:schemeClr val="tx1"/>
                </a:solidFill>
                <a:latin typeface="Arial"/>
                <a:ea typeface="Arial"/>
                <a:cs typeface="Arial"/>
              </a:defRPr>
            </a:lvl8pPr>
            <a:lvl9pPr marL="3886200" indent="-228600">
              <a:lnSpc>
                <a:spcPct val="120000"/>
              </a:lnSpc>
              <a:spcBef>
                <a:spcPct val="0"/>
              </a:spcBef>
              <a:spcAft>
                <a:spcPct val="0"/>
              </a:spcAft>
              <a:buChar char="»"/>
              <a:defRPr sz="2000">
                <a:solidFill>
                  <a:schemeClr val="tx1"/>
                </a:solidFill>
                <a:latin typeface="Arial"/>
                <a:ea typeface="Arial"/>
                <a:cs typeface="Arial"/>
              </a:defRPr>
            </a:lvl9pPr>
          </a:lstStyle>
          <a:p xmlns:a="http://schemas.openxmlformats.org/drawingml/2006/main">
            <a:pPr marL="285750" indent="-285750">
              <a:buFont typeface="Arial"/>
              <a:buChar char="•"/>
            </a:pPr>
            <a:r>
              <a:rPr sz="1800">
                <a:latin typeface="微軟正黑體"/>
                <a:ea typeface="微軟正黑體"/>
                <a:cs typeface="微軟正黑體"/>
              </a:rPr>
              <a:t>非</a:t>
            </a:r>
            <a:r>
              <a:rPr sz="1800">
                <a:latin typeface="微軟正黑體"/>
                <a:ea typeface="微軟正黑體"/>
                <a:cs typeface="微軟正黑體"/>
              </a:rPr>
              <a:t>電</a:t>
            </a:r>
            <a:r>
              <a:rPr sz="1800">
                <a:latin typeface="微軟正黑體"/>
                <a:ea typeface="微軟正黑體"/>
                <a:cs typeface="微軟正黑體"/>
              </a:rPr>
              <a:t>配</a:t>
            </a:r>
            <a:r>
              <a:rPr sz="1800">
                <a:latin typeface="微軟正黑體"/>
                <a:ea typeface="微軟正黑體"/>
                <a:cs typeface="微軟正黑體"/>
              </a:rPr>
              <a:t>置</a:t>
            </a:r>
            <a:r>
              <a:rPr sz="1800">
                <a:latin typeface="微軟正黑體"/>
                <a:ea typeface="微軟正黑體"/>
                <a:cs typeface="微軟正黑體"/>
              </a:rPr>
              <a:t>聚</a:t>
            </a:r>
            <a:r>
              <a:rPr sz="1800">
                <a:latin typeface="微軟正黑體"/>
                <a:ea typeface="微軟正黑體"/>
                <a:cs typeface="微軟正黑體"/>
              </a:rPr>
              <a:t>焦</a:t>
            </a:r>
            <a:r>
              <a:rPr sz="1800">
                <a:latin typeface="微軟正黑體"/>
                <a:ea typeface="微軟正黑體"/>
                <a:cs typeface="微軟正黑體"/>
              </a:rPr>
              <a:t>重</a:t>
            </a:r>
            <a:r>
              <a:rPr sz="1800">
                <a:latin typeface="微軟正黑體"/>
                <a:ea typeface="微軟正黑體"/>
                <a:cs typeface="微軟正黑體"/>
              </a:rPr>
              <a:t>電</a:t>
            </a:r>
            <a:r>
              <a:rPr sz="1800">
                <a:latin typeface="微軟正黑體"/>
                <a:ea typeface="微軟正黑體"/>
                <a:cs typeface="微軟正黑體"/>
              </a:rPr>
              <a:t>供</a:t>
            </a:r>
            <a:r>
              <a:rPr sz="1800">
                <a:latin typeface="微軟正黑體"/>
                <a:ea typeface="微軟正黑體"/>
                <a:cs typeface="微軟正黑體"/>
              </a:rPr>
              <a:t>需</a:t>
            </a:r>
            <a:r>
              <a:rPr sz="1800">
                <a:latin typeface="微軟正黑體"/>
                <a:ea typeface="微軟正黑體"/>
                <a:cs typeface="微軟正黑體"/>
              </a:rPr>
              <a:t>缺</a:t>
            </a:r>
            <a:r>
              <a:rPr sz="1800">
                <a:latin typeface="微軟正黑體"/>
                <a:ea typeface="微軟正黑體"/>
                <a:cs typeface="微軟正黑體"/>
              </a:rPr>
              <a:t>口</a:t>
            </a:r>
            <a:r>
              <a:rPr sz="1800">
                <a:latin typeface="微軟正黑體"/>
                <a:ea typeface="微軟正黑體"/>
                <a:cs typeface="微軟正黑體"/>
              </a:rPr>
              <a:t>、</a:t>
            </a:r>
            <a:r>
              <a:rPr sz="1800">
                <a:latin typeface="微軟正黑體"/>
                <a:ea typeface="微軟正黑體"/>
                <a:cs typeface="微軟正黑體"/>
              </a:rPr>
              <a:t>低</a:t>
            </a:r>
            <a:r>
              <a:rPr sz="1800">
                <a:latin typeface="微軟正黑體"/>
                <a:ea typeface="微軟正黑體"/>
                <a:cs typeface="微軟正黑體"/>
              </a:rPr>
              <a:t>基</a:t>
            </a:r>
            <a:r>
              <a:rPr sz="1800">
                <a:latin typeface="微軟正黑體"/>
                <a:ea typeface="微軟正黑體"/>
                <a:cs typeface="微軟正黑體"/>
              </a:rPr>
              <a:t>期</a:t>
            </a:r>
            <a:r>
              <a:rPr sz="1800">
                <a:latin typeface="微軟正黑體"/>
                <a:ea typeface="微軟正黑體"/>
                <a:cs typeface="微軟正黑體"/>
              </a:rPr>
              <a:t>轉</a:t>
            </a:r>
            <a:r>
              <a:rPr sz="1800">
                <a:latin typeface="微軟正黑體"/>
                <a:ea typeface="微軟正黑體"/>
                <a:cs typeface="微軟正黑體"/>
              </a:rPr>
              <a:t>型</a:t>
            </a:r>
            <a:r>
              <a:rPr sz="1800">
                <a:latin typeface="微軟正黑體"/>
                <a:ea typeface="微軟正黑體"/>
                <a:cs typeface="微軟正黑體"/>
              </a:rPr>
              <a:t>與</a:t>
            </a:r>
            <a:r>
              <a:rPr sz="1800">
                <a:latin typeface="微軟正黑體"/>
                <a:ea typeface="微軟正黑體"/>
                <a:cs typeface="微軟正黑體"/>
              </a:rPr>
              <a:t>股</a:t>
            </a:r>
            <a:r>
              <a:rPr sz="1800">
                <a:latin typeface="微軟正黑體"/>
                <a:ea typeface="微軟正黑體"/>
                <a:cs typeface="微軟正黑體"/>
              </a:rPr>
              <a:t>息</a:t>
            </a:r>
            <a:r>
              <a:rPr sz="1800">
                <a:latin typeface="微軟正黑體"/>
                <a:ea typeface="微軟正黑體"/>
                <a:cs typeface="微軟正黑體"/>
              </a:rPr>
              <a:t>防</a:t>
            </a:r>
            <a:r>
              <a:rPr sz="1800">
                <a:latin typeface="微軟正黑體"/>
                <a:ea typeface="微軟正黑體"/>
                <a:cs typeface="微軟正黑體"/>
              </a:rPr>
              <a:t>禦</a:t>
            </a:r>
            <a:r>
              <a:rPr sz="1800">
                <a:latin typeface="微軟正黑體"/>
                <a:ea typeface="微軟正黑體"/>
                <a:cs typeface="微軟正黑體"/>
              </a:rPr>
              <a:t>。</a:t>
            </a:r>
            <a:r>
              <a:rPr sz="1800">
                <a:latin typeface="微軟正黑體"/>
                <a:ea typeface="微軟正黑體"/>
                <a:cs typeface="微軟正黑體"/>
              </a:rPr>
              <a:t>電</a:t>
            </a:r>
            <a:r>
              <a:rPr sz="1800">
                <a:latin typeface="微軟正黑體"/>
                <a:ea typeface="微軟正黑體"/>
                <a:cs typeface="微軟正黑體"/>
              </a:rPr>
              <a:t>網</a:t>
            </a:r>
            <a:r>
              <a:rPr sz="1800">
                <a:latin typeface="微軟正黑體"/>
                <a:ea typeface="微軟正黑體"/>
                <a:cs typeface="微軟正黑體"/>
              </a:rPr>
              <a:t>汰</a:t>
            </a:r>
            <a:r>
              <a:rPr sz="1800">
                <a:latin typeface="微軟正黑體"/>
                <a:ea typeface="微軟正黑體"/>
                <a:cs typeface="微軟正黑體"/>
              </a:rPr>
              <a:t>換</a:t>
            </a:r>
            <a:r>
              <a:rPr sz="1800">
                <a:latin typeface="微軟正黑體"/>
                <a:ea typeface="微軟正黑體"/>
                <a:cs typeface="微軟正黑體"/>
              </a:rPr>
              <a:t>及</a:t>
            </a:r>
            <a:r>
              <a:rPr sz="1800">
                <a:latin typeface="微軟正黑體"/>
                <a:ea typeface="微軟正黑體"/>
                <a:cs typeface="微軟正黑體"/>
              </a:rPr>
              <a:t>AI</a:t>
            </a:r>
            <a:r>
              <a:rPr sz="1800">
                <a:latin typeface="微軟正黑體"/>
                <a:ea typeface="微軟正黑體"/>
                <a:cs typeface="微軟正黑體"/>
              </a:rPr>
              <a:t>用</a:t>
            </a:r>
            <a:r>
              <a:rPr sz="1800">
                <a:latin typeface="微軟正黑體"/>
                <a:ea typeface="微軟正黑體"/>
                <a:cs typeface="微軟正黑體"/>
              </a:rPr>
              <a:t>電</a:t>
            </a:r>
            <a:r>
              <a:rPr sz="1800">
                <a:latin typeface="微軟正黑體"/>
                <a:ea typeface="微軟正黑體"/>
                <a:cs typeface="微軟正黑體"/>
              </a:rPr>
              <a:t>擴</a:t>
            </a:r>
            <a:r>
              <a:rPr sz="1800">
                <a:latin typeface="微軟正黑體"/>
                <a:ea typeface="微軟正黑體"/>
                <a:cs typeface="微軟正黑體"/>
              </a:rPr>
              <a:t>大</a:t>
            </a:r>
            <a:r>
              <a:rPr sz="1800">
                <a:latin typeface="微軟正黑體"/>
                <a:ea typeface="微軟正黑體"/>
                <a:cs typeface="微軟正黑體"/>
              </a:rPr>
              <a:t>重</a:t>
            </a:r>
            <a:r>
              <a:rPr sz="1800">
                <a:latin typeface="微軟正黑體"/>
                <a:ea typeface="微軟正黑體"/>
                <a:cs typeface="微軟正黑體"/>
              </a:rPr>
              <a:t>電</a:t>
            </a:r>
            <a:r>
              <a:rPr sz="1800">
                <a:latin typeface="微軟正黑體"/>
                <a:ea typeface="微軟正黑體"/>
                <a:cs typeface="微軟正黑體"/>
              </a:rPr>
              <a:t>需</a:t>
            </a:r>
            <a:r>
              <a:rPr sz="1800">
                <a:latin typeface="微軟正黑體"/>
                <a:ea typeface="微軟正黑體"/>
                <a:cs typeface="微軟正黑體"/>
              </a:rPr>
              <a:t>求</a:t>
            </a:r>
            <a:r>
              <a:rPr sz="1800">
                <a:latin typeface="微軟正黑體"/>
                <a:ea typeface="微軟正黑體"/>
                <a:cs typeface="微軟正黑體"/>
              </a:rPr>
              <a:t>，</a:t>
            </a:r>
            <a:r>
              <a:rPr sz="1800">
                <a:latin typeface="微軟正黑體"/>
                <a:ea typeface="微軟正黑體"/>
                <a:cs typeface="微軟正黑體"/>
              </a:rPr>
              <a:t>聚</a:t>
            </a:r>
            <a:r>
              <a:rPr sz="1800">
                <a:latin typeface="微軟正黑體"/>
                <a:ea typeface="微軟正黑體"/>
                <a:cs typeface="微軟正黑體"/>
              </a:rPr>
              <a:t>焦</a:t>
            </a:r>
            <a:r>
              <a:rPr sz="1800">
                <a:latin typeface="微軟正黑體"/>
                <a:ea typeface="微軟正黑體"/>
                <a:cs typeface="微軟正黑體"/>
              </a:rPr>
              <a:t>華</a:t>
            </a:r>
            <a:r>
              <a:rPr sz="1800">
                <a:latin typeface="微軟正黑體"/>
                <a:ea typeface="微軟正黑體"/>
                <a:cs typeface="微軟正黑體"/>
              </a:rPr>
              <a:t>城</a:t>
            </a:r>
            <a:r>
              <a:rPr sz="1800">
                <a:latin typeface="微軟正黑體"/>
                <a:ea typeface="微軟正黑體"/>
                <a:cs typeface="微軟正黑體"/>
              </a:rPr>
              <a:t>。</a:t>
            </a:r>
            <a:r>
              <a:rPr sz="1800">
                <a:latin typeface="微軟正黑體"/>
                <a:ea typeface="微軟正黑體"/>
                <a:cs typeface="微軟正黑體"/>
              </a:rPr>
              <a:t>塑</a:t>
            </a:r>
            <a:r>
              <a:rPr sz="1800">
                <a:latin typeface="微軟正黑體"/>
                <a:ea typeface="微軟正黑體"/>
                <a:cs typeface="微軟正黑體"/>
              </a:rPr>
              <a:t>化</a:t>
            </a:r>
            <a:r>
              <a:rPr sz="1800">
                <a:latin typeface="微軟正黑體"/>
                <a:ea typeface="微軟正黑體"/>
                <a:cs typeface="微軟正黑體"/>
              </a:rPr>
              <a:t>、</a:t>
            </a:r>
            <a:r>
              <a:rPr sz="1800">
                <a:latin typeface="微軟正黑體"/>
                <a:ea typeface="微軟正黑體"/>
                <a:cs typeface="微軟正黑體"/>
              </a:rPr>
              <a:t>特</a:t>
            </a:r>
            <a:r>
              <a:rPr sz="1800">
                <a:latin typeface="微軟正黑體"/>
                <a:ea typeface="微軟正黑體"/>
                <a:cs typeface="微軟正黑體"/>
              </a:rPr>
              <a:t>化</a:t>
            </a:r>
            <a:r>
              <a:rPr sz="1800">
                <a:latin typeface="微軟正黑體"/>
                <a:ea typeface="微軟正黑體"/>
                <a:cs typeface="微軟正黑體"/>
              </a:rPr>
              <a:t>須</a:t>
            </a:r>
            <a:r>
              <a:rPr sz="1800">
                <a:latin typeface="微軟正黑體"/>
                <a:ea typeface="微軟正黑體"/>
                <a:cs typeface="微軟正黑體"/>
              </a:rPr>
              <a:t>辨</a:t>
            </a:r>
            <a:r>
              <a:rPr sz="1800">
                <a:latin typeface="微軟正黑體"/>
                <a:ea typeface="微軟正黑體"/>
                <a:cs typeface="微軟正黑體"/>
              </a:rPr>
              <a:t>別</a:t>
            </a:r>
            <a:r>
              <a:rPr sz="1800">
                <a:latin typeface="微軟正黑體"/>
                <a:ea typeface="微軟正黑體"/>
                <a:cs typeface="微軟正黑體"/>
              </a:rPr>
              <a:t>成</a:t>
            </a:r>
            <a:r>
              <a:rPr sz="1800">
                <a:latin typeface="微軟正黑體"/>
                <a:ea typeface="微軟正黑體"/>
                <a:cs typeface="微軟正黑體"/>
              </a:rPr>
              <a:t>本</a:t>
            </a:r>
            <a:r>
              <a:rPr sz="1800">
                <a:latin typeface="微軟正黑體"/>
                <a:ea typeface="微軟正黑體"/>
                <a:cs typeface="微軟正黑體"/>
              </a:rPr>
              <a:t>轉</a:t>
            </a:r>
            <a:r>
              <a:rPr sz="1800">
                <a:latin typeface="微軟正黑體"/>
                <a:ea typeface="微軟正黑體"/>
                <a:cs typeface="微軟正黑體"/>
              </a:rPr>
              <a:t>嫁</a:t>
            </a:r>
            <a:r>
              <a:rPr sz="1800">
                <a:latin typeface="微軟正黑體"/>
                <a:ea typeface="微軟正黑體"/>
                <a:cs typeface="微軟正黑體"/>
              </a:rPr>
              <a:t>能</a:t>
            </a:r>
            <a:r>
              <a:rPr sz="1800">
                <a:latin typeface="微軟正黑體"/>
                <a:ea typeface="微軟正黑體"/>
                <a:cs typeface="微軟正黑體"/>
              </a:rPr>
              <a:t>力</a:t>
            </a:r>
            <a:r>
              <a:rPr sz="1800">
                <a:latin typeface="微軟正黑體"/>
                <a:ea typeface="微軟正黑體"/>
                <a:cs typeface="微軟正黑體"/>
              </a:rPr>
              <a:t>，</a:t>
            </a:r>
            <a:r>
              <a:rPr sz="1800">
                <a:latin typeface="微軟正黑體"/>
                <a:ea typeface="微軟正黑體"/>
                <a:cs typeface="微軟正黑體"/>
              </a:rPr>
              <a:t>關</a:t>
            </a:r>
            <a:r>
              <a:rPr sz="1800">
                <a:latin typeface="微軟正黑體"/>
                <a:ea typeface="微軟正黑體"/>
                <a:cs typeface="微軟正黑體"/>
              </a:rPr>
              <a:t>注</a:t>
            </a:r>
            <a:r>
              <a:rPr sz="1800">
                <a:latin typeface="微軟正黑體"/>
                <a:ea typeface="微軟正黑體"/>
                <a:cs typeface="微軟正黑體"/>
              </a:rPr>
              <a:t>南</a:t>
            </a:r>
            <a:r>
              <a:rPr sz="1800">
                <a:latin typeface="微軟正黑體"/>
                <a:ea typeface="微軟正黑體"/>
                <a:cs typeface="微軟正黑體"/>
              </a:rPr>
              <a:t>亞</a:t>
            </a:r>
            <a:r>
              <a:rPr sz="1800">
                <a:latin typeface="微軟正黑體"/>
                <a:ea typeface="微軟正黑體"/>
                <a:cs typeface="微軟正黑體"/>
              </a:rPr>
              <a:t>、</a:t>
            </a:r>
            <a:r>
              <a:rPr sz="1800">
                <a:latin typeface="微軟正黑體"/>
                <a:ea typeface="微軟正黑體"/>
                <a:cs typeface="微軟正黑體"/>
              </a:rPr>
              <a:t>新</a:t>
            </a:r>
            <a:r>
              <a:rPr sz="1800">
                <a:latin typeface="微軟正黑體"/>
                <a:ea typeface="微軟正黑體"/>
                <a:cs typeface="微軟正黑體"/>
              </a:rPr>
              <a:t>應</a:t>
            </a:r>
            <a:r>
              <a:rPr sz="1800">
                <a:latin typeface="微軟正黑體"/>
                <a:ea typeface="微軟正黑體"/>
                <a:cs typeface="微軟正黑體"/>
              </a:rPr>
              <a:t>材</a:t>
            </a:r>
            <a:r>
              <a:rPr sz="1800">
                <a:latin typeface="微軟正黑體"/>
                <a:ea typeface="微軟正黑體"/>
                <a:cs typeface="微軟正黑體"/>
              </a:rPr>
              <a:t>。</a:t>
            </a:r>
            <a:endParaRPr sz="1800">
              <a:latin typeface="微軟正黑體"/>
              <a:ea typeface="微軟正黑體"/>
              <a:cs typeface="微軟正黑體"/>
            </a:endParaRPr>
          </a:p>
          <a:p xmlns:a="http://schemas.openxmlformats.org/drawingml/2006/main">
            <a:pPr marL="285750" indent="-285750">
              <a:buFont typeface="Arial"/>
              <a:buChar char="•"/>
            </a:pPr>
            <a:r>
              <a:rPr sz="1800">
                <a:latin typeface="微軟正黑體"/>
                <a:ea typeface="微軟正黑體"/>
                <a:cs typeface="微軟正黑體"/>
              </a:rPr>
              <a:t>銀</a:t>
            </a:r>
            <a:r>
              <a:rPr sz="1800">
                <a:latin typeface="微軟正黑體"/>
                <a:ea typeface="微軟正黑體"/>
                <a:cs typeface="微軟正黑體"/>
              </a:rPr>
              <a:t>行</a:t>
            </a:r>
            <a:r>
              <a:rPr sz="1800">
                <a:latin typeface="微軟正黑體"/>
                <a:ea typeface="微軟正黑體"/>
                <a:cs typeface="微軟正黑體"/>
              </a:rPr>
              <a:t>放</a:t>
            </a:r>
            <a:r>
              <a:rPr sz="1800">
                <a:latin typeface="微軟正黑體"/>
                <a:ea typeface="微軟正黑體"/>
                <a:cs typeface="微軟正黑體"/>
              </a:rPr>
              <a:t>款</a:t>
            </a:r>
            <a:r>
              <a:rPr sz="1800">
                <a:latin typeface="微軟正黑體"/>
                <a:ea typeface="微軟正黑體"/>
                <a:cs typeface="微軟正黑體"/>
              </a:rPr>
              <a:t>與</a:t>
            </a:r>
            <a:r>
              <a:rPr sz="1800">
                <a:latin typeface="微軟正黑體"/>
                <a:ea typeface="微軟正黑體"/>
                <a:cs typeface="微軟正黑體"/>
              </a:rPr>
              <a:t>證</a:t>
            </a:r>
            <a:r>
              <a:rPr sz="1800">
                <a:latin typeface="微軟正黑體"/>
                <a:ea typeface="微軟正黑體"/>
                <a:cs typeface="微軟正黑體"/>
              </a:rPr>
              <a:t>券</a:t>
            </a:r>
            <a:r>
              <a:rPr sz="1800">
                <a:latin typeface="微軟正黑體"/>
                <a:ea typeface="微軟正黑體"/>
                <a:cs typeface="微軟正黑體"/>
              </a:rPr>
              <a:t>交</a:t>
            </a:r>
            <a:r>
              <a:rPr sz="1800">
                <a:latin typeface="微軟正黑體"/>
                <a:ea typeface="微軟正黑體"/>
                <a:cs typeface="微軟正黑體"/>
              </a:rPr>
              <a:t>投</a:t>
            </a:r>
            <a:r>
              <a:rPr sz="1800">
                <a:latin typeface="微軟正黑體"/>
                <a:ea typeface="微軟正黑體"/>
                <a:cs typeface="微軟正黑體"/>
              </a:rPr>
              <a:t>支</a:t>
            </a:r>
            <a:r>
              <a:rPr sz="1800">
                <a:latin typeface="微軟正黑體"/>
                <a:ea typeface="微軟正黑體"/>
                <a:cs typeface="微軟正黑體"/>
              </a:rPr>
              <a:t>撐</a:t>
            </a:r>
            <a:r>
              <a:rPr sz="1800">
                <a:latin typeface="微軟正黑體"/>
                <a:ea typeface="微軟正黑體"/>
                <a:cs typeface="微軟正黑體"/>
              </a:rPr>
              <a:t>金</a:t>
            </a:r>
            <a:r>
              <a:rPr sz="1800">
                <a:latin typeface="微軟正黑體"/>
                <a:ea typeface="微軟正黑體"/>
                <a:cs typeface="微軟正黑體"/>
              </a:rPr>
              <a:t>融</a:t>
            </a:r>
            <a:r>
              <a:rPr sz="1800">
                <a:latin typeface="微軟正黑體"/>
                <a:ea typeface="微軟正黑體"/>
                <a:cs typeface="微軟正黑體"/>
              </a:rPr>
              <a:t>獲</a:t>
            </a:r>
            <a:r>
              <a:rPr sz="1800">
                <a:latin typeface="微軟正黑體"/>
                <a:ea typeface="微軟正黑體"/>
                <a:cs typeface="微軟正黑體"/>
              </a:rPr>
              <a:t>利</a:t>
            </a:r>
            <a:r>
              <a:rPr sz="1800">
                <a:latin typeface="微軟正黑體"/>
                <a:ea typeface="微軟正黑體"/>
                <a:cs typeface="微軟正黑體"/>
              </a:rPr>
              <a:t>，</a:t>
            </a:r>
            <a:r>
              <a:rPr sz="1800">
                <a:latin typeface="微軟正黑體"/>
                <a:ea typeface="微軟正黑體"/>
                <a:cs typeface="微軟正黑體"/>
              </a:rPr>
              <a:t>壽</a:t>
            </a:r>
            <a:r>
              <a:rPr sz="1800">
                <a:latin typeface="微軟正黑體"/>
                <a:ea typeface="微軟正黑體"/>
                <a:cs typeface="微軟正黑體"/>
              </a:rPr>
              <a:t>險</a:t>
            </a:r>
            <a:r>
              <a:rPr sz="1800">
                <a:latin typeface="微軟正黑體"/>
                <a:ea typeface="微軟正黑體"/>
                <a:cs typeface="微軟正黑體"/>
              </a:rPr>
              <a:t>CSM</a:t>
            </a:r>
            <a:r>
              <a:rPr sz="1800">
                <a:latin typeface="微軟正黑體"/>
                <a:ea typeface="微軟正黑體"/>
                <a:cs typeface="微軟正黑體"/>
              </a:rPr>
              <a:t>及</a:t>
            </a:r>
            <a:r>
              <a:rPr sz="1800">
                <a:latin typeface="微軟正黑體"/>
                <a:ea typeface="微軟正黑體"/>
                <a:cs typeface="微軟正黑體"/>
              </a:rPr>
              <a:t>調</a:t>
            </a:r>
            <a:r>
              <a:rPr sz="1800">
                <a:latin typeface="微軟正黑體"/>
                <a:ea typeface="微軟正黑體"/>
                <a:cs typeface="微軟正黑體"/>
              </a:rPr>
              <a:t>整</a:t>
            </a:r>
            <a:r>
              <a:rPr sz="1800">
                <a:latin typeface="微軟正黑體"/>
                <a:ea typeface="微軟正黑體"/>
                <a:cs typeface="微軟正黑體"/>
              </a:rPr>
              <a:t>後</a:t>
            </a:r>
            <a:r>
              <a:rPr sz="1800">
                <a:latin typeface="微軟正黑體"/>
                <a:ea typeface="微軟正黑體"/>
                <a:cs typeface="微軟正黑體"/>
              </a:rPr>
              <a:t>EPS</a:t>
            </a:r>
            <a:r>
              <a:rPr sz="1800">
                <a:latin typeface="微軟正黑體"/>
                <a:ea typeface="微軟正黑體"/>
                <a:cs typeface="微軟正黑體"/>
              </a:rPr>
              <a:t>支</a:t>
            </a:r>
            <a:r>
              <a:rPr sz="1800">
                <a:latin typeface="微軟正黑體"/>
                <a:ea typeface="微軟正黑體"/>
                <a:cs typeface="微軟正黑體"/>
              </a:rPr>
              <a:t>持</a:t>
            </a:r>
            <a:r>
              <a:rPr sz="1800">
                <a:latin typeface="微軟正黑體"/>
                <a:ea typeface="微軟正黑體"/>
                <a:cs typeface="微軟正黑體"/>
              </a:rPr>
              <a:t>2027</a:t>
            </a:r>
            <a:r>
              <a:rPr sz="1800">
                <a:latin typeface="微軟正黑體"/>
                <a:ea typeface="微軟正黑體"/>
                <a:cs typeface="微軟正黑體"/>
              </a:rPr>
              <a:t>配</a:t>
            </a:r>
            <a:r>
              <a:rPr sz="1800">
                <a:latin typeface="微軟正黑體"/>
                <a:ea typeface="微軟正黑體"/>
                <a:cs typeface="微軟正黑體"/>
              </a:rPr>
              <a:t>息</a:t>
            </a:r>
            <a:r>
              <a:rPr sz="1800">
                <a:latin typeface="微軟正黑體"/>
                <a:ea typeface="微軟正黑體"/>
                <a:cs typeface="微軟正黑體"/>
              </a:rPr>
              <a:t>展</a:t>
            </a:r>
            <a:r>
              <a:rPr sz="1800">
                <a:latin typeface="微軟正黑體"/>
                <a:ea typeface="微軟正黑體"/>
                <a:cs typeface="微軟正黑體"/>
              </a:rPr>
              <a:t>望</a:t>
            </a:r>
            <a:r>
              <a:rPr sz="1800">
                <a:latin typeface="微軟正黑體"/>
                <a:ea typeface="微軟正黑體"/>
                <a:cs typeface="微軟正黑體"/>
              </a:rPr>
              <a:t>。</a:t>
            </a:r>
            <a:r>
              <a:rPr sz="1800">
                <a:latin typeface="微軟正黑體"/>
                <a:ea typeface="微軟正黑體"/>
                <a:cs typeface="微軟正黑體"/>
              </a:rPr>
              <a:t>金</a:t>
            </a:r>
            <a:r>
              <a:rPr sz="1800">
                <a:latin typeface="微軟正黑體"/>
                <a:ea typeface="微軟正黑體"/>
                <a:cs typeface="微軟正黑體"/>
              </a:rPr>
              <a:t>融</a:t>
            </a:r>
            <a:r>
              <a:rPr sz="1800">
                <a:latin typeface="微軟正黑體"/>
                <a:ea typeface="微軟正黑體"/>
                <a:cs typeface="微軟正黑體"/>
              </a:rPr>
              <a:t>短</a:t>
            </a:r>
            <a:r>
              <a:rPr sz="1800">
                <a:latin typeface="微軟正黑體"/>
                <a:ea typeface="微軟正黑體"/>
                <a:cs typeface="微軟正黑體"/>
              </a:rPr>
              <a:t>期</a:t>
            </a:r>
            <a:r>
              <a:rPr sz="1800">
                <a:latin typeface="微軟正黑體"/>
                <a:ea typeface="微軟正黑體"/>
                <a:cs typeface="微軟正黑體"/>
              </a:rPr>
              <a:t>仍</a:t>
            </a:r>
            <a:r>
              <a:rPr sz="1800">
                <a:latin typeface="微軟正黑體"/>
                <a:ea typeface="微軟正黑體"/>
                <a:cs typeface="微軟正黑體"/>
              </a:rPr>
              <a:t>須</a:t>
            </a:r>
            <a:r>
              <a:rPr sz="1800">
                <a:latin typeface="微軟正黑體"/>
                <a:ea typeface="微軟正黑體"/>
                <a:cs typeface="微軟正黑體"/>
              </a:rPr>
              <a:t>留</a:t>
            </a:r>
            <a:r>
              <a:rPr sz="1800">
                <a:latin typeface="微軟正黑體"/>
                <a:ea typeface="微軟正黑體"/>
                <a:cs typeface="微軟正黑體"/>
              </a:rPr>
              <a:t>意</a:t>
            </a:r>
            <a:r>
              <a:rPr sz="1800">
                <a:latin typeface="微軟正黑體"/>
                <a:ea typeface="微軟正黑體"/>
                <a:cs typeface="微軟正黑體"/>
              </a:rPr>
              <a:t>股</a:t>
            </a:r>
            <a:r>
              <a:rPr sz="1800">
                <a:latin typeface="微軟正黑體"/>
                <a:ea typeface="微軟正黑體"/>
                <a:cs typeface="微軟正黑體"/>
              </a:rPr>
              <a:t>息</a:t>
            </a:r>
            <a:r>
              <a:rPr sz="1800">
                <a:latin typeface="微軟正黑體"/>
                <a:ea typeface="微軟正黑體"/>
                <a:cs typeface="微軟正黑體"/>
              </a:rPr>
              <a:t>旺</a:t>
            </a:r>
            <a:r>
              <a:rPr sz="1800">
                <a:latin typeface="微軟正黑體"/>
                <a:ea typeface="微軟正黑體"/>
                <a:cs typeface="微軟正黑體"/>
              </a:rPr>
              <a:t>季</a:t>
            </a:r>
            <a:r>
              <a:rPr sz="1800">
                <a:latin typeface="微軟正黑體"/>
                <a:ea typeface="微軟正黑體"/>
                <a:cs typeface="微軟正黑體"/>
              </a:rPr>
              <a:t>已</a:t>
            </a:r>
            <a:r>
              <a:rPr sz="1800">
                <a:latin typeface="微軟正黑體"/>
                <a:ea typeface="微軟正黑體"/>
                <a:cs typeface="微軟正黑體"/>
              </a:rPr>
              <a:t>過</a:t>
            </a:r>
            <a:r>
              <a:rPr sz="1800">
                <a:latin typeface="微軟正黑體"/>
                <a:ea typeface="微軟正黑體"/>
                <a:cs typeface="微軟正黑體"/>
              </a:rPr>
              <a:t>及</a:t>
            </a:r>
            <a:r>
              <a:rPr sz="1800">
                <a:latin typeface="微軟正黑體"/>
                <a:ea typeface="微軟正黑體"/>
                <a:cs typeface="微軟正黑體"/>
              </a:rPr>
              <a:t>年</a:t>
            </a:r>
            <a:r>
              <a:rPr sz="1800">
                <a:latin typeface="微軟正黑體"/>
                <a:ea typeface="微軟正黑體"/>
                <a:cs typeface="微軟正黑體"/>
              </a:rPr>
              <a:t>底</a:t>
            </a:r>
            <a:r>
              <a:rPr sz="1800">
                <a:latin typeface="微軟正黑體"/>
                <a:ea typeface="微軟正黑體"/>
                <a:cs typeface="微軟正黑體"/>
              </a:rPr>
              <a:t>提</a:t>
            </a:r>
            <a:r>
              <a:rPr sz="1800">
                <a:latin typeface="微軟正黑體"/>
                <a:ea typeface="微軟正黑體"/>
                <a:cs typeface="微軟正黑體"/>
              </a:rPr>
              <a:t>存</a:t>
            </a:r>
            <a:r>
              <a:rPr sz="1800">
                <a:latin typeface="微軟正黑體"/>
                <a:ea typeface="微軟正黑體"/>
                <a:cs typeface="微軟正黑體"/>
              </a:rPr>
              <a:t>，</a:t>
            </a:r>
            <a:r>
              <a:rPr sz="1800">
                <a:latin typeface="微軟正黑體"/>
                <a:ea typeface="微軟正黑體"/>
                <a:cs typeface="微軟正黑體"/>
              </a:rPr>
              <a:t>宜</a:t>
            </a:r>
            <a:r>
              <a:rPr sz="1800">
                <a:latin typeface="微軟正黑體"/>
                <a:ea typeface="微軟正黑體"/>
                <a:cs typeface="微軟正黑體"/>
              </a:rPr>
              <a:t>依</a:t>
            </a:r>
            <a:r>
              <a:rPr sz="1800">
                <a:latin typeface="微軟正黑體"/>
                <a:ea typeface="微軟正黑體"/>
                <a:cs typeface="微軟正黑體"/>
              </a:rPr>
              <a:t>個</a:t>
            </a:r>
            <a:r>
              <a:rPr sz="1800">
                <a:latin typeface="微軟正黑體"/>
                <a:ea typeface="微軟正黑體"/>
                <a:cs typeface="微軟正黑體"/>
              </a:rPr>
              <a:t>股</a:t>
            </a:r>
            <a:r>
              <a:rPr sz="1800">
                <a:latin typeface="微軟正黑體"/>
                <a:ea typeface="微軟正黑體"/>
                <a:cs typeface="微軟正黑體"/>
              </a:rPr>
              <a:t>條</a:t>
            </a:r>
            <a:r>
              <a:rPr sz="1800">
                <a:latin typeface="微軟正黑體"/>
                <a:ea typeface="微軟正黑體"/>
                <a:cs typeface="微軟正黑體"/>
              </a:rPr>
              <a:t>件</a:t>
            </a:r>
            <a:r>
              <a:rPr sz="1800">
                <a:latin typeface="微軟正黑體"/>
                <a:ea typeface="微軟正黑體"/>
                <a:cs typeface="微軟正黑體"/>
              </a:rPr>
              <a:t>篩</a:t>
            </a:r>
            <a:r>
              <a:rPr sz="1800">
                <a:latin typeface="微軟正黑體"/>
                <a:ea typeface="微軟正黑體"/>
                <a:cs typeface="微軟正黑體"/>
              </a:rPr>
              <a:t>選</a:t>
            </a:r>
            <a:r>
              <a:rPr sz="1800">
                <a:latin typeface="微軟正黑體"/>
                <a:ea typeface="微軟正黑體"/>
                <a:cs typeface="微軟正黑體"/>
              </a:rPr>
              <a:t>。</a:t>
            </a:r>
            <a:endParaRPr sz="1800">
              <a:latin typeface="微軟正黑體"/>
              <a:ea typeface="微軟正黑體"/>
              <a:cs typeface="微軟正黑體"/>
            </a:endParaRPr>
          </a:p>
        </p:txBody>
      </p:sp>
      <p:sp>
        <p:nvSpPr>
          <p:cNvPr id="12" name="矩形 11">
            <a:extLst xmlns:a="http://schemas.openxmlformats.org/drawingml/2006/main">
              <a:ext uri="{FF2B5EF4-FFF2-40B4-BE49-F238E27FC236}">
                <a16:creationId xmlns:a16="http://schemas.microsoft.com/office/drawing/2014/main" id="{D458EA3A-EC57-A4D3-E5FC-606D51CB141D}"/>
              </a:ext>
            </a:extLst>
          </p:cNvPr>
          <p:cNvSpPr>
            <a:spLocks xmlns:a="http://schemas.openxmlformats.org/drawingml/2006/main" noGrp="1"/>
          </p:cNvSpPr>
          <p:nvPr/>
        </p:nvSpPr>
        <p:spPr>
          <a:xfrm xmlns:a="http://schemas.openxmlformats.org/drawingml/2006/main">
            <a:off x="8262257" y="6542809"/>
            <a:ext cx="3137741" cy="307777"/>
          </a:xfrm>
          <a:prstGeom xmlns:a="http://schemas.openxmlformats.org/drawingml/2006/main" prst="rect">
            <a:avLst/>
          </a:prstGeom>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buNone/>
            </a:pPr>
            <a:r>
              <a:rPr sz="1400">
                <a:latin typeface="微軟正黑體"/>
                <a:ea typeface="微軟正黑體"/>
                <a:cs typeface="微軟正黑體"/>
              </a:rPr>
              <a:t>資料來源：富邦投顧(2026/9/30)</a:t>
            </a:r>
            <a:endParaRPr sz="1400"/>
          </a:p>
        </p:txBody>
      </p:sp>
      <p:sp>
        <p:nvSpPr>
          <p:cNvPr id="2" name="文字方塊 1">
            <a:extLst xmlns:a="http://schemas.openxmlformats.org/drawingml/2006/main">
              <a:ext uri="{FF2B5EF4-FFF2-40B4-BE49-F238E27FC236}">
                <a16:creationId xmlns:a16="http://schemas.microsoft.com/office/drawing/2014/main" id="{86251B1F-8ACA-0C62-E227-25E855E1FB02}"/>
              </a:ext>
            </a:extLst>
          </p:cNvPr>
          <p:cNvSpPr>
            <a:spLocks xmlns:a="http://schemas.openxmlformats.org/drawingml/2006/main" noGrp="1"/>
          </p:cNvSpPr>
          <p:nvPr/>
        </p:nvSpPr>
        <p:spPr>
          <a:xfrm xmlns:a="http://schemas.openxmlformats.org/drawingml/2006/main">
            <a:off x="2431885" y="2262651"/>
            <a:ext cx="1338828"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b="1">
                <a:latin typeface="微軟正黑體"/>
                <a:ea typeface="微軟正黑體"/>
                <a:cs typeface="微軟正黑體"/>
              </a:rPr>
              <a:t>重電供需</a:t>
            </a:r>
            <a:endParaRPr/>
          </a:p>
        </p:txBody>
      </p:sp>
      <p:sp>
        <p:nvSpPr>
          <p:cNvPr id="8" name="文字方塊 7">
            <a:extLst xmlns:a="http://schemas.openxmlformats.org/drawingml/2006/main">
              <a:ext uri="{FF2B5EF4-FFF2-40B4-BE49-F238E27FC236}">
                <a16:creationId xmlns:a16="http://schemas.microsoft.com/office/drawing/2014/main" id="{D9F034B6-A874-95BD-5D6A-382DD9C5D182}"/>
              </a:ext>
            </a:extLst>
          </p:cNvPr>
          <p:cNvSpPr>
            <a:spLocks xmlns:a="http://schemas.openxmlformats.org/drawingml/2006/main" noGrp="1"/>
          </p:cNvSpPr>
          <p:nvPr/>
        </p:nvSpPr>
        <p:spPr>
          <a:xfrm xmlns:a="http://schemas.openxmlformats.org/drawingml/2006/main">
            <a:off x="7787751" y="2239517"/>
            <a:ext cx="1800493"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b="1">
                <a:latin typeface="微軟正黑體"/>
                <a:ea typeface="微軟正黑體"/>
                <a:cs typeface="微軟正黑體"/>
              </a:rPr>
              <a:t>金融獲利股息</a:t>
            </a:r>
            <a:endParaRPr/>
          </a:p>
        </p:txBody>
      </p:sp>
      <p:sp>
        <p:nvSpPr>
          <p:cNvPr id="15363" name="">
            <a:extLst xmlns:a="http://schemas.openxmlformats.org/drawingml/2006/main">
              <a:ext uri="{FF2B5EF4-FFF2-40B4-BE49-F238E27FC236}">
                <a16:creationId xmlns:a16="http://schemas.microsoft.com/office/drawing/2014/main" id="{C5B54AB2-6B2E-40D2-8A4E-F4FB8C168B7D}"/>
              </a:ext>
            </a:extLst>
          </p:cNvPr>
          <p:cNvSpPr>
            <a:spLocks xmlns:a="http://schemas.openxmlformats.org/drawingml/2006/main" noGrp="1"/>
          </p:cNvSpPr>
          <p:nvPr/>
        </p:nvSpPr>
        <p:spPr>
          <a:xfrm xmlns:a="http://schemas.openxmlformats.org/drawingml/2006/main">
            <a:off x="379232" y="2608849"/>
            <a:ext cx="5400000" cy="3708000"/>
          </a:xfrm>
          <a:prstGeom xmlns:a="http://schemas.openxmlformats.org/drawingml/2006/main" prst="roundRect">
            <a:avLst>
              <a:gd name="adj" fmla="val 3596"/>
            </a:avLst>
          </a:prstGeom>
          <a:solidFill xmlns:a="http://schemas.openxmlformats.org/drawingml/2006/main">
            <a:srgbClr val="FFFFFF"/>
          </a:solidFill>
          <a:ln xmlns:a="http://schemas.openxmlformats.org/drawingml/2006/main" w="6191">
            <a:solidFill>
              <a:srgbClr val="CDE6EB"/>
            </a:solidFill>
          </a:ln>
        </p:spPr>
      </p:sp>
      <p:graphicFrame>
        <p:nvGraphicFramePr>
          <p:cNvPr id="15375" name=""/>
          <p:cNvGraphicFramePr/>
          <p:nvPr/>
        </p:nvGraphicFramePr>
        <p:xfrm>
          <a:off xmlns:a="http://schemas.openxmlformats.org/drawingml/2006/main" x="474482" y="2704099"/>
          <a:ext xmlns:a="http://schemas.openxmlformats.org/drawingml/2006/main" cx="5209500" cy="3165075"/>
        </p:xfrm>
        <a:graphic xmlns:a="http://schemas.openxmlformats.org/drawingml/2006/main">
          <a:graphicData uri="http://schemas.openxmlformats.org/drawingml/2006/table">
            <a:tbl>
              <a:tblPr/>
              <a:tblGrid>
                <a:gridCol w="1667040"/>
                <a:gridCol w="3542460"/>
              </a:tblGrid>
              <a:tr h="409575">
                <a:tc>
                  <a:txBody>
                    <a:bodyPr/>
                    <a:lstStyle/>
                    <a:p>
                      <a:r>
                        <a:rPr sz="1500" b="1">
                          <a:solidFill>
                            <a:srgbClr val="FFFFFF"/>
                          </a:solidFill>
                          <a:latin typeface="微軟正黑體"/>
                          <a:ea typeface="微軟正黑體"/>
                          <a:cs typeface="微軟正黑體"/>
                        </a:rPr>
                        <a:t>觀察指標</a:t>
                      </a:r>
                    </a:p>
                  </a:txBody>
                  <a:tcPr marL="85725" marR="76200" marT="85725" marB="47625" anchor="ctr">
                    <a:solidFill>
                      <a:srgbClr val="00829B"/>
                    </a:solidFill>
                  </a:tcPr>
                </a:tc>
                <a:tc>
                  <a:txBody>
                    <a:bodyPr/>
                    <a:lstStyle/>
                    <a:p>
                      <a:r>
                        <a:rPr sz="1500" b="1">
                          <a:solidFill>
                            <a:srgbClr val="FFFFFF"/>
                          </a:solidFill>
                          <a:latin typeface="微軟正黑體"/>
                          <a:ea typeface="微軟正黑體"/>
                          <a:cs typeface="微軟正黑體"/>
                        </a:rPr>
                        <a:t>原報告數據</a:t>
                      </a:r>
                    </a:p>
                  </a:txBody>
                  <a:tcPr marL="85725" marR="76200" marT="85725" marB="47625" anchor="ctr">
                    <a:solidFill>
                      <a:srgbClr val="00829B"/>
                    </a:solidFill>
                  </a:tcPr>
                </a:tc>
              </a:tr>
              <a:tr h="688875">
                <a:tc>
                  <a:txBody>
                    <a:bodyPr/>
                    <a:lstStyle/>
                    <a:p>
                      <a:r>
                        <a:rPr sz="1500" b="1">
                          <a:solidFill>
                            <a:srgbClr val="076F89"/>
                          </a:solidFill>
                          <a:latin typeface="微軟正黑體"/>
                          <a:ea typeface="微軟正黑體"/>
                          <a:cs typeface="微軟正黑體"/>
                        </a:rPr>
                        <a:t>全球用電</a:t>
                      </a:r>
                    </a:p>
                    <a:p>
                      <a:r>
                        <a:rPr sz="1500" b="1">
                          <a:solidFill>
                            <a:srgbClr val="076F89"/>
                          </a:solidFill>
                          <a:latin typeface="微軟正黑體"/>
                          <a:ea typeface="微軟正黑體"/>
                          <a:cs typeface="微軟正黑體"/>
                        </a:rPr>
                        <a:t>2025–27年</a:t>
                      </a:r>
                    </a:p>
                  </a:txBody>
                  <a:tcPr marL="85725" marR="76200" marT="85725" marB="47625" anchor="ctr">
                    <a:solidFill>
                      <a:srgbClr val="F4F9FA"/>
                    </a:solidFill>
                  </a:tcPr>
                </a:tc>
                <a:tc>
                  <a:txBody>
                    <a:bodyPr/>
                    <a:lstStyle/>
                    <a:p>
                      <a:r>
                        <a:rPr sz="1500">
                          <a:solidFill>
                            <a:srgbClr val="172B34"/>
                          </a:solidFill>
                          <a:latin typeface="微軟正黑體"/>
                          <a:ea typeface="微軟正黑體"/>
                          <a:cs typeface="微軟正黑體"/>
                        </a:rPr>
                        <a:t>年增近4%（預估）</a:t>
                      </a:r>
                    </a:p>
                  </a:txBody>
                  <a:tcPr marL="85725" marR="76200" marT="85725" marB="47625" anchor="ctr">
                    <a:solidFill>
                      <a:srgbClr val="F4F9FA"/>
                    </a:solidFill>
                  </a:tcPr>
                </a:tc>
              </a:tr>
              <a:tr h="688875">
                <a:tc>
                  <a:txBody>
                    <a:bodyPr/>
                    <a:lstStyle/>
                    <a:p>
                      <a:r>
                        <a:rPr sz="1500" b="1">
                          <a:solidFill>
                            <a:srgbClr val="076F89"/>
                          </a:solidFill>
                          <a:latin typeface="微軟正黑體"/>
                          <a:ea typeface="微軟正黑體"/>
                          <a:cs typeface="微軟正黑體"/>
                        </a:rPr>
                        <a:t>資料中心用電</a:t>
                      </a:r>
                    </a:p>
                    <a:p>
                      <a:r>
                        <a:rPr sz="1500" b="1">
                          <a:solidFill>
                            <a:srgbClr val="076F89"/>
                          </a:solidFill>
                          <a:latin typeface="微軟正黑體"/>
                          <a:ea typeface="微軟正黑體"/>
                          <a:cs typeface="微軟正黑體"/>
                        </a:rPr>
                        <a:t>占全球比重</a:t>
                      </a:r>
                    </a:p>
                  </a:txBody>
                  <a:tcPr marL="85725" marR="76200" marT="85725" marB="47625" anchor="ctr">
                    <a:solidFill>
                      <a:srgbClr val="FFFFFF"/>
                    </a:solidFill>
                  </a:tcPr>
                </a:tc>
                <a:tc>
                  <a:txBody>
                    <a:bodyPr/>
                    <a:lstStyle/>
                    <a:p>
                      <a:r>
                        <a:rPr sz="1500">
                          <a:solidFill>
                            <a:srgbClr val="172B34"/>
                          </a:solidFill>
                          <a:latin typeface="微軟正黑體"/>
                          <a:ea typeface="微軟正黑體"/>
                          <a:cs typeface="微軟正黑體"/>
                        </a:rPr>
                        <a:t>2024年1.5%；2030年估3%</a:t>
                      </a:r>
                    </a:p>
                  </a:txBody>
                  <a:tcPr marL="85725" marR="76200" marT="85725" marB="47625" anchor="ctr">
                    <a:solidFill>
                      <a:srgbClr val="FFFFFF"/>
                    </a:solidFill>
                  </a:tcPr>
                </a:tc>
              </a:tr>
              <a:tr h="688875">
                <a:tc>
                  <a:txBody>
                    <a:bodyPr/>
                    <a:lstStyle/>
                    <a:p>
                      <a:r>
                        <a:rPr sz="1500" b="1">
                          <a:solidFill>
                            <a:srgbClr val="076F89"/>
                          </a:solidFill>
                          <a:latin typeface="微軟正黑體"/>
                          <a:ea typeface="微軟正黑體"/>
                          <a:cs typeface="微軟正黑體"/>
                        </a:rPr>
                        <a:t>變壓器價格</a:t>
                      </a:r>
                    </a:p>
                  </a:txBody>
                  <a:tcPr marL="85725" marR="76200" marT="85725" marB="47625" anchor="ctr">
                    <a:solidFill>
                      <a:srgbClr val="F4F9FA"/>
                    </a:solidFill>
                  </a:tcPr>
                </a:tc>
                <a:tc>
                  <a:txBody>
                    <a:bodyPr/>
                    <a:lstStyle/>
                    <a:p>
                      <a:r>
                        <a:rPr sz="1500">
                          <a:solidFill>
                            <a:srgbClr val="172B34"/>
                          </a:solidFill>
                          <a:latin typeface="微軟正黑體"/>
                          <a:ea typeface="微軟正黑體"/>
                          <a:cs typeface="微軟正黑體"/>
                        </a:rPr>
                        <a:t>2021至2026/7累計上漲81%</a:t>
                      </a:r>
                    </a:p>
                  </a:txBody>
                  <a:tcPr marL="85725" marR="76200" marT="85725" marB="47625" anchor="ctr">
                    <a:solidFill>
                      <a:srgbClr val="F4F9FA"/>
                    </a:solidFill>
                  </a:tcPr>
                </a:tc>
              </a:tr>
              <a:tr h="688875">
                <a:tc>
                  <a:txBody>
                    <a:bodyPr/>
                    <a:lstStyle/>
                    <a:p>
                      <a:r>
                        <a:rPr sz="1500" b="1">
                          <a:solidFill>
                            <a:srgbClr val="076F89"/>
                          </a:solidFill>
                          <a:latin typeface="微軟正黑體"/>
                          <a:ea typeface="微軟正黑體"/>
                          <a:cs typeface="微軟正黑體"/>
                        </a:rPr>
                        <a:t>大型變壓器交期</a:t>
                      </a:r>
                    </a:p>
                  </a:txBody>
                  <a:tcPr marL="85725" marR="76200" marT="85725" marB="47625" anchor="ctr">
                    <a:solidFill>
                      <a:srgbClr val="FFFFFF"/>
                    </a:solidFill>
                  </a:tcPr>
                </a:tc>
                <a:tc>
                  <a:txBody>
                    <a:bodyPr/>
                    <a:lstStyle/>
                    <a:p>
                      <a:r>
                        <a:rPr sz="1500">
                          <a:solidFill>
                            <a:srgbClr val="172B34"/>
                          </a:solidFill>
                          <a:latin typeface="微軟正黑體"/>
                          <a:ea typeface="微軟正黑體"/>
                          <a:cs typeface="微軟正黑體"/>
                        </a:rPr>
                        <a:t>疫情前40–50週</a:t>
                      </a:r>
                    </a:p>
                    <a:p>
                      <a:r>
                        <a:rPr sz="1500">
                          <a:solidFill>
                            <a:srgbClr val="172B34"/>
                          </a:solidFill>
                          <a:latin typeface="微軟正黑體"/>
                          <a:ea typeface="微軟正黑體"/>
                          <a:cs typeface="微軟正黑體"/>
                        </a:rPr>
                        <a:t>目前150–200週</a:t>
                      </a:r>
                    </a:p>
                  </a:txBody>
                  <a:tcPr marL="85725" marR="76200" marT="85725" marB="47625" anchor="ctr">
                    <a:solidFill>
                      <a:srgbClr val="FFFFFF"/>
                    </a:solidFill>
                  </a:tcPr>
                </a:tc>
              </a:tr>
            </a:tbl>
          </a:graphicData>
        </a:graphic>
      </p:graphicFrame>
      <p:sp>
        <p:nvSpPr>
          <p:cNvPr id="15365" name="">
            <a:extLst xmlns:a="http://schemas.openxmlformats.org/drawingml/2006/main">
              <a:ext uri="{FF2B5EF4-FFF2-40B4-BE49-F238E27FC236}">
                <a16:creationId xmlns:a16="http://schemas.microsoft.com/office/drawing/2014/main" id="{3B40D5E3-1F6D-4231-8F34-8A845F3A4AFA}"/>
              </a:ext>
            </a:extLst>
          </p:cNvPr>
          <p:cNvSpPr>
            <a:spLocks xmlns:a="http://schemas.openxmlformats.org/drawingml/2006/main" noGrp="1"/>
          </p:cNvSpPr>
          <p:nvPr/>
        </p:nvSpPr>
        <p:spPr>
          <a:xfrm xmlns:a="http://schemas.openxmlformats.org/drawingml/2006/main">
            <a:off x="493532" y="5945374"/>
            <a:ext cx="5171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4E656E"/>
                </a:solidFill>
                <a:latin typeface="微軟正黑體"/>
                <a:ea typeface="微軟正黑體"/>
                <a:cs typeface="微軟正黑體"/>
              </a:defRPr>
            </a:pPr>
            <a:r>
              <a:rPr sz="1050" b="0">
                <a:solidFill>
                  <a:srgbClr val="4E656E"/>
                </a:solidFill>
                <a:latin typeface="微軟正黑體"/>
                <a:ea typeface="微軟正黑體"/>
                <a:cs typeface="微軟正黑體"/>
              </a:rPr>
              <a:t>交期含升壓變壓器；需求擴張與供給限制並存。</a:t>
            </a:r>
          </a:p>
        </p:txBody>
      </p:sp>
      <p:sp>
        <p:nvSpPr>
          <p:cNvPr id="15366" name="">
            <a:extLst xmlns:a="http://schemas.openxmlformats.org/drawingml/2006/main">
              <a:ext uri="{FF2B5EF4-FFF2-40B4-BE49-F238E27FC236}">
                <a16:creationId xmlns:a16="http://schemas.microsoft.com/office/drawing/2014/main" id="{8F921349-363E-4C53-8574-9FB1AF113A89}"/>
              </a:ext>
            </a:extLst>
          </p:cNvPr>
          <p:cNvSpPr>
            <a:spLocks xmlns:a="http://schemas.openxmlformats.org/drawingml/2006/main" noGrp="1"/>
          </p:cNvSpPr>
          <p:nvPr/>
        </p:nvSpPr>
        <p:spPr>
          <a:xfrm xmlns:a="http://schemas.openxmlformats.org/drawingml/2006/main">
            <a:off x="6116753" y="2631983"/>
            <a:ext cx="5400000" cy="3708000"/>
          </a:xfrm>
          <a:prstGeom xmlns:a="http://schemas.openxmlformats.org/drawingml/2006/main" prst="roundRect">
            <a:avLst>
              <a:gd name="adj" fmla="val 3596"/>
            </a:avLst>
          </a:prstGeom>
          <a:solidFill xmlns:a="http://schemas.openxmlformats.org/drawingml/2006/main">
            <a:srgbClr val="FFFFFF"/>
          </a:solidFill>
          <a:ln xmlns:a="http://schemas.openxmlformats.org/drawingml/2006/main" w="6191">
            <a:solidFill>
              <a:srgbClr val="CDE6EB"/>
            </a:solidFill>
          </a:ln>
        </p:spPr>
      </p:sp>
      <p:graphicFrame>
        <p:nvGraphicFramePr>
          <p:cNvPr id="15378" name=""/>
          <p:cNvGraphicFramePr/>
          <p:nvPr/>
        </p:nvGraphicFramePr>
        <p:xfrm>
          <a:off xmlns:a="http://schemas.openxmlformats.org/drawingml/2006/main" x="6212003" y="2727233"/>
          <a:ext xmlns:a="http://schemas.openxmlformats.org/drawingml/2006/main" cx="5209500" cy="3165075"/>
        </p:xfrm>
        <a:graphic xmlns:a="http://schemas.openxmlformats.org/drawingml/2006/main">
          <a:graphicData uri="http://schemas.openxmlformats.org/drawingml/2006/table">
            <a:tbl>
              <a:tblPr/>
              <a:tblGrid>
                <a:gridCol w="1354470"/>
                <a:gridCol w="3855030"/>
              </a:tblGrid>
              <a:tr h="409575">
                <a:tc>
                  <a:txBody>
                    <a:bodyPr/>
                    <a:lstStyle/>
                    <a:p>
                      <a:r>
                        <a:rPr sz="1500" b="1">
                          <a:solidFill>
                            <a:srgbClr val="FFFFFF"/>
                          </a:solidFill>
                          <a:latin typeface="微軟正黑體"/>
                          <a:ea typeface="微軟正黑體"/>
                          <a:cs typeface="微軟正黑體"/>
                        </a:rPr>
                        <a:t>獲利來源</a:t>
                      </a:r>
                    </a:p>
                  </a:txBody>
                  <a:tcPr marL="85725" marR="76200" marT="85725" marB="47625" anchor="ctr">
                    <a:solidFill>
                      <a:srgbClr val="00829B"/>
                    </a:solidFill>
                  </a:tcPr>
                </a:tc>
                <a:tc>
                  <a:txBody>
                    <a:bodyPr/>
                    <a:lstStyle/>
                    <a:p>
                      <a:r>
                        <a:rPr sz="1500" b="1">
                          <a:solidFill>
                            <a:srgbClr val="FFFFFF"/>
                          </a:solidFill>
                          <a:latin typeface="微軟正黑體"/>
                          <a:ea typeface="微軟正黑體"/>
                          <a:cs typeface="微軟正黑體"/>
                        </a:rPr>
                        <a:t>投資判斷</a:t>
                      </a:r>
                    </a:p>
                  </a:txBody>
                  <a:tcPr marL="85725" marR="76200" marT="85725" marB="47625" anchor="ctr">
                    <a:solidFill>
                      <a:srgbClr val="00829B"/>
                    </a:solidFill>
                  </a:tcPr>
                </a:tc>
              </a:tr>
              <a:tr h="688875">
                <a:tc>
                  <a:txBody>
                    <a:bodyPr/>
                    <a:lstStyle/>
                    <a:p>
                      <a:r>
                        <a:rPr sz="1500" b="1">
                          <a:solidFill>
                            <a:srgbClr val="076F89"/>
                          </a:solidFill>
                          <a:latin typeface="微軟正黑體"/>
                          <a:ea typeface="微軟正黑體"/>
                          <a:cs typeface="微軟正黑體"/>
                        </a:rPr>
                        <a:t>金控淨利</a:t>
                      </a:r>
                    </a:p>
                  </a:txBody>
                  <a:tcPr marL="85725" marR="76200" marT="85725" marB="47625" anchor="ctr">
                    <a:solidFill>
                      <a:srgbClr val="F4F9FA"/>
                    </a:solidFill>
                  </a:tcPr>
                </a:tc>
                <a:tc>
                  <a:txBody>
                    <a:bodyPr/>
                    <a:lstStyle/>
                    <a:p>
                      <a:r>
                        <a:rPr sz="1500">
                          <a:solidFill>
                            <a:srgbClr val="172B34"/>
                          </a:solidFill>
                          <a:latin typeface="微軟正黑體"/>
                          <a:ea typeface="微軟正黑體"/>
                          <a:cs typeface="微軟正黑體"/>
                        </a:rPr>
                        <a:t>8M26：5,789億元</a:t>
                      </a:r>
                    </a:p>
                    <a:p>
                      <a:r>
                        <a:rPr sz="1500">
                          <a:solidFill>
                            <a:srgbClr val="172B34"/>
                          </a:solidFill>
                          <a:latin typeface="微軟正黑體"/>
                          <a:ea typeface="微軟正黑體"/>
                          <a:cs typeface="微軟正黑體"/>
                        </a:rPr>
                        <a:t>年增59.1%</a:t>
                      </a:r>
                    </a:p>
                  </a:txBody>
                  <a:tcPr marL="85725" marR="76200" marT="85725" marB="47625" anchor="ctr">
                    <a:solidFill>
                      <a:srgbClr val="F4F9FA"/>
                    </a:solidFill>
                  </a:tcPr>
                </a:tc>
              </a:tr>
              <a:tr h="688875">
                <a:tc>
                  <a:txBody>
                    <a:bodyPr/>
                    <a:lstStyle/>
                    <a:p>
                      <a:r>
                        <a:rPr sz="1500" b="1">
                          <a:solidFill>
                            <a:srgbClr val="076F89"/>
                          </a:solidFill>
                          <a:latin typeface="微軟正黑體"/>
                          <a:ea typeface="微軟正黑體"/>
                          <a:cs typeface="微軟正黑體"/>
                        </a:rPr>
                        <a:t>銀行／證券</a:t>
                      </a:r>
                    </a:p>
                  </a:txBody>
                  <a:tcPr marL="85725" marR="76200" marT="85725" marB="47625" anchor="ctr">
                    <a:solidFill>
                      <a:srgbClr val="FFFFFF"/>
                    </a:solidFill>
                  </a:tcPr>
                </a:tc>
                <a:tc>
                  <a:txBody>
                    <a:bodyPr/>
                    <a:lstStyle/>
                    <a:p>
                      <a:r>
                        <a:rPr sz="1500">
                          <a:solidFill>
                            <a:srgbClr val="172B34"/>
                          </a:solidFill>
                          <a:latin typeface="微軟正黑體"/>
                          <a:ea typeface="微軟正黑體"/>
                          <a:cs typeface="微軟正黑體"/>
                        </a:rPr>
                        <a:t>2026放款估雙位數成長，交投熱絡支撐券商</a:t>
                      </a:r>
                    </a:p>
                  </a:txBody>
                  <a:tcPr marL="85725" marR="76200" marT="85725" marB="47625" anchor="ctr">
                    <a:solidFill>
                      <a:srgbClr val="FFFFFF"/>
                    </a:solidFill>
                  </a:tcPr>
                </a:tc>
              </a:tr>
              <a:tr h="688875">
                <a:tc>
                  <a:txBody>
                    <a:bodyPr/>
                    <a:lstStyle/>
                    <a:p>
                      <a:r>
                        <a:rPr sz="1500" b="1">
                          <a:solidFill>
                            <a:srgbClr val="076F89"/>
                          </a:solidFill>
                          <a:latin typeface="微軟正黑體"/>
                          <a:ea typeface="微軟正黑體"/>
                          <a:cs typeface="微軟正黑體"/>
                        </a:rPr>
                        <a:t>壽險／配息</a:t>
                      </a:r>
                    </a:p>
                  </a:txBody>
                  <a:tcPr marL="85725" marR="76200" marT="85725" marB="47625" anchor="ctr">
                    <a:solidFill>
                      <a:srgbClr val="F4F9FA"/>
                    </a:solidFill>
                  </a:tcPr>
                </a:tc>
                <a:tc>
                  <a:txBody>
                    <a:bodyPr/>
                    <a:lstStyle/>
                    <a:p>
                      <a:r>
                        <a:rPr sz="1500">
                          <a:solidFill>
                            <a:srgbClr val="172B34"/>
                          </a:solidFill>
                          <a:latin typeface="微軟正黑體"/>
                          <a:ea typeface="微軟正黑體"/>
                          <a:cs typeface="微軟正黑體"/>
                        </a:rPr>
                        <a:t>CSM與經常性收益增長，以調整後EPS觀察股息能力</a:t>
                      </a:r>
                    </a:p>
                  </a:txBody>
                  <a:tcPr marL="85725" marR="76200" marT="85725" marB="47625" anchor="ctr">
                    <a:solidFill>
                      <a:srgbClr val="F4F9FA"/>
                    </a:solidFill>
                  </a:tcPr>
                </a:tc>
              </a:tr>
              <a:tr h="688875">
                <a:tc>
                  <a:txBody>
                    <a:bodyPr/>
                    <a:lstStyle/>
                    <a:p>
                      <a:r>
                        <a:rPr sz="1500" b="1">
                          <a:solidFill>
                            <a:srgbClr val="076F89"/>
                          </a:solidFill>
                          <a:latin typeface="微軟正黑體"/>
                          <a:ea typeface="微軟正黑體"/>
                          <a:cs typeface="微軟正黑體"/>
                        </a:rPr>
                        <a:t>短期限制</a:t>
                      </a:r>
                    </a:p>
                  </a:txBody>
                  <a:tcPr marL="85725" marR="76200" marT="85725" marB="47625" anchor="ctr">
                    <a:solidFill>
                      <a:srgbClr val="FFFFFF"/>
                    </a:solidFill>
                  </a:tcPr>
                </a:tc>
                <a:tc>
                  <a:txBody>
                    <a:bodyPr/>
                    <a:lstStyle/>
                    <a:p>
                      <a:r>
                        <a:rPr sz="1500">
                          <a:solidFill>
                            <a:srgbClr val="172B34"/>
                          </a:solidFill>
                          <a:latin typeface="微軟正黑體"/>
                          <a:ea typeface="微軟正黑體"/>
                          <a:cs typeface="微軟正黑體"/>
                        </a:rPr>
                        <a:t>現金股息旺季已過，年底呆帳提存較多</a:t>
                      </a:r>
                    </a:p>
                  </a:txBody>
                  <a:tcPr marL="85725" marR="76200" marT="85725" marB="47625" anchor="ctr">
                    <a:solidFill>
                      <a:srgbClr val="FFFFFF"/>
                    </a:solidFill>
                  </a:tcPr>
                </a:tc>
              </a:tr>
            </a:tbl>
          </a:graphicData>
        </a:graphic>
      </p:graphicFrame>
      <p:sp>
        <p:nvSpPr>
          <p:cNvPr id="15368" name="">
            <a:extLst xmlns:a="http://schemas.openxmlformats.org/drawingml/2006/main">
              <a:ext uri="{FF2B5EF4-FFF2-40B4-BE49-F238E27FC236}">
                <a16:creationId xmlns:a16="http://schemas.microsoft.com/office/drawing/2014/main" id="{8E10D9E0-B824-4CA3-AFCE-7BAEC102F8E8}"/>
              </a:ext>
            </a:extLst>
          </p:cNvPr>
          <p:cNvSpPr>
            <a:spLocks xmlns:a="http://schemas.openxmlformats.org/drawingml/2006/main" noGrp="1"/>
          </p:cNvSpPr>
          <p:nvPr/>
        </p:nvSpPr>
        <p:spPr>
          <a:xfrm xmlns:a="http://schemas.openxmlformats.org/drawingml/2006/main">
            <a:off x="6231053" y="5968508"/>
            <a:ext cx="5171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4E656E"/>
                </a:solidFill>
                <a:latin typeface="微軟正黑體"/>
                <a:ea typeface="微軟正黑體"/>
                <a:cs typeface="微軟正黑體"/>
              </a:defRPr>
            </a:pPr>
            <a:r>
              <a:rPr sz="1050" b="0">
                <a:solidFill>
                  <a:srgbClr val="4E656E"/>
                </a:solidFill>
                <a:latin typeface="微軟正黑體"/>
                <a:ea typeface="微軟正黑體"/>
                <a:cs typeface="微軟正黑體"/>
              </a:rPr>
              <a:t>原報告能源／殖利率名單另含國泰金。</a:t>
            </a:r>
          </a:p>
        </p:txBody>
      </p:sp>
    </p:spTree>
    <p:extLst>
      <p:ext uri="{BB962C8B-B14F-4D97-AF65-F5344CB8AC3E}">
        <p14:creationId xmlns:p14="http://schemas.microsoft.com/office/powerpoint/2010/main" val="251261530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標題 2">
            <a:extLst xmlns:a="http://schemas.openxmlformats.org/drawingml/2006/main">
              <a:ext uri="{FF2B5EF4-FFF2-40B4-BE49-F238E27FC236}">
                <a16:creationId xmlns:a16="http://schemas.microsoft.com/office/drawing/2014/main" id="{5F5E8134-2E7A-048E-6975-EE607471C23C}"/>
              </a:ext>
            </a:extLst>
          </p:cNvPr>
          <p:cNvSpPr>
            <a:spLocks xmlns:a="http://schemas.openxmlformats.org/drawingml/2006/main" noGrp="1"/>
          </p:cNvSpPr>
          <p:nvPr>
            <p:ph type="title" idx="0"/>
          </p:nvPr>
        </p:nvSpPr>
        <p:spPr>
          <a:xfrm xmlns:a="http://schemas.openxmlformats.org/drawingml/2006/main">
            <a:off x="3986783" y="2282320"/>
            <a:ext cx="4233673" cy="659975"/>
          </a:xfrm>
        </p:spPr>
        <p:txBody>
          <a:bodyPr xmlns:a="http://schemas.openxmlformats.org/drawingml/2006/main">
            <a:normAutofit/>
          </a:bodyPr>
          <a:lstStyle xmlns:a="http://schemas.openxmlformats.org/drawingml/2006/main"/>
          <a:p xmlns:a="http://schemas.openxmlformats.org/drawingml/2006/main">
            <a:pPr algn="ctr">
              <a:buNone/>
            </a:pPr>
            <a:r>
              <a:rPr sz="3600" b="1">
                <a:latin typeface="微軟正黑體"/>
                <a:ea typeface="微軟正黑體"/>
                <a:cs typeface="微軟正黑體"/>
              </a:rPr>
              <a:t>簡報完畢  敬請指教</a:t>
            </a:r>
            <a:endParaRPr sz="3600" b="1"/>
          </a:p>
        </p:txBody>
      </p:sp>
      <p:sp>
        <p:nvSpPr>
          <p:cNvPr id="4" name="圖片版面配置區 3">
            <a:extLst xmlns:a="http://schemas.openxmlformats.org/drawingml/2006/main">
              <a:ext uri="{FF2B5EF4-FFF2-40B4-BE49-F238E27FC236}">
                <a16:creationId xmlns:a16="http://schemas.microsoft.com/office/drawing/2014/main" id="{C4A876E1-7180-4B16-51D5-0B64EBEF3340}"/>
              </a:ext>
            </a:extLst>
          </p:cNvPr>
          <p:cNvSpPr>
            <a:spLocks xmlns:a="http://schemas.openxmlformats.org/drawingml/2006/main" noGrp="1"/>
          </p:cNvSpPr>
          <p:nvPr>
            <p:ph type="pic" idx="29"/>
          </p:nvPr>
        </p:nvSpPr>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197915281"/>
      </p:ext>
    </p:extLst>
  </p:cSld>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2026-10-06T01:37:37.5300000Z</dcterms:created>
  <dcterms:modified xsi:type="dcterms:W3CDTF">2026-10-06T01:37:37.5300000Z</dcterms:modified>
</coreProperties>
</file>