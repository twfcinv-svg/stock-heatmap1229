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sldIdLst>
    <p:sldId id="719" r:id="rId5"/>
    <p:sldId id="1093" r:id="rId6"/>
    <p:sldId id="4823" r:id="rId13"/>
    <p:sldId id="4824" r:id="rId14"/>
    <p:sldId id="4825" r:id="rId15"/>
    <p:sldId id="4826" r:id="rId16"/>
    <p:sldId id="4822" r:id="rId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FY27</c:v>
                </c:pt>
              </c:strCache>
            </c:strRef>
          </c:tx>
          <c:spPr>
            <a:solidFill>
              <a:srgbClr val="BFDDE6"/>
            </a:solidFill>
          </c:spPr>
          <c:cat>
            <c:strRef>
              <c:f>Sheet1!$A$2:$A$5</c:f>
              <c:strCache>
                <c:ptCount val="4"/>
                <c:pt idx="0">
                  <c:v>金融</c:v>
                </c:pt>
                <c:pt idx="1">
                  <c:v>IC設計</c:v>
                </c:pt>
                <c:pt idx="2">
                  <c:v>半導體</c:v>
                </c:pt>
                <c:pt idx="3">
                  <c:v>PC周邊及零組件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6.7</c:v>
                </c:pt>
                <c:pt idx="1">
                  <c:v>60.2</c:v>
                </c:pt>
                <c:pt idx="2">
                  <c:v>41.6</c:v>
                </c:pt>
                <c:pt idx="3">
                  <c:v>59.3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FY26</c:v>
                </c:pt>
              </c:strCache>
            </c:strRef>
          </c:tx>
          <c:spPr>
            <a:solidFill>
              <a:srgbClr val="00829B"/>
            </a:solidFill>
          </c:spPr>
          <c:dPt>
            <c:idx val="0"/>
            <c:spPr>
              <a:solidFill>
                <a:srgbClr val="00829B"/>
              </a:solidFill>
            </c:spPr>
          </c:dPt>
          <c:dPt>
            <c:idx val="1"/>
            <c:spPr>
              <a:solidFill>
                <a:srgbClr val="00829B"/>
              </a:solidFill>
            </c:spPr>
          </c:dPt>
          <c:dPt>
            <c:idx val="2"/>
            <c:spPr>
              <a:solidFill>
                <a:srgbClr val="00829B"/>
              </a:solidFill>
            </c:spPr>
          </c:dPt>
          <c:dPt>
            <c:idx val="3"/>
            <c:spPr>
              <a:solidFill>
                <a:srgbClr val="014865"/>
              </a:solidFill>
            </c:spPr>
          </c:dPt>
          <c:cat>
            <c:strRef>
              <c:f>Sheet1!$A$2:$A$5</c:f>
              <c:strCache>
                <c:ptCount val="4"/>
                <c:pt idx="0">
                  <c:v>金融</c:v>
                </c:pt>
                <c:pt idx="1">
                  <c:v>IC設計</c:v>
                </c:pt>
                <c:pt idx="2">
                  <c:v>半導體</c:v>
                </c:pt>
                <c:pt idx="3">
                  <c:v>PC周邊及零組件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20.9</c:v>
                </c:pt>
                <c:pt idx="1">
                  <c:v>64.8</c:v>
                </c:pt>
                <c:pt idx="2">
                  <c:v>68.5</c:v>
                </c:pt>
                <c:pt idx="3">
                  <c:v>107.8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200">
                  <a:latin typeface="微軟正黑體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DE6EB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30.0"/>
        </c:scaling>
        <c:delete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latin typeface="微軟正黑體"/>
          <a:ea typeface="微軟正黑體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出貨</c:v>
                </c:pt>
              </c:strCache>
            </c:strRef>
          </c:tx>
          <c:spPr>
            <a:solidFill>
              <a:srgbClr val="B4C8D0"/>
            </a:solidFill>
          </c:spPr>
          <c:dPt>
            <c:idx val="0"/>
            <c:spPr>
              <a:solidFill>
                <a:srgbClr val="8CCBE0"/>
              </a:solidFill>
            </c:spPr>
          </c:dPt>
          <c:dPt>
            <c:idx val="1"/>
            <c:spPr>
              <a:solidFill>
                <a:srgbClr val="014865"/>
              </a:solidFill>
            </c:spPr>
          </c:dPt>
          <c:dPt>
            <c:idx val="2"/>
            <c:spPr>
              <a:solidFill>
                <a:srgbClr val="0093C1"/>
              </a:solidFill>
            </c:spPr>
          </c:dPt>
          <c:cat>
            <c:strRef>
              <c:f>Sheet1!$A$2:$A$4</c:f>
              <c:strCache>
                <c:ptCount val="3"/>
                <c:pt idx="0">
                  <c:v>GB200</c:v>
                </c:pt>
                <c:pt idx="1">
                  <c:v>GB300</c:v>
                </c:pt>
                <c:pt idx="2">
                  <c:v>VR200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</c:v>
                </c:pt>
                <c:pt idx="1">
                  <c:v>70</c:v>
                </c:pt>
                <c:pt idx="2">
                  <c:v>4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400">
                  <a:latin typeface="微軟正黑體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DE6EB"/>
            </a:solidFill>
          </a:ln>
        </c:spPr>
        <c:txPr>
          <a:bodyPr/>
          <a:lstStyle/>
          <a:p>
            <a:pPr>
              <a:defRPr sz="14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0.0"/>
        </c:scaling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latin typeface="微軟正黑體"/>
          <a:ea typeface="微軟正黑體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半導體</c:v>
                </c:pt>
              </c:strCache>
            </c:strRef>
          </c:tx>
          <c:spPr>
            <a:ln w="31750">
              <a:solidFill>
                <a:srgbClr val="8CCBE0"/>
              </a:solidFill>
            </a:ln>
          </c:spPr>
          <c:marker>
            <c:size val="7"/>
            <c:spPr>
              <a:solidFill>
                <a:srgbClr val="8CCBE0"/>
              </a:solidFill>
              <a:ln>
                <a:solidFill>
                  <a:srgbClr val="8CCBE0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1Q26</c:v>
                </c:pt>
                <c:pt idx="1">
                  <c:v>2Q26</c:v>
                </c:pt>
                <c:pt idx="2">
                  <c:v>3Q26</c:v>
                </c:pt>
                <c:pt idx="3">
                  <c:v>4Q26</c:v>
                </c:pt>
                <c:pt idx="4">
                  <c:v>1Q27</c:v>
                </c:pt>
                <c:pt idx="5">
                  <c:v>2Q27</c:v>
                </c:pt>
                <c:pt idx="6">
                  <c:v>3Q27</c:v>
                </c:pt>
                <c:pt idx="7">
                  <c:v>4Q27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62.3</c:v>
                </c:pt>
                <c:pt idx="1">
                  <c:v>89.4</c:v>
                </c:pt>
                <c:pt idx="2">
                  <c:v>64.3</c:v>
                </c:pt>
                <c:pt idx="3">
                  <c:v>60.7</c:v>
                </c:pt>
                <c:pt idx="4">
                  <c:v>42.7</c:v>
                </c:pt>
                <c:pt idx="5">
                  <c:v>28.2</c:v>
                </c:pt>
                <c:pt idx="6">
                  <c:v>47.4</c:v>
                </c:pt>
                <c:pt idx="7">
                  <c:v>45.6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IC設計</c:v>
                </c:pt>
              </c:strCache>
            </c:strRef>
          </c:tx>
          <c:spPr>
            <a:ln w="31750">
              <a:solidFill>
                <a:srgbClr val="014865"/>
              </a:solidFill>
            </a:ln>
          </c:spPr>
          <c:marker>
            <c:size val="7"/>
            <c:spPr>
              <a:solidFill>
                <a:srgbClr val="014865"/>
              </a:solidFill>
              <a:ln>
                <a:solidFill>
                  <a:srgbClr val="014865"/>
                </a:solidFill>
              </a:ln>
            </c:spPr>
          </c:marker>
          <c:dLbls>
            <c:dLbl>
              <c:idx val="3"/>
              <c:spPr/>
              <c:txPr>
                <a:bodyPr/>
                <a:lstStyle/>
                <a:p>
                  <a:pPr>
                    <a:defRPr sz="1200" b="1">
                      <a:solidFill>
                        <a:srgbClr val="014865"/>
                      </a:solidFill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1Q26</c:v>
                </c:pt>
                <c:pt idx="1">
                  <c:v>2Q26</c:v>
                </c:pt>
                <c:pt idx="2">
                  <c:v>3Q26</c:v>
                </c:pt>
                <c:pt idx="3">
                  <c:v>4Q26</c:v>
                </c:pt>
                <c:pt idx="4">
                  <c:v>1Q27</c:v>
                </c:pt>
                <c:pt idx="5">
                  <c:v>2Q27</c:v>
                </c:pt>
                <c:pt idx="6">
                  <c:v>3Q27</c:v>
                </c:pt>
                <c:pt idx="7">
                  <c:v>4Q27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19.1</c:v>
                </c:pt>
                <c:pt idx="1">
                  <c:v>73.4</c:v>
                </c:pt>
                <c:pt idx="2">
                  <c:v>74.5</c:v>
                </c:pt>
                <c:pt idx="3">
                  <c:v>96.6</c:v>
                </c:pt>
                <c:pt idx="4">
                  <c:v>61.4</c:v>
                </c:pt>
                <c:pt idx="5">
                  <c:v>48.1</c:v>
                </c:pt>
                <c:pt idx="6">
                  <c:v>61.1</c:v>
                </c:pt>
                <c:pt idx="7">
                  <c:v>63.4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DE6EB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20.0"/>
          <c:min val="0.0"/>
        </c:scaling>
        <c:delete val="0"/>
        <c:axPos val="l"/>
        <c:majorGridlines>
          <c:spPr>
            <a:ln>
              <a:solidFill>
                <a:srgbClr val="CDE6EB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微軟正黑體"/>
          <a:ea typeface="微軟正黑體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BB ratio</c:v>
                </c:pt>
              </c:strCache>
            </c:strRef>
          </c:tx>
          <c:spPr>
            <a:solidFill>
              <a:srgbClr val="B4C8D0"/>
            </a:solidFill>
          </c:spPr>
          <c:dPt>
            <c:idx val="0"/>
            <c:spPr>
              <a:solidFill>
                <a:srgbClr val="8CCBE0"/>
              </a:solidFill>
            </c:spPr>
          </c:dPt>
          <c:dPt>
            <c:idx val="1"/>
            <c:spPr>
              <a:solidFill>
                <a:srgbClr val="0093C1"/>
              </a:solidFill>
            </c:spPr>
          </c:dPt>
          <c:dPt>
            <c:idx val="2"/>
            <c:spPr>
              <a:solidFill>
                <a:srgbClr val="014865"/>
              </a:solidFill>
            </c:spPr>
          </c:dPt>
          <c:cat>
            <c:strRef>
              <c:f>Sheet1!$A$2:$A$4</c:f>
              <c:strCache>
                <c:ptCount val="3"/>
                <c:pt idx="0">
                  <c:v>村田</c:v>
                </c:pt>
                <c:pt idx="1">
                  <c:v>太陽誘電</c:v>
                </c:pt>
                <c:pt idx="2">
                  <c:v>國巨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1.34</c:v>
                </c:pt>
                <c:pt idx="1">
                  <c:v>1.72</c:v>
                </c:pt>
                <c:pt idx="2">
                  <c:v>2.2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400">
                  <a:latin typeface="微軟正黑體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DE6EB"/>
            </a:solidFill>
          </a:ln>
        </c:spPr>
        <c:txPr>
          <a:bodyPr/>
          <a:lstStyle/>
          <a:p>
            <a:pPr>
              <a:defRPr sz="14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.5"/>
          <c:min val="0.0"/>
        </c:scaling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latin typeface="微軟正黑體"/>
          <a:ea typeface="微軟正黑體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2026年</c:v>
                </c:pt>
              </c:strCache>
            </c:strRef>
          </c:tx>
          <c:spPr>
            <a:solidFill>
              <a:srgbClr val="BFDDE6"/>
            </a:solidFill>
          </c:spPr>
          <c:invertIfNegative val="0"/>
          <c:cat>
            <c:strRef>
              <c:f>Sheet1!$A$2:$A$3</c:f>
              <c:strCache>
                <c:ptCount val="2"/>
                <c:pt idx="0">
                  <c:v>DRAM</c:v>
                </c:pt>
                <c:pt idx="1">
                  <c:v>NAND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-1.0</c:v>
                </c:pt>
                <c:pt idx="1">
                  <c:v>-4.4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2027年</c:v>
                </c:pt>
              </c:strCache>
            </c:strRef>
          </c:tx>
          <c:spPr>
            <a:solidFill>
              <a:srgbClr val="014865"/>
            </a:solidFill>
          </c:spPr>
          <c:invertIfNegative val="0"/>
          <c:cat>
            <c:strRef>
              <c:f>Sheet1!$A$2:$A$3</c:f>
              <c:strCache>
                <c:ptCount val="2"/>
                <c:pt idx="0">
                  <c:v>DRAM</c:v>
                </c:pt>
                <c:pt idx="1">
                  <c:v>NAND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-4.0</c:v>
                </c:pt>
                <c:pt idx="1">
                  <c:v>3.6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300">
                  <a:latin typeface="微軟正黑體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CDE6EB"/>
            </a:solidFill>
          </a:ln>
        </c:spPr>
        <c:txPr>
          <a:bodyPr/>
          <a:lstStyle/>
          <a:p>
            <a:pPr>
              <a:defRPr sz="14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.0"/>
          <c:min val="-6.0"/>
        </c:scaling>
        <c:delete val="0"/>
        <c:axPos val="l"/>
        <c:majorGridlines>
          <c:spPr>
            <a:ln>
              <a:solidFill>
                <a:srgbClr val="CDE6EB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  <c:majorUnit val="2.0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latin typeface="微軟正黑體"/>
          <a:ea typeface="微軟正黑體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起</c:v>
                </c:pt>
              </c:strCache>
            </c:strRef>
          </c:tx>
          <c:spPr>
            <a:noFill/>
            <a:ln>
              <a:noFill/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1400" b="1">
                        <a:solidFill>
                          <a:srgbClr val="014865"/>
                        </a:solidFill>
                        <a:latin typeface="微軟正黑體"/>
                        <a:ea typeface="微軟正黑體"/>
                      </a:rPr>
                      <a:t>150-200週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400" b="1">
                        <a:solidFill>
                          <a:srgbClr val="014865"/>
                        </a:solidFill>
                        <a:latin typeface="微軟正黑體"/>
                        <a:ea typeface="微軟正黑體"/>
                      </a:rPr>
                      <a:t>40-50週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目前</c:v>
                </c:pt>
                <c:pt idx="1">
                  <c:v>疫情前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150</c:v>
                </c:pt>
                <c:pt idx="1">
                  <c:v>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區間</c:v>
                </c:pt>
              </c:strCache>
            </c:strRef>
          </c:tx>
          <c:spPr>
            <a:solidFill>
              <a:srgbClr val="014865"/>
            </a:solidFill>
          </c:spPr>
          <c:dPt>
            <c:idx val="0"/>
            <c:spPr>
              <a:solidFill>
                <a:srgbClr val="014865"/>
              </a:solidFill>
            </c:spPr>
          </c:dPt>
          <c:dPt>
            <c:idx val="1"/>
            <c:spPr>
              <a:solidFill>
                <a:srgbClr val="8CCBE0"/>
              </a:solidFill>
            </c:spPr>
          </c:dPt>
          <c:cat>
            <c:strRef>
              <c:f>Sheet1!$A$2:$A$3</c:f>
              <c:strCache>
                <c:ptCount val="2"/>
                <c:pt idx="0">
                  <c:v>目前</c:v>
                </c:pt>
                <c:pt idx="1">
                  <c:v>疫情前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50</c:v>
                </c:pt>
                <c:pt idx="1">
                  <c:v>10</c:v>
                </c:pt>
              </c:numCache>
            </c:numRef>
          </c:val>
        </c:ser>
        <c:gapWidth val="5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DE6EB"/>
            </a:solidFill>
          </a:ln>
        </c:spPr>
        <c:txPr>
          <a:bodyPr/>
          <a:lstStyle/>
          <a:p>
            <a:pPr>
              <a:defRPr sz="14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40.0"/>
          <c:min val="0.0"/>
        </c:scaling>
        <c:delete val="0"/>
        <c:axPos val="b"/>
        <c:majorGridlines>
          <c:spPr>
            <a:ln>
              <a:solidFill>
                <a:srgbClr val="CDE6EB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  <c:majorUnit val="50.0"/>
      </c:valAx>
    </c:plotArea>
    <c:dispBlanksAs val="gap"/>
  </c:chart>
  <c:txPr>
    <a:bodyPr/>
    <a:lstStyle/>
    <a:p>
      <a:pPr>
        <a:defRPr sz="1200">
          <a:latin typeface="微軟正黑體"/>
          <a:ea typeface="微軟正黑體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7A96AA-CE0D-454F-9036-2E7E01962C43}" type="datetimeFigureOut">
              <a:rPr lang="zh-TW" altLang="en-US" smtClean="0"/>
              <a:t>2026/9/30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A11E6F-1C25-4127-9829-3F391A3641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8652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16C86-6A95-925B-1960-8F9A98FD0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F03BECE-A97D-1F38-1F0D-39D79C2A2B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B02B7DD-1650-DACD-E98D-80F24A452E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【出處】</a:t>
            </a:r>
          </a:p>
          <a:p>
            <a:r>
              <a:t>點1：PDF第1頁「9月16日聯準會12位票委一致決議升息1碼至3.75%-4%」「上修2026、2027年利率目標中值至4.1%」「推升美10年債殖利率至5%以上」「台灣8月外銷接單再創歷史新高，首次突破1千億美元，較去年同期大幅增長71.4%」「LSEG調查預估第三季標普500企業盈餘年增率將達29.9%，占權重最高的科技股成長展望更高達64.9%」。</a:t>
            </a:r>
          </a:p>
          <a:p>
            <a:r>
              <a:t>點2：PDF第1頁「預期Google、Meta等自研方案將會尋求如Intel、聯電等非台積電體系產能支援」「CCL M8/M9升級、適用於高電壓系統之電容」「這早已在投資市場預期之中」。</a:t>
            </a:r>
          </a:p>
          <a:p>
            <a:r>
              <a:t>左圖：PDF第9頁附錄1 EPS growth(%) FY26/FY27：Semiconductor 68.5/41.6、Fabless 64.8/60.2、PC periph. &amp; Component 107.8/59.3、Financial 20.9/6.7、total 74.4/37.9。</a:t>
            </a:r>
          </a:p>
          <a:p>
            <a:r>
              <a:t>右圖：PDF第2頁圖表1（10月產業投資策略之推薦個股，代號：2454聯發科、2467志聖、2360致茂、6187萬潤；2330台積電、3037欣興、8028昇陽半、3443創意；2059川湖、3017奇鋐、2455全新、3665貿聯-KY；1519華城、1303南亞、4749新應材、2882國泰金）。</a:t>
            </a:r>
          </a:p>
          <a:p/>
          <a:p>
            <a:r>
              <a:t>【疑慮與未放內容】</a:t>
            </a:r>
          </a:p>
          <a:p>
            <a:r>
              <a:t>1. PDF第1頁重點摘要第3點寫「9月選股策略」，報告為10月策略，內文與圖表1均為10月（依使用者指示照原文，本頁未引用該句）。</a:t>
            </a:r>
          </a:p>
          <a:p>
            <a:r>
              <a:t>2. PDF第1頁第一段結尾「過去四十餘年美股在國會選舉結果為分裂國會狀態下，平均漲幅最高，」句子未完。</a:t>
            </a:r>
          </a:p>
          <a:p>
            <a:r>
              <a:t>3. PDF第1頁圖片資料來源標示「工商時報」。</a:t>
            </a:r>
          </a:p>
          <a:p>
            <a:r>
              <a:t>4. 附錄1極端值未放入圖：Memory FY26 +2,784.0%、Cement &amp; Construction +1,101.3%、Steel +404.8%、IT distributor +132.6%、Other Tech +155.7%（基期低）。</a:t>
            </a:r>
          </a:p>
          <a:p>
            <a:r>
              <a:t>5. 「挑戰五萬大關」為報告標題用語，屬研究部展望。</a:t>
            </a:r>
          </a:p>
          <a:p>
            <a:r>
              <a:t>6. 美國期中選舉、分裂國會平均漲幅最高之論述未放。</a:t>
            </a:r>
          </a:p>
          <a:p/>
          <a:p>
            <a:r>
              <a:t>【v2 圖表說明】</a:t>
            </a:r>
          </a:p>
          <a:p>
            <a:r>
              <a:t>左圖改橫向成對長條，PC周邊及零組件FY26以深藍色標示；「核心持股合計」改為上方字卡（FY26 74.4%／FY27 37.9%，PDF第9頁附錄1 total列）。</a:t>
            </a:r>
          </a:p>
          <a:p>
            <a:r>
              <a:t>右圖四張議題卡內容同PDF第2頁圖表1；★為PDF第4頁投資組合「本期新增」標記（致茂、萬潤、昇陽半、華城、新應材在推薦表內；華通、南亞科、元大金為新增但不在推薦表）。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70E43F3-4B8C-083F-E350-23959FAC0A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37645-B8BC-4356-B61A-DD261CD10DEE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67734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A11E6F-1C25-4127-9829-3F391A364166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68433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【出處】</a:t>
            </a:r>
          </a:p>
          <a:p>
            <a:r>
              <a:t>點1：PDF第4頁 Fubon portfolio vs. Market weight（內圈為富邦投資組合）：Financial 8.00%、Tech 82.00%、Non-tech 10.00%；Market Weight 8.7%、80.6%、10.7%；台積電Portfolio 28%。</a:t>
            </a:r>
          </a:p>
          <a:p>
            <a:r>
              <a:t>點2：PDF第2頁「傳產聚焦產業旺季、低基期、防禦性等選擇主軸」段落。</a:t>
            </a:r>
          </a:p>
          <a:p>
            <a:r>
              <a:t>右圖：PDF第4頁「富邦投資組合及本期新增標的」★標示8檔，股價與目標價為2026.9.30資料。</a:t>
            </a:r>
          </a:p>
          <a:p/>
          <a:p>
            <a:r>
              <a:t>【疑慮】</a:t>
            </a:r>
          </a:p>
          <a:p>
            <a:r>
              <a:t>1. 萬潤（6187）：股價1,195.00元，目標價800.00元，低於股價約33%，評等Buy且列本期新增（依使用者指示照報告全放）。</a:t>
            </a:r>
          </a:p>
          <a:p>
            <a:r>
              <a:t>2. 同表其他現價高於目標價仍為Buy：欣興1,185.00 vs 1,100.00、創意8,525.00 vs 8,000.00。</a:t>
            </a:r>
          </a:p>
          <a:p>
            <a:r>
              <a:t>3. 貿聯-KY：股價720.00元、目標價3,100.00元，差距逾4倍，疑似股價或目標價誤植（未放於本頁）。</a:t>
            </a:r>
          </a:p>
          <a:p>
            <a:r>
              <a:t>4. 大立光：本表股價6,245.00元；iPhone 18報告（9/7收盤）為6,660元。</a:t>
            </a:r>
          </a:p>
          <a:p>
            <a:r>
              <a:t>5. 國泰金EPS：本表FY26 9.06／FY27 9.53元；金融產業報告（9/16）為8.81／9.28元，報告註明部分個股因除權息、增減資造成落差。</a:t>
            </a:r>
          </a:p>
          <a:p>
            <a:r>
              <a:t>6. 推薦表16檔、投資組合20檔；投組另含華通、南亞科、元大金、大立光。</a:t>
            </a:r>
          </a:p>
          <a:p>
            <a:r>
              <a:t>7. 權重自洽檢查：20檔權重加總100%；金融8%＝國泰金4%＋元大金4%；非科技10%＝南亞3%＋華城4%＋新應材3%。</a:t>
            </a:r>
          </a:p>
          <a:p>
            <a:r>
              <a:t>8. PDF第3頁寫「2026年現金股息發放能力可期」，金融產業報告（9/16）同段寫「明年」。</a:t>
            </a:r>
          </a:p>
          <a:p>
            <a:r>
              <a:t>9. 傳產段落提及「受惠於穀物與煤炭、鐵礦砂等原物料需求旺季」，與第8頁散裝航運「BDI區間3,000-3,500點」可互相參照。</a:t>
            </a:r>
          </a:p>
          <a:p/>
          <a:p>
            <a:r>
              <a:t>【v2 圖表推算值】</a:t>
            </a:r>
          </a:p>
          <a:p>
            <a:r>
              <a:t>左圖方塊圖：面積＝PDF第4頁Portfolio權重（20檔加總100%）；顏色依產業：科技（藍）、金融（深藍：國泰金、元大金）、非科技（藍綠：南亞、華城、新應材），★為本期新增，深色為新增、淺色為既有持股。</a:t>
            </a:r>
          </a:p>
          <a:p>
            <a:r>
              <a:t>新增8檔合計權重：4+3+4+5+4+3+3+4＝30%。</a:t>
            </a:r>
          </a:p>
          <a:p>
            <a:r>
              <a:t>右圖上檔空間＝目標價÷股價−1：華城918.54÷699−1＝+31.4%；華通320÷222.5−1＝+43.8%；致茂2,700÷2,295−1＝+17.6%；南亞科548÷503−1＝+8.9%；元大金74÷69.2−1＝+6.9%；新應材950÷728−1＝+30.5%；萬潤800÷1,195−1＝−33.1%；昇陽半400÷269−1＝+48.7%。</a:t>
            </a:r>
          </a:p>
          <a:p>
            <a:r>
              <a:t>＊萬潤目標價低於股價、評等仍為Buy，依使用者指示照報告呈現，以灰色標示。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【出處】</a:t>
            </a:r>
          </a:p>
          <a:p>
            <a:r>
              <a:t>點1：PDF第3頁「AI晶片持續朝更高運算效能與更大型機櫃架構發展」「進一步推升CoWoS、CoPoS、SoIC等先進封裝產能，以及晶圓測試、成品測試與相關設備需求」；PDF第5頁半導體/封測「台積電先進製程節點產能，包括N2與N3，將於2026年及2027年持續吃緊」「預估供需缺口將擴大至15-20%」。</a:t>
            </a:r>
          </a:p>
          <a:p>
            <a:r>
              <a:t>點2：PDF第1頁「預期Google、Meta等自研方案將會尋求如Intel、聯電等非台積電體系產能支援」；PDF第3頁「台積電緊湊型通用光子引擎COUPE……未來整體功耗可望節省超過10倍，同時傳輸效率提升20倍」「台系業者……可望成為國際通訊大廠主要合作夥伴」。</a:t>
            </a:r>
          </a:p>
          <a:p>
            <a:r>
              <a:t>左圖：PDF第5頁PC/手機/伺服器「2026年Nvidia AI機櫃出貨量將達80k，包含GB200 6k、GB300 70k、VR200 4k」「VR200預計於4Q26開始量產」。</a:t>
            </a:r>
          </a:p>
          <a:p>
            <a:r>
              <a:t>右圖：PDF第10頁附錄2 EPS YOY欄（右半）Semiconductor與Fabless列，1Q26～4Q27。</a:t>
            </a:r>
          </a:p>
          <a:p/>
          <a:p>
            <a:r>
              <a:t>【補充與疑慮】</a:t>
            </a:r>
          </a:p>
          <a:p>
            <a:r>
              <a:t>1. 原文台積電2027年資本支出預估「750-800億美元區間上緣」未放，可口頭補充。</a:t>
            </a:r>
          </a:p>
          <a:p>
            <a:r>
              <a:t>2. 2026年通用型伺服器出貨上修至YoY+26.5%、1,703萬台，AI伺服器出貨成長64%、滲透率16%；四大CSP 2027年資本支出YoY 60~70%（PDF第5頁），未放。</a:t>
            </a:r>
          </a:p>
          <a:p>
            <a:r>
              <a:t>3. 富邦看好獨立封測廠、新切入半導體上游製程設備供應商（PDF第3頁）；對應推薦個股見第1頁議題表。</a:t>
            </a:r>
          </a:p>
          <a:p>
            <a:r>
              <a:t>4. 附錄2 Memory 3Q26 YoY 2,196.5%等極端值未放入圖。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【出處】</a:t>
            </a:r>
          </a:p>
          <a:p>
            <a:r>
              <a:t>點1：PDF第1頁「儘管記憶體、被動元件、CCL、載板等零組件持續……調漲價格，但這早已在投資市場預期之中」「富邦認為4Q26起……應逐漸留意規格升級議題」；PDF第6頁PCB/CCL「銅箔基板三雄……累計前8月營收成長達42%~97%」「預期台光及台燿4Q26 M7以上產品比重將挑戰80%及45%」。</a:t>
            </a:r>
          </a:p>
          <a:p>
            <a:r>
              <a:t>點2：PDF第6頁電源供應器「4Q26 Nvidia AI伺服器將進入Vera Rubin世代出貨放量期，單櫃功耗超200kW；單顆PSU功率也由5.5kW提升至18kW以上」；PDF第5頁被動元件「BB ratio紛紛攀升至歷史高點」「4Q26也還會再對通路商以及直接客戶再度漲價」。</a:t>
            </a:r>
          </a:p>
          <a:p>
            <a:r>
              <a:t>左圖：PDF第5頁被動元件「村田已經回升至1.34超過2018的水準，太陽誘電也提升至1.72，國巨更在二季底來到2.2」。三家數字時點依原文（國巨為二季底，村田、太陽誘電為最新法說）。</a:t>
            </a:r>
          </a:p>
          <a:p>
            <a:r>
              <a:t>右圖：PDF第5頁記憶體「TrendForce預估2027年DRAM供需比將從2026年的-1%進一步下滑至-4%」「NAND……供需比將從2026年的-4.4%轉向+3.6%」。負值代表供不應求。</a:t>
            </a:r>
          </a:p>
          <a:p/>
          <a:p>
            <a:r>
              <a:t>【補充與疑慮】</a:t>
            </a:r>
          </a:p>
          <a:p>
            <a:r>
              <a:t>1. 台光電8月單月營收首度突破200億元、台燿逼近60億元、聯茂首度站上50億元（PDF第6頁），未放。</a:t>
            </a:r>
          </a:p>
          <a:p>
            <a:r>
              <a:t>2. 台達電800VDC、400VDC電源櫃3Q26量產、4Q26小量出貨；光寶科800VDC 11M26量產（PDF第6頁），未放。</a:t>
            </a:r>
          </a:p>
          <a:p>
            <a:r>
              <a:t>3. NAND 2027年下半年可能面臨價格修正壓力（PDF第5頁）。</a:t>
            </a:r>
          </a:p>
          <a:p>
            <a:r>
              <a:t>4. 載板：南電468億元資本支出（FY28完成）、欣興ABF產能2027年提升30%至40%（PDF第5頁），未放。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【出處】</a:t>
            </a:r>
          </a:p>
          <a:p>
            <a:r>
              <a:t>點1：PDF第7頁重電新能源「IEA預估2025-2027年全球電力消耗將以接近4%的速度增長」「其中資料中心為主要驅動力」「多數重電設備屆臨汰舊換新」「變壓器價格自2021年至2026年7月漲幅進一步增至81%」。</a:t>
            </a:r>
          </a:p>
          <a:p>
            <a:r>
              <a:t>點2：PDF第7頁塑化「塑化首選居產業鏈上游、具一貫廠優勢的台塑四寶」；PDF第8頁鋼鐵「預估11月盤價將可望調漲500~1000元/噸」；金融「壽險FVOCI股權投資之資本利得豐厚……故壽險型金控明年現金股息發放量能將優於其他金融業者」。</a:t>
            </a:r>
          </a:p>
          <a:p>
            <a:r>
              <a:t>左圖：PDF第7頁「大型電力變壓器與升壓變壓器交期150-200週，高於疫情前的40-50週水準」「供需矛盾已由短期短缺轉為長期結構性失衡」。「約4倍」為區間比較推算：150÷40≈3.8、200÷50＝4。</a:t>
            </a:r>
          </a:p>
          <a:p>
            <a:r>
              <a:t>右圖：PDF第7、8頁富邦次產業趨勢看法-傳產&amp;金融股，原表以箭頭表示，↗寫為「正向」、→寫為「中性」。</a:t>
            </a:r>
          </a:p>
          <a:p>
            <a:r>
              <a:t>- 重電新能源：「美國電力變壓器需求累積成長逾119%」（2019年至今，市調機構）。</a:t>
            </a:r>
          </a:p>
          <a:p>
            <a:r>
              <a:t>- 特化：「特化中長線布局，仍首選台積電指標概念股為主，其中切入先進製程前段材料的新應材和台特化」。</a:t>
            </a:r>
          </a:p>
          <a:p>
            <a:r>
              <a:t>- 塑化：「Brent重返100美元之上」。</a:t>
            </a:r>
          </a:p>
          <a:p>
            <a:r>
              <a:t>- 鋼鐵：「中鋼+中龍預估出貨量將達275-285萬噸，呈現季增」。</a:t>
            </a:r>
          </a:p>
          <a:p>
            <a:r>
              <a:t>- 散裝航運：「BDI指數呈現區間震盪走勢，區間大致在3,000-3,500點」。</a:t>
            </a:r>
          </a:p>
          <a:p>
            <a:r>
              <a:t>- 貨櫃航運：「預估10月中旬，運價將呈現10%左右下跌幅度」。</a:t>
            </a:r>
          </a:p>
          <a:p>
            <a:r>
              <a:t>- 水泥：「累計1-8月產量9.89億噸，YoY9%，產量為近18年以來新低」。</a:t>
            </a:r>
          </a:p>
          <a:p>
            <a:r>
              <a:t>- 金融：見點2。</a:t>
            </a:r>
          </a:p>
          <a:p/>
          <a:p>
            <a:r>
              <a:t>【疑慮】</a:t>
            </a:r>
          </a:p>
          <a:p>
            <a:r>
              <a:t>1. 水泥：原文「累計1-8月產量9.89億噸，YoY9%」與「近18年以來新低」方向矛盾，YoY可能漏負號（-9%），表內只寫近18年新低。</a:t>
            </a:r>
          </a:p>
          <a:p>
            <a:r>
              <a:t>2. 水泥原文「預期水泥市場弱勢運行趨勢疆延續」，「疆」應為「將」。</a:t>
            </a:r>
          </a:p>
          <a:p>
            <a:r>
              <a:t>3. 塑化在第2頁「傳產聚焦」段落屬「低基期轉型」首選，在次產業表看法為持平（→），兩者並存，表內照次產業表寫中性。</a:t>
            </a:r>
          </a:p>
          <a:p>
            <a:r>
              <a:t>4. 金融看法為持平（→），但第2頁四大議題「能源、殖利率」推薦國泰金，第3頁標題為「提前布局2027除息行情」。</a:t>
            </a:r>
          </a:p>
          <a:p>
            <a:r>
              <a:t>5. 特化原文「受市場親睞」應為「青睞」。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F18B3B-C79A-D30A-9E8B-320D351033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0433205-A250-C04A-19E1-9D36E9A6A1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C3D74FA-60E2-D317-0554-15C634B7A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07213-1547-4AC0-9970-4C4853B08BEC}" type="datetimeFigureOut">
              <a:rPr lang="zh-TW" altLang="en-US" smtClean="0"/>
              <a:t>2026/9/30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DC23465-2136-CAB3-6129-F1A5EC39B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86AFDE9-5BF3-9071-ED63-0955BBE60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2BD85-8AC9-4BB8-B432-5627023284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0598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875BE7-4E1C-2E0F-8266-89872CBCD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612F807-ED48-1C29-9C77-EEAC789084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6BF9AF9-30AD-A712-3304-37EF504C4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07213-1547-4AC0-9970-4C4853B08BEC}" type="datetimeFigureOut">
              <a:rPr lang="zh-TW" altLang="en-US" smtClean="0"/>
              <a:t>2026/9/30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DCF142E-8734-3821-F4E1-3627E264E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D64D1C3-820E-D7C5-79E1-CFBE18BFC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2BD85-8AC9-4BB8-B432-5627023284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5526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C1A336-5B03-E061-CB74-A989C3573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8BCB916-9ED6-B1ED-DB30-4F7C817949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39482BC-D24D-48EE-A684-444E61E77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07213-1547-4AC0-9970-4C4853B08BEC}" type="datetimeFigureOut">
              <a:rPr lang="zh-TW" altLang="en-US" smtClean="0"/>
              <a:t>2026/9/30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0237CF6-7732-B956-7FFA-63F7E33F2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236DD4A-8DDC-BC56-FDB8-6127B9673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2BD85-8AC9-4BB8-B432-5627023284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2302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B8AFB9-8911-2867-76A8-00829619B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3E4AFC-EBB4-C9AA-8EA7-456AA734E4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9B56454-9B54-3463-3048-4E3B466515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4169BFF-98B8-76A6-972D-E3E5264BD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07213-1547-4AC0-9970-4C4853B08BEC}" type="datetimeFigureOut">
              <a:rPr lang="zh-TW" altLang="en-US" smtClean="0"/>
              <a:t>2026/9/30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697A390-A7BC-B145-5A37-CAE3DEACB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178FD82-3A14-FEDF-D9DA-A8294DE66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2BD85-8AC9-4BB8-B432-5627023284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3757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033680-5195-BB8E-6E18-92D83AB09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35A20DB-19E2-F190-DC0A-8E758AAE10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CAF8388-C939-7F37-3BD7-A635018965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F78B665-569E-FD60-10B0-9F5A6CDB51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36857E1-476E-0439-3C44-FDC2DA293B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642B7300-999F-E06A-0D11-3E53DC455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07213-1547-4AC0-9970-4C4853B08BEC}" type="datetimeFigureOut">
              <a:rPr lang="zh-TW" altLang="en-US" smtClean="0"/>
              <a:t>2026/9/30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A7C6FDF-4C23-9B99-B35D-697C4725C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108BEF8-0F43-F8EF-1867-F003E8CDC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2BD85-8AC9-4BB8-B432-5627023284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8917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88C7A9-843D-1F49-AF04-F650570AC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12FD71F-09C2-3F34-3E05-1D0C541C0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07213-1547-4AC0-9970-4C4853B08BEC}" type="datetimeFigureOut">
              <a:rPr lang="zh-TW" altLang="en-US" smtClean="0"/>
              <a:t>2026/9/30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A2B6502-B9C3-EDF5-E1A4-0F6198029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5558BF7-50A6-DD4B-FF8A-46E8E11C7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2BD85-8AC9-4BB8-B432-5627023284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0046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C64C2DF-4284-BFD0-F3F1-FDE993179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07213-1547-4AC0-9970-4C4853B08BEC}" type="datetimeFigureOut">
              <a:rPr lang="zh-TW" altLang="en-US" smtClean="0"/>
              <a:t>2026/9/30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92C2337-0A5A-1D52-252E-2A47A0254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8D476C5-04B7-17DA-3E97-1CA0703CC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2BD85-8AC9-4BB8-B432-5627023284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0678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0F6F18-540D-5740-EEB2-02C48B0E8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673054B-70D2-1076-375D-E767B3A374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B7533D9-D590-800E-0422-BF2E8D36B8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5527908-F962-1353-1065-54BA574B9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07213-1547-4AC0-9970-4C4853B08BEC}" type="datetimeFigureOut">
              <a:rPr lang="zh-TW" altLang="en-US" smtClean="0"/>
              <a:t>2026/9/30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6F9CD05-FB29-D84E-2486-AC5DC4E74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9323C69-22F1-9A6B-0AFA-CFABA3755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2BD85-8AC9-4BB8-B432-5627023284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246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9D226E-CB6E-EF39-3ED2-98851F56E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EDC66BA-E2D1-C5ED-DF8E-5A62660173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57C06E7-2FBF-CCE2-B6EB-078CED3150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2DF25A6-3B3E-D197-98D0-57EEB16EB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07213-1547-4AC0-9970-4C4853B08BEC}" type="datetimeFigureOut">
              <a:rPr lang="zh-TW" altLang="en-US" smtClean="0"/>
              <a:t>2026/9/30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A3BEFD8-58B1-8032-E616-1517A6032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D45CFE7-0AAB-47EC-5109-C314B6E2E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2BD85-8AC9-4BB8-B432-5627023284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5939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C67D65-338F-7646-02B7-E01FD32C2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C6774F0-FD16-07B8-0EBB-8753C6DF99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5E57050-B3D8-98B8-4786-BF412CF34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07213-1547-4AC0-9970-4C4853B08BEC}" type="datetimeFigureOut">
              <a:rPr lang="zh-TW" altLang="en-US" smtClean="0"/>
              <a:t>2026/9/30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C99B3F5-5643-EE5E-1DAC-94C8A18EE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B94C950-7F11-92CD-8FB4-F56509087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2BD85-8AC9-4BB8-B432-5627023284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3316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FA67ED09-8233-2174-97BA-E0511DFCB4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0C5295C-8A98-EA5F-E60C-BEB45531AE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B112FFF-8485-9BCF-5C4A-BCA10664D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07213-1547-4AC0-9970-4C4853B08BEC}" type="datetimeFigureOut">
              <a:rPr lang="zh-TW" altLang="en-US" smtClean="0"/>
              <a:t>2026/9/30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A7519FE-F881-9918-F600-C8CAC6C90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B10CD9E-3798-5B1B-D579-362240340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2BD85-8AC9-4BB8-B432-5627023284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75306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封面首頁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75B973EE-94EA-AE30-6772-9C5978F71921}"/>
              </a:ext>
            </a:extLst>
          </p:cNvPr>
          <p:cNvCxnSpPr>
            <a:cxnSpLocks/>
          </p:cNvCxnSpPr>
          <p:nvPr/>
        </p:nvCxnSpPr>
        <p:spPr>
          <a:xfrm>
            <a:off x="3965985" y="3026391"/>
            <a:ext cx="4260028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投影片編號版面配置區 3">
            <a:extLst>
              <a:ext uri="{FF2B5EF4-FFF2-40B4-BE49-F238E27FC236}">
                <a16:creationId xmlns:a16="http://schemas.microsoft.com/office/drawing/2014/main" id="{92333323-A73C-5064-B286-84C9CFCF172F}"/>
              </a:ext>
            </a:extLst>
          </p:cNvPr>
          <p:cNvSpPr txBox="1">
            <a:spLocks/>
          </p:cNvSpPr>
          <p:nvPr/>
        </p:nvSpPr>
        <p:spPr>
          <a:xfrm>
            <a:off x="11706044" y="6519625"/>
            <a:ext cx="403891" cy="2972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4094CE0-D024-4FC6-B25F-837FC5BFCD48}" type="slidenum">
              <a:rPr lang="zh-TW" altLang="en-US" sz="14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zh-TW" alt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文字版面配置區 5"/>
          <p:cNvSpPr>
            <a:spLocks noGrp="1"/>
          </p:cNvSpPr>
          <p:nvPr>
            <p:ph type="body" sz="quarter" idx="28" hasCustomPrompt="1"/>
          </p:nvPr>
        </p:nvSpPr>
        <p:spPr>
          <a:xfrm>
            <a:off x="8000731" y="3404763"/>
            <a:ext cx="1006908" cy="32907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solidFill>
                  <a:srgbClr val="3B99CB"/>
                </a:solidFill>
              </a:defRPr>
            </a:lvl1pPr>
          </a:lstStyle>
          <a:p>
            <a:pPr lvl="0"/>
            <a:r>
              <a:rPr lang="zh-TW" altLang="en-US" dirty="0"/>
              <a:t>日期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7823FF69-4328-4C0F-E732-F62BA4880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6396" y="2227456"/>
            <a:ext cx="6434027" cy="659975"/>
          </a:xfrm>
          <a:prstGeom prst="rect">
            <a:avLst/>
          </a:prstGeom>
        </p:spPr>
        <p:txBody>
          <a:bodyPr/>
          <a:lstStyle>
            <a:lvl1pPr algn="l">
              <a:defRPr sz="4000">
                <a:solidFill>
                  <a:srgbClr val="008FC7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7" name="圖片版面配置區 6"/>
          <p:cNvSpPr>
            <a:spLocks noGrp="1"/>
          </p:cNvSpPr>
          <p:nvPr>
            <p:ph type="pic" sz="quarter" idx="29"/>
          </p:nvPr>
        </p:nvSpPr>
        <p:spPr>
          <a:xfrm>
            <a:off x="9859963" y="241300"/>
            <a:ext cx="1992312" cy="5699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8263612-F03C-9DA9-D88C-4746CC9739DA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936875" y="3300305"/>
            <a:ext cx="4818272" cy="4328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7068626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內頁版型-有標題樣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3">
            <a:extLst>
              <a:ext uri="{FF2B5EF4-FFF2-40B4-BE49-F238E27FC236}">
                <a16:creationId xmlns:a16="http://schemas.microsoft.com/office/drawing/2014/main" id="{23E32C13-15C5-88F2-E564-E878156F89C8}"/>
              </a:ext>
            </a:extLst>
          </p:cNvPr>
          <p:cNvSpPr txBox="1">
            <a:spLocks/>
          </p:cNvSpPr>
          <p:nvPr userDrawn="1"/>
        </p:nvSpPr>
        <p:spPr>
          <a:xfrm>
            <a:off x="11706044" y="6519625"/>
            <a:ext cx="403891" cy="2972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4094CE0-D024-4FC6-B25F-837FC5BFCD48}" type="slidenum">
              <a:rPr lang="zh-TW" altLang="en-US" sz="1400" smtClean="0">
                <a:solidFill>
                  <a:srgbClr val="1492C3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zh-TW" altLang="en-US" sz="1400" dirty="0">
              <a:solidFill>
                <a:srgbClr val="1492C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F30012B-FA25-A5CA-A709-692F4B4EFFA9}"/>
              </a:ext>
            </a:extLst>
          </p:cNvPr>
          <p:cNvSpPr/>
          <p:nvPr userDrawn="1"/>
        </p:nvSpPr>
        <p:spPr>
          <a:xfrm flipV="1">
            <a:off x="1972637" y="172789"/>
            <a:ext cx="10219363" cy="45719"/>
          </a:xfrm>
          <a:prstGeom prst="rect">
            <a:avLst/>
          </a:prstGeom>
          <a:gradFill>
            <a:gsLst>
              <a:gs pos="0">
                <a:srgbClr val="00F9D3">
                  <a:alpha val="0"/>
                </a:srgbClr>
              </a:gs>
              <a:gs pos="9000">
                <a:srgbClr val="00F9D3"/>
              </a:gs>
              <a:gs pos="44000">
                <a:srgbClr val="00C3CD"/>
              </a:gs>
              <a:gs pos="100000">
                <a:srgbClr val="008FC7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8" name="圖片 7" descr="一張含有 符號, 標誌, 圖形, 字型 的圖片&#10;&#10;自動產生的描述">
            <a:extLst>
              <a:ext uri="{FF2B5EF4-FFF2-40B4-BE49-F238E27FC236}">
                <a16:creationId xmlns:a16="http://schemas.microsoft.com/office/drawing/2014/main" id="{FFAADD23-8860-D697-2D51-977F135EB1B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068" y="216276"/>
            <a:ext cx="517908" cy="537330"/>
          </a:xfrm>
          <a:prstGeom prst="rect">
            <a:avLst/>
          </a:prstGeom>
        </p:spPr>
      </p:pic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D613489B-F1F5-45B9-5E53-A14E9851EF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27288" y="1229533"/>
            <a:ext cx="6319206" cy="43805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zh-TW" altLang="en-US" dirty="0"/>
              <a:t>按一下以編輯子標題樣式</a:t>
            </a: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F4A50BCB-0F6F-C499-0C3B-15E5EBB920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27981" y="417269"/>
            <a:ext cx="6026904" cy="601289"/>
          </a:xfrm>
          <a:prstGeom prst="rect">
            <a:avLst/>
          </a:prstGeom>
        </p:spPr>
        <p:txBody>
          <a:bodyPr/>
          <a:lstStyle>
            <a:lvl1pPr algn="l">
              <a:defRPr sz="4000">
                <a:solidFill>
                  <a:srgbClr val="008FC7"/>
                </a:solidFill>
              </a:defRPr>
            </a:lvl1pPr>
          </a:lstStyle>
          <a:p>
            <a:r>
              <a:rPr lang="zh-TW" altLang="en-US" dirty="0"/>
              <a:t>按一下以編輯標題樣式</a:t>
            </a:r>
          </a:p>
        </p:txBody>
      </p:sp>
      <p:sp>
        <p:nvSpPr>
          <p:cNvPr id="9" name="免責聲明">
            <a:extLst>
              <a:ext uri="{FF2B5EF4-FFF2-40B4-BE49-F238E27FC236}">
                <a16:creationId xmlns:a16="http://schemas.microsoft.com/office/drawing/2014/main" id="{E3042F75-1908-3D2A-34DA-11D7A042B08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417703" y="6561065"/>
            <a:ext cx="5750000" cy="248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>
                    <a:alpha val="30196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prstDash val="dash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 kumimoji="1" sz="1400">
                <a:solidFill>
                  <a:srgbClr val="006666"/>
                </a:solidFill>
                <a:latin typeface="Arial" charset="0"/>
                <a:ea typeface="標楷體" pitchFamily="65" charset="-120"/>
              </a:defRPr>
            </a:lvl1pPr>
            <a:lvl2pPr marL="742950" indent="-285750" eaLnBrk="0" hangingPunct="0">
              <a:defRPr kumimoji="1" sz="1400">
                <a:solidFill>
                  <a:srgbClr val="006666"/>
                </a:solidFill>
                <a:latin typeface="Arial" charset="0"/>
                <a:ea typeface="標楷體" pitchFamily="65" charset="-120"/>
              </a:defRPr>
            </a:lvl2pPr>
            <a:lvl3pPr marL="1143000" indent="-228600" eaLnBrk="0" hangingPunct="0">
              <a:defRPr kumimoji="1" sz="1400">
                <a:solidFill>
                  <a:srgbClr val="006666"/>
                </a:solidFill>
                <a:latin typeface="Arial" charset="0"/>
                <a:ea typeface="標楷體" pitchFamily="65" charset="-120"/>
              </a:defRPr>
            </a:lvl3pPr>
            <a:lvl4pPr marL="1600200" indent="-228600" eaLnBrk="0" hangingPunct="0">
              <a:defRPr kumimoji="1" sz="1400">
                <a:solidFill>
                  <a:srgbClr val="006666"/>
                </a:solidFill>
                <a:latin typeface="Arial" charset="0"/>
                <a:ea typeface="標楷體" pitchFamily="65" charset="-120"/>
              </a:defRPr>
            </a:lvl4pPr>
            <a:lvl5pPr marL="2057400" indent="-228600" eaLnBrk="0" hangingPunct="0">
              <a:defRPr kumimoji="1" sz="1400">
                <a:solidFill>
                  <a:srgbClr val="006666"/>
                </a:solidFill>
                <a:latin typeface="Arial" charset="0"/>
                <a:ea typeface="標楷體" pitchFamily="65" charset="-12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6666"/>
                </a:solidFill>
                <a:latin typeface="Arial" charset="0"/>
                <a:ea typeface="標楷體" pitchFamily="65" charset="-12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6666"/>
                </a:solidFill>
                <a:latin typeface="Arial" charset="0"/>
                <a:ea typeface="標楷體" pitchFamily="65" charset="-12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6666"/>
                </a:solidFill>
                <a:latin typeface="Arial" charset="0"/>
                <a:ea typeface="標楷體" pitchFamily="65" charset="-12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6666"/>
                </a:solidFill>
                <a:latin typeface="Arial" charset="0"/>
                <a:ea typeface="標楷體" pitchFamily="65" charset="-120"/>
              </a:defRPr>
            </a:lvl9pPr>
          </a:lstStyle>
          <a:p>
            <a:pPr algn="l" eaLnBrk="1" hangingPunct="1">
              <a:spcBef>
                <a:spcPct val="50000"/>
              </a:spcBef>
              <a:defRPr/>
            </a:pPr>
            <a:r>
              <a:rPr lang="zh-TW" altLang="en-US" sz="1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本文內容僅供參考之用，本公司已審慎研究並提供合理依據，恕不負任何法律責任亦不作任何保證。</a:t>
            </a:r>
          </a:p>
        </p:txBody>
      </p:sp>
    </p:spTree>
    <p:extLst>
      <p:ext uri="{BB962C8B-B14F-4D97-AF65-F5344CB8AC3E}">
        <p14:creationId xmlns:p14="http://schemas.microsoft.com/office/powerpoint/2010/main" val="186296897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931EFEEE-B6A7-B5D3-7EB2-408B8B452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6F6D7B9-63A2-A5BC-5736-C19617C6BA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656AF37-6E33-EFFA-597D-4506198995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907213-1547-4AC0-9970-4C4853B08BEC}" type="datetimeFigureOut">
              <a:rPr lang="zh-TW" altLang="en-US" smtClean="0"/>
              <a:t>2026/9/30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AFF2156-CA50-A4D4-D4E3-92282AB4B9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64265DF-1961-72CA-FA58-E5021F07DA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72BD85-8AC9-4BB8-B432-5627023284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3197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6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F9F467B6-2FDC-0D5F-9344-767407FE0E4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081386" y="3352338"/>
            <a:ext cx="1136040" cy="329074"/>
          </a:xfrm>
        </p:spPr>
        <p:txBody>
          <a:bodyPr/>
          <a:lstStyle/>
          <a:p>
            <a:pPr algn="r"/>
            <a:r>
              <a:rPr lang="en-US" altLang="zh-TW" sz="1500"/>
              <a:t>2026.09</a:t>
            </a:r>
            <a:endParaRPr lang="zh-TW" altLang="en-US" sz="1500" dirty="0"/>
          </a:p>
        </p:txBody>
      </p:sp>
      <p:sp>
        <p:nvSpPr>
          <p:cNvPr id="4" name="圖片版面配置區 3">
            <a:extLst>
              <a:ext uri="{FF2B5EF4-FFF2-40B4-BE49-F238E27FC236}">
                <a16:creationId xmlns:a16="http://schemas.microsoft.com/office/drawing/2014/main" id="{C54C4412-1D3B-6EB2-91CB-E16B5E6E6898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文字版面配置區 8">
            <a:extLst>
              <a:ext uri="{FF2B5EF4-FFF2-40B4-BE49-F238E27FC236}">
                <a16:creationId xmlns:a16="http://schemas.microsoft.com/office/drawing/2014/main" id="{F6DB5FD7-24E0-69F1-5553-087A8308110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883246" y="2316197"/>
            <a:ext cx="8409509" cy="432897"/>
          </a:xfrm>
        </p:spPr>
        <p:txBody>
          <a:bodyPr>
            <a:noAutofit/>
          </a:bodyPr>
          <a:lstStyle/>
          <a:p>
            <a:pPr defTabSz="914400" eaLnBrk="0" fontAlgn="base" hangingPunct="0"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sz="3600" b="1" dirty="0">
                <a:solidFill>
                  <a:srgbClr val="0093C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10月台股產業投資策略</a:t>
            </a:r>
            <a:endParaRPr lang="zh-TW" altLang="en-US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副標題 6">
            <a:extLst>
              <a:ext uri="{FF2B5EF4-FFF2-40B4-BE49-F238E27FC236}">
                <a16:creationId xmlns:a16="http://schemas.microsoft.com/office/drawing/2014/main" id="{A0BCB0EA-A6C4-B323-C12E-9E1ABB07A4F7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3765176" y="3229450"/>
            <a:ext cx="4392705" cy="1053629"/>
          </a:xfrm>
          <a:prstGeom prst="rect">
            <a:avLst/>
          </a:prstGeom>
        </p:spPr>
        <p:txBody>
          <a:bodyPr/>
          <a:lstStyle/>
          <a:p>
            <a:pPr marL="0" indent="0" algn="ctr">
              <a:buNone/>
            </a:pP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富邦投顧  廖顯毅、劉立中、黃大仁</a:t>
            </a:r>
          </a:p>
        </p:txBody>
      </p:sp>
    </p:spTree>
    <p:extLst>
      <p:ext uri="{BB962C8B-B14F-4D97-AF65-F5344CB8AC3E}">
        <p14:creationId xmlns:p14="http://schemas.microsoft.com/office/powerpoint/2010/main" val="26870725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A2D2A-A23B-D848-6EB3-193FA1C4A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標題 3">
            <a:extLst>
              <a:ext uri="{FF2B5EF4-FFF2-40B4-BE49-F238E27FC236}">
                <a16:creationId xmlns:a16="http://schemas.microsoft.com/office/drawing/2014/main" id="{D0052553-414B-0149-5353-CA3A7D03E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5999" y="288000"/>
            <a:ext cx="10463999" cy="430887"/>
          </a:xfrm>
        </p:spPr>
        <p:txBody>
          <a:bodyPr>
            <a:noAutofit/>
          </a:bodyPr>
          <a:lstStyle/>
          <a:p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10月挑戰五萬大關 Fed升息難擋Q3財報強勁</a:t>
            </a:r>
          </a:p>
        </p:txBody>
      </p:sp>
      <p:sp>
        <p:nvSpPr>
          <p:cNvPr id="5" name="文字方塊 14">
            <a:extLst>
              <a:ext uri="{FF2B5EF4-FFF2-40B4-BE49-F238E27FC236}">
                <a16:creationId xmlns:a16="http://schemas.microsoft.com/office/drawing/2014/main" id="{9C99D567-D09F-0FEC-56C5-3BB1DD9584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001" y="900000"/>
            <a:ext cx="10463999" cy="1493552"/>
          </a:xfrm>
          <a:prstGeom prst="rect">
            <a:avLst/>
          </a:prstGeom>
          <a:noFill/>
          <a:ln>
            <a:noFill/>
          </a:ln>
        </p:spPr>
        <p:txBody>
          <a:bodyPr lIns="36000" rIns="36000"/>
          <a:lstStyle>
            <a:lvl1pPr>
              <a:spcBef>
                <a:spcPct val="30000"/>
              </a:spcBef>
              <a:buClr>
                <a:srgbClr val="00829B"/>
              </a:buClr>
              <a:buSzPct val="70000"/>
              <a:buFont typeface="Wingdings" panose="05000000000000000000" pitchFamily="2" charset="2"/>
              <a:buChar char="n"/>
              <a:defRPr kumimoji="1" sz="2600">
                <a:solidFill>
                  <a:schemeClr val="tx1"/>
                </a:solidFill>
                <a:latin typeface="Doradani Lt" charset="0"/>
                <a:ea typeface="文鼎細圓" charset="-120"/>
              </a:defRPr>
            </a:lvl1pPr>
            <a:lvl2pPr marL="742950" indent="-285750">
              <a:spcBef>
                <a:spcPct val="30000"/>
              </a:spcBef>
              <a:buSzPct val="70000"/>
              <a:buFont typeface="Wingdings" panose="05000000000000000000" pitchFamily="2" charset="2"/>
              <a:buChar char="l"/>
              <a:defRPr kumimoji="1" sz="2200">
                <a:solidFill>
                  <a:schemeClr val="tx1"/>
                </a:solidFill>
                <a:latin typeface="Doradani Lt" charset="0"/>
                <a:ea typeface="文鼎細圓" charset="-120"/>
              </a:defRPr>
            </a:lvl2pPr>
            <a:lvl3pPr marL="1143000" indent="-228600">
              <a:spcBef>
                <a:spcPct val="30000"/>
              </a:spcBef>
              <a:buClr>
                <a:srgbClr val="00829B"/>
              </a:buClr>
              <a:buSzPct val="7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Doradani Lt" charset="0"/>
                <a:ea typeface="文鼎細圓" charset="-120"/>
              </a:defRPr>
            </a:lvl3pPr>
            <a:lvl4pPr marL="1600200" indent="-228600">
              <a:spcBef>
                <a:spcPct val="30000"/>
              </a:spcBef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Doradani Lt" charset="0"/>
                <a:ea typeface="文鼎細圓" charset="-120"/>
              </a:defRPr>
            </a:lvl4pPr>
            <a:lvl5pPr marL="2057400" indent="-228600">
              <a:lnSpc>
                <a:spcPct val="120000"/>
              </a:lnSpc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Fed 9/16升息1碼至3.75%-4%，上修2026、2027年利率目標中值至4.1%，美10年債殖利率升至5%以上；惟8月外銷接單首破1千億美元、YoY+71.4%，LSEG估Q3標普500盈餘年增29.9%。</a:t>
            </a: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AI投資邏輯轉向台積電訂單外溢（Intel、聯電等非台積電產能）與零組件規格升級（CCL M8/M9、高電壓系統電容），漲價題材早已在市場預期之中。</a:t>
            </a: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None/>
            </a:pP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458EA3A-EC57-A4D3-E5FC-606D51CB141D}"/>
              </a:ext>
            </a:extLst>
          </p:cNvPr>
          <p:cNvSpPr/>
          <p:nvPr/>
        </p:nvSpPr>
        <p:spPr>
          <a:xfrm>
            <a:off x="8190000" y="6542809"/>
            <a:ext cx="3209998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zh-TW" altLang="en-US" sz="1200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資料來源：LSEG、富邦投顧，2026.9.30</a:t>
            </a:r>
            <a:endParaRPr lang="zh-TW" altLang="en-US" sz="1400" dirty="0">
              <a:ea typeface="文鼎細圓" pitchFamily="49" charset="-120"/>
              <a:cs typeface="+mn-cs"/>
            </a:endParaRPr>
          </a:p>
        </p:txBody>
      </p:sp>
      <p:sp>
        <p:nvSpPr>
          <p:cNvPr id="15363" name="TextBox 15362"/>
          <p:cNvSpPr txBox="1"/>
          <p:nvPr/>
        </p:nvSpPr>
        <p:spPr>
          <a:xfrm>
            <a:off x="379232" y="2240000"/>
            <a:ext cx="540000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微軟正黑體"/>
                <a:ea typeface="微軟正黑體"/>
              </a:rPr>
              <a:t>富邦核心持股EPS成長預估（%）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379232" y="2608849"/>
            <a:ext cx="5400000" cy="3708000"/>
          </a:xfrm>
          <a:prstGeom prst="roundRect">
            <a:avLst>
              <a:gd name="adj" fmla="val 4000"/>
            </a:avLst>
          </a:prstGeom>
          <a:noFill/>
          <a:ln>
            <a:solidFill>
              <a:srgbClr val="CD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5" name="Rounded Rectangle 15364"/>
          <p:cNvSpPr/>
          <p:nvPr/>
        </p:nvSpPr>
        <p:spPr>
          <a:xfrm>
            <a:off x="487232" y="2680849"/>
            <a:ext cx="5184000" cy="259200"/>
          </a:xfrm>
          <a:prstGeom prst="roundRect">
            <a:avLst>
              <a:gd name="adj" fmla="val 50000"/>
            </a:avLst>
          </a:prstGeom>
          <a:solidFill>
            <a:srgbClr val="0082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</a:rPr>
              <a:t>PC周邊及零組件FY26 EPS成長107.8%最高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487232" y="2983249"/>
            <a:ext cx="5184000" cy="413999"/>
          </a:xfrm>
          <a:prstGeom prst="roundRect">
            <a:avLst>
              <a:gd name="adj" fmla="val 20000"/>
            </a:avLst>
          </a:prstGeom>
          <a:solidFill>
            <a:srgbClr val="EE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7" name="TextBox 15366"/>
          <p:cNvSpPr txBox="1"/>
          <p:nvPr/>
        </p:nvSpPr>
        <p:spPr>
          <a:xfrm>
            <a:off x="487232" y="2983249"/>
            <a:ext cx="5184000" cy="413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00829B"/>
                </a:solidFill>
                <a:latin typeface="微軟正黑體"/>
                <a:ea typeface="微軟正黑體"/>
              </a:rPr>
              <a:t>核心持股合計  FY26 +74.4%  ／  FY27 +37.9%</a:t>
            </a:r>
          </a:p>
        </p:txBody>
      </p:sp>
      <p:graphicFrame>
        <p:nvGraphicFramePr>
          <p:cNvPr id="15368" name="Chart 15367"/>
          <p:cNvGraphicFramePr>
            <a:graphicFrameLocks noGrp="1"/>
          </p:cNvGraphicFramePr>
          <p:nvPr/>
        </p:nvGraphicFramePr>
        <p:xfrm>
          <a:off x="433232" y="3415248"/>
          <a:ext cx="5292000" cy="2858401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369" name="TextBox 15368"/>
          <p:cNvSpPr txBox="1"/>
          <p:nvPr/>
        </p:nvSpPr>
        <p:spPr>
          <a:xfrm>
            <a:off x="6116753" y="2240000"/>
            <a:ext cx="540000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微軟正黑體"/>
                <a:ea typeface="微軟正黑體"/>
              </a:rPr>
              <a:t>10月四大議題推薦個股</a:t>
            </a:r>
          </a:p>
        </p:txBody>
      </p:sp>
      <p:sp>
        <p:nvSpPr>
          <p:cNvPr id="15370" name="Rounded Rectangle 15369"/>
          <p:cNvSpPr/>
          <p:nvPr/>
        </p:nvSpPr>
        <p:spPr>
          <a:xfrm>
            <a:off x="6116753" y="2608849"/>
            <a:ext cx="5400000" cy="3708000"/>
          </a:xfrm>
          <a:prstGeom prst="roundRect">
            <a:avLst>
              <a:gd name="adj" fmla="val 4000"/>
            </a:avLst>
          </a:prstGeom>
          <a:noFill/>
          <a:ln>
            <a:solidFill>
              <a:srgbClr val="CD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1" name="Rounded Rectangle 15370"/>
          <p:cNvSpPr/>
          <p:nvPr/>
        </p:nvSpPr>
        <p:spPr>
          <a:xfrm>
            <a:off x="6224753" y="2680849"/>
            <a:ext cx="5184000" cy="259200"/>
          </a:xfrm>
          <a:prstGeom prst="roundRect">
            <a:avLst>
              <a:gd name="adj" fmla="val 50000"/>
            </a:avLst>
          </a:prstGeom>
          <a:solidFill>
            <a:srgbClr val="0082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</a:rPr>
              <a:t>四大議題16檔 ★為投組本期新增</a:t>
            </a:r>
          </a:p>
        </p:txBody>
      </p:sp>
      <p:sp>
        <p:nvSpPr>
          <p:cNvPr id="15372" name="Rounded Rectangle 15371"/>
          <p:cNvSpPr/>
          <p:nvPr/>
        </p:nvSpPr>
        <p:spPr>
          <a:xfrm>
            <a:off x="6224753" y="2983249"/>
            <a:ext cx="2565000" cy="1618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148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3" name="Rounded Rectangle 15372"/>
          <p:cNvSpPr/>
          <p:nvPr/>
        </p:nvSpPr>
        <p:spPr>
          <a:xfrm>
            <a:off x="6224753" y="2983249"/>
            <a:ext cx="2565000" cy="223200"/>
          </a:xfrm>
          <a:prstGeom prst="roundRect">
            <a:avLst>
              <a:gd name="adj" fmla="val 25000"/>
            </a:avLst>
          </a:prstGeom>
          <a:solidFill>
            <a:srgbClr val="0148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4" name="TextBox 15373"/>
          <p:cNvSpPr txBox="1"/>
          <p:nvPr/>
        </p:nvSpPr>
        <p:spPr>
          <a:xfrm>
            <a:off x="6224753" y="2983249"/>
            <a:ext cx="2565000" cy="22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  <a:ea typeface="微軟正黑體"/>
              </a:rPr>
              <a:t>台積電訂單外溢</a:t>
            </a:r>
          </a:p>
        </p:txBody>
      </p:sp>
      <p:sp>
        <p:nvSpPr>
          <p:cNvPr id="15375" name="TextBox 15374"/>
          <p:cNvSpPr txBox="1"/>
          <p:nvPr/>
        </p:nvSpPr>
        <p:spPr>
          <a:xfrm>
            <a:off x="6260753" y="3249649"/>
            <a:ext cx="2493000" cy="1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B7A82"/>
                </a:solidFill>
                <a:latin typeface="微軟正黑體"/>
                <a:ea typeface="微軟正黑體"/>
              </a:rPr>
              <a:t>ASIC、封裝測試、設備</a:t>
            </a:r>
          </a:p>
        </p:txBody>
      </p:sp>
      <p:sp>
        <p:nvSpPr>
          <p:cNvPr id="15376" name="Rounded Rectangle 15375"/>
          <p:cNvSpPr/>
          <p:nvPr/>
        </p:nvSpPr>
        <p:spPr>
          <a:xfrm>
            <a:off x="6278753" y="3689749"/>
            <a:ext cx="1201500" cy="280800"/>
          </a:xfrm>
          <a:prstGeom prst="roundRect">
            <a:avLst>
              <a:gd name="adj" fmla="val 50000"/>
            </a:avLst>
          </a:prstGeom>
          <a:solidFill>
            <a:srgbClr val="EE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7" name="TextBox 15376"/>
          <p:cNvSpPr txBox="1"/>
          <p:nvPr/>
        </p:nvSpPr>
        <p:spPr>
          <a:xfrm>
            <a:off x="6278753" y="3689749"/>
            <a:ext cx="1201500" cy="280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30"/>
                </a:solidFill>
                <a:latin typeface="微軟正黑體"/>
                <a:ea typeface="微軟正黑體"/>
              </a:rPr>
              <a:t>聯發科</a:t>
            </a:r>
          </a:p>
        </p:txBody>
      </p:sp>
      <p:sp>
        <p:nvSpPr>
          <p:cNvPr id="15378" name="Rounded Rectangle 15377"/>
          <p:cNvSpPr/>
          <p:nvPr/>
        </p:nvSpPr>
        <p:spPr>
          <a:xfrm>
            <a:off x="7534253" y="3689749"/>
            <a:ext cx="1201500" cy="280800"/>
          </a:xfrm>
          <a:prstGeom prst="roundRect">
            <a:avLst>
              <a:gd name="adj" fmla="val 50000"/>
            </a:avLst>
          </a:prstGeom>
          <a:solidFill>
            <a:srgbClr val="EE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9" name="TextBox 15378"/>
          <p:cNvSpPr txBox="1"/>
          <p:nvPr/>
        </p:nvSpPr>
        <p:spPr>
          <a:xfrm>
            <a:off x="7534253" y="3689749"/>
            <a:ext cx="1201500" cy="280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30"/>
                </a:solidFill>
                <a:latin typeface="微軟正黑體"/>
                <a:ea typeface="微軟正黑體"/>
              </a:rPr>
              <a:t>志聖</a:t>
            </a:r>
          </a:p>
        </p:txBody>
      </p:sp>
      <p:sp>
        <p:nvSpPr>
          <p:cNvPr id="15380" name="Rounded Rectangle 15379"/>
          <p:cNvSpPr/>
          <p:nvPr/>
        </p:nvSpPr>
        <p:spPr>
          <a:xfrm>
            <a:off x="6278753" y="4035349"/>
            <a:ext cx="1201500" cy="280800"/>
          </a:xfrm>
          <a:prstGeom prst="roundRect">
            <a:avLst>
              <a:gd name="adj" fmla="val 50000"/>
            </a:avLst>
          </a:prstGeom>
          <a:solidFill>
            <a:srgbClr val="E6F1F5"/>
          </a:solidFill>
          <a:ln w="9525">
            <a:solidFill>
              <a:srgbClr val="0148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1" name="TextBox 15380"/>
          <p:cNvSpPr txBox="1"/>
          <p:nvPr/>
        </p:nvSpPr>
        <p:spPr>
          <a:xfrm>
            <a:off x="6278753" y="4035349"/>
            <a:ext cx="1201500" cy="280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14865"/>
                </a:solidFill>
                <a:latin typeface="微軟正黑體"/>
                <a:ea typeface="微軟正黑體"/>
              </a:rPr>
              <a:t>★致茂</a:t>
            </a:r>
          </a:p>
        </p:txBody>
      </p:sp>
      <p:sp>
        <p:nvSpPr>
          <p:cNvPr id="15382" name="Rounded Rectangle 15381"/>
          <p:cNvSpPr/>
          <p:nvPr/>
        </p:nvSpPr>
        <p:spPr>
          <a:xfrm>
            <a:off x="7534253" y="4035349"/>
            <a:ext cx="1201500" cy="280800"/>
          </a:xfrm>
          <a:prstGeom prst="roundRect">
            <a:avLst>
              <a:gd name="adj" fmla="val 50000"/>
            </a:avLst>
          </a:prstGeom>
          <a:solidFill>
            <a:srgbClr val="E6F1F5"/>
          </a:solidFill>
          <a:ln w="9525">
            <a:solidFill>
              <a:srgbClr val="0148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3" name="TextBox 15382"/>
          <p:cNvSpPr txBox="1"/>
          <p:nvPr/>
        </p:nvSpPr>
        <p:spPr>
          <a:xfrm>
            <a:off x="7534253" y="4035349"/>
            <a:ext cx="1201500" cy="280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14865"/>
                </a:solidFill>
                <a:latin typeface="微軟正黑體"/>
                <a:ea typeface="微軟正黑體"/>
              </a:rPr>
              <a:t>★萬潤</a:t>
            </a:r>
          </a:p>
        </p:txBody>
      </p:sp>
      <p:sp>
        <p:nvSpPr>
          <p:cNvPr id="15384" name="Rounded Rectangle 15383"/>
          <p:cNvSpPr/>
          <p:nvPr/>
        </p:nvSpPr>
        <p:spPr>
          <a:xfrm>
            <a:off x="8843753" y="2983249"/>
            <a:ext cx="2565000" cy="1618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8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5" name="Rounded Rectangle 15384"/>
          <p:cNvSpPr/>
          <p:nvPr/>
        </p:nvSpPr>
        <p:spPr>
          <a:xfrm>
            <a:off x="8843753" y="2983249"/>
            <a:ext cx="2565000" cy="223200"/>
          </a:xfrm>
          <a:prstGeom prst="roundRect">
            <a:avLst>
              <a:gd name="adj" fmla="val 25000"/>
            </a:avLst>
          </a:prstGeom>
          <a:solidFill>
            <a:srgbClr val="0082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6" name="TextBox 15385"/>
          <p:cNvSpPr txBox="1"/>
          <p:nvPr/>
        </p:nvSpPr>
        <p:spPr>
          <a:xfrm>
            <a:off x="8843753" y="2983249"/>
            <a:ext cx="2565000" cy="22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  <a:ea typeface="微軟正黑體"/>
              </a:rPr>
              <a:t>Agent AI及AI基礎建設</a:t>
            </a:r>
          </a:p>
        </p:txBody>
      </p:sp>
      <p:sp>
        <p:nvSpPr>
          <p:cNvPr id="15387" name="TextBox 15386"/>
          <p:cNvSpPr txBox="1"/>
          <p:nvPr/>
        </p:nvSpPr>
        <p:spPr>
          <a:xfrm>
            <a:off x="8879753" y="3249649"/>
            <a:ext cx="2493000" cy="1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B7A82"/>
                </a:solidFill>
                <a:latin typeface="微軟正黑體"/>
                <a:ea typeface="微軟正黑體"/>
              </a:rPr>
              <a:t>GPU/CPU、高速傳輸/介面、載板</a:t>
            </a:r>
          </a:p>
        </p:txBody>
      </p:sp>
      <p:sp>
        <p:nvSpPr>
          <p:cNvPr id="15388" name="Rounded Rectangle 15387"/>
          <p:cNvSpPr/>
          <p:nvPr/>
        </p:nvSpPr>
        <p:spPr>
          <a:xfrm>
            <a:off x="8897753" y="3689749"/>
            <a:ext cx="1201500" cy="280800"/>
          </a:xfrm>
          <a:prstGeom prst="roundRect">
            <a:avLst>
              <a:gd name="adj" fmla="val 50000"/>
            </a:avLst>
          </a:prstGeom>
          <a:solidFill>
            <a:srgbClr val="EE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9" name="TextBox 15388"/>
          <p:cNvSpPr txBox="1"/>
          <p:nvPr/>
        </p:nvSpPr>
        <p:spPr>
          <a:xfrm>
            <a:off x="8897753" y="3689749"/>
            <a:ext cx="1201500" cy="280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30"/>
                </a:solidFill>
                <a:latin typeface="微軟正黑體"/>
                <a:ea typeface="微軟正黑體"/>
              </a:rPr>
              <a:t>台積電</a:t>
            </a:r>
          </a:p>
        </p:txBody>
      </p:sp>
      <p:sp>
        <p:nvSpPr>
          <p:cNvPr id="15390" name="Rounded Rectangle 15389"/>
          <p:cNvSpPr/>
          <p:nvPr/>
        </p:nvSpPr>
        <p:spPr>
          <a:xfrm>
            <a:off x="10153253" y="3689749"/>
            <a:ext cx="1201500" cy="280800"/>
          </a:xfrm>
          <a:prstGeom prst="roundRect">
            <a:avLst>
              <a:gd name="adj" fmla="val 50000"/>
            </a:avLst>
          </a:prstGeom>
          <a:solidFill>
            <a:srgbClr val="EE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1" name="TextBox 15390"/>
          <p:cNvSpPr txBox="1"/>
          <p:nvPr/>
        </p:nvSpPr>
        <p:spPr>
          <a:xfrm>
            <a:off x="10153253" y="3689749"/>
            <a:ext cx="1201500" cy="280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30"/>
                </a:solidFill>
                <a:latin typeface="微軟正黑體"/>
                <a:ea typeface="微軟正黑體"/>
              </a:rPr>
              <a:t>欣興</a:t>
            </a:r>
          </a:p>
        </p:txBody>
      </p:sp>
      <p:sp>
        <p:nvSpPr>
          <p:cNvPr id="15392" name="Rounded Rectangle 15391"/>
          <p:cNvSpPr/>
          <p:nvPr/>
        </p:nvSpPr>
        <p:spPr>
          <a:xfrm>
            <a:off x="8897753" y="4035349"/>
            <a:ext cx="1201500" cy="280800"/>
          </a:xfrm>
          <a:prstGeom prst="roundRect">
            <a:avLst>
              <a:gd name="adj" fmla="val 50000"/>
            </a:avLst>
          </a:prstGeom>
          <a:solidFill>
            <a:srgbClr val="E6F1F5"/>
          </a:solidFill>
          <a:ln w="9525">
            <a:solidFill>
              <a:srgbClr val="0148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3" name="TextBox 15392"/>
          <p:cNvSpPr txBox="1"/>
          <p:nvPr/>
        </p:nvSpPr>
        <p:spPr>
          <a:xfrm>
            <a:off x="8897753" y="4035349"/>
            <a:ext cx="1201500" cy="280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14865"/>
                </a:solidFill>
                <a:latin typeface="微軟正黑體"/>
                <a:ea typeface="微軟正黑體"/>
              </a:rPr>
              <a:t>★昇陽半</a:t>
            </a:r>
          </a:p>
        </p:txBody>
      </p:sp>
      <p:sp>
        <p:nvSpPr>
          <p:cNvPr id="15394" name="Rounded Rectangle 15393"/>
          <p:cNvSpPr/>
          <p:nvPr/>
        </p:nvSpPr>
        <p:spPr>
          <a:xfrm>
            <a:off x="10153253" y="4035349"/>
            <a:ext cx="1201500" cy="280800"/>
          </a:xfrm>
          <a:prstGeom prst="roundRect">
            <a:avLst>
              <a:gd name="adj" fmla="val 50000"/>
            </a:avLst>
          </a:prstGeom>
          <a:solidFill>
            <a:srgbClr val="EE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5" name="TextBox 15394"/>
          <p:cNvSpPr txBox="1"/>
          <p:nvPr/>
        </p:nvSpPr>
        <p:spPr>
          <a:xfrm>
            <a:off x="10153253" y="4035349"/>
            <a:ext cx="1201500" cy="280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30"/>
                </a:solidFill>
                <a:latin typeface="微軟正黑體"/>
                <a:ea typeface="微軟正黑體"/>
              </a:rPr>
              <a:t>創意</a:t>
            </a:r>
          </a:p>
        </p:txBody>
      </p:sp>
      <p:sp>
        <p:nvSpPr>
          <p:cNvPr id="15396" name="Rounded Rectangle 15395"/>
          <p:cNvSpPr/>
          <p:nvPr/>
        </p:nvSpPr>
        <p:spPr>
          <a:xfrm>
            <a:off x="6224753" y="4655449"/>
            <a:ext cx="2565000" cy="1618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93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7" name="Rounded Rectangle 15396"/>
          <p:cNvSpPr/>
          <p:nvPr/>
        </p:nvSpPr>
        <p:spPr>
          <a:xfrm>
            <a:off x="6224753" y="4655449"/>
            <a:ext cx="2565000" cy="223200"/>
          </a:xfrm>
          <a:prstGeom prst="roundRect">
            <a:avLst>
              <a:gd name="adj" fmla="val 25000"/>
            </a:avLst>
          </a:prstGeom>
          <a:solidFill>
            <a:srgbClr val="009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8" name="TextBox 15397"/>
          <p:cNvSpPr txBox="1"/>
          <p:nvPr/>
        </p:nvSpPr>
        <p:spPr>
          <a:xfrm>
            <a:off x="6224753" y="4655449"/>
            <a:ext cx="2565000" cy="22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  <a:ea typeface="微軟正黑體"/>
              </a:rPr>
              <a:t>零組件規格升級</a:t>
            </a:r>
          </a:p>
        </p:txBody>
      </p:sp>
      <p:sp>
        <p:nvSpPr>
          <p:cNvPr id="15399" name="TextBox 15398"/>
          <p:cNvSpPr txBox="1"/>
          <p:nvPr/>
        </p:nvSpPr>
        <p:spPr>
          <a:xfrm>
            <a:off x="6260753" y="4921849"/>
            <a:ext cx="2493000" cy="1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B7A82"/>
                </a:solidFill>
                <a:latin typeface="微軟正黑體"/>
                <a:ea typeface="微軟正黑體"/>
              </a:rPr>
              <a:t>滑軌、連接器線材、光通訊雷射、散熱</a:t>
            </a:r>
          </a:p>
        </p:txBody>
      </p:sp>
      <p:sp>
        <p:nvSpPr>
          <p:cNvPr id="15400" name="Rounded Rectangle 15399"/>
          <p:cNvSpPr/>
          <p:nvPr/>
        </p:nvSpPr>
        <p:spPr>
          <a:xfrm>
            <a:off x="6278753" y="5361949"/>
            <a:ext cx="1201500" cy="280800"/>
          </a:xfrm>
          <a:prstGeom prst="roundRect">
            <a:avLst>
              <a:gd name="adj" fmla="val 50000"/>
            </a:avLst>
          </a:prstGeom>
          <a:solidFill>
            <a:srgbClr val="EE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1" name="TextBox 15400"/>
          <p:cNvSpPr txBox="1"/>
          <p:nvPr/>
        </p:nvSpPr>
        <p:spPr>
          <a:xfrm>
            <a:off x="6278753" y="5361949"/>
            <a:ext cx="1201500" cy="280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30"/>
                </a:solidFill>
                <a:latin typeface="微軟正黑體"/>
                <a:ea typeface="微軟正黑體"/>
              </a:rPr>
              <a:t>川湖</a:t>
            </a:r>
          </a:p>
        </p:txBody>
      </p:sp>
      <p:sp>
        <p:nvSpPr>
          <p:cNvPr id="15402" name="Rounded Rectangle 15401"/>
          <p:cNvSpPr/>
          <p:nvPr/>
        </p:nvSpPr>
        <p:spPr>
          <a:xfrm>
            <a:off x="7534253" y="5361949"/>
            <a:ext cx="1201500" cy="280800"/>
          </a:xfrm>
          <a:prstGeom prst="roundRect">
            <a:avLst>
              <a:gd name="adj" fmla="val 50000"/>
            </a:avLst>
          </a:prstGeom>
          <a:solidFill>
            <a:srgbClr val="EE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3" name="TextBox 15402"/>
          <p:cNvSpPr txBox="1"/>
          <p:nvPr/>
        </p:nvSpPr>
        <p:spPr>
          <a:xfrm>
            <a:off x="7534253" y="5361949"/>
            <a:ext cx="1201500" cy="280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30"/>
                </a:solidFill>
                <a:latin typeface="微軟正黑體"/>
                <a:ea typeface="微軟正黑體"/>
              </a:rPr>
              <a:t>奇鋐</a:t>
            </a:r>
          </a:p>
        </p:txBody>
      </p:sp>
      <p:sp>
        <p:nvSpPr>
          <p:cNvPr id="15404" name="Rounded Rectangle 15403"/>
          <p:cNvSpPr/>
          <p:nvPr/>
        </p:nvSpPr>
        <p:spPr>
          <a:xfrm>
            <a:off x="6278753" y="5707549"/>
            <a:ext cx="1201500" cy="280800"/>
          </a:xfrm>
          <a:prstGeom prst="roundRect">
            <a:avLst>
              <a:gd name="adj" fmla="val 50000"/>
            </a:avLst>
          </a:prstGeom>
          <a:solidFill>
            <a:srgbClr val="EE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5" name="TextBox 15404"/>
          <p:cNvSpPr txBox="1"/>
          <p:nvPr/>
        </p:nvSpPr>
        <p:spPr>
          <a:xfrm>
            <a:off x="6278753" y="5707549"/>
            <a:ext cx="1201500" cy="280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30"/>
                </a:solidFill>
                <a:latin typeface="微軟正黑體"/>
                <a:ea typeface="微軟正黑體"/>
              </a:rPr>
              <a:t>全新</a:t>
            </a:r>
          </a:p>
        </p:txBody>
      </p:sp>
      <p:sp>
        <p:nvSpPr>
          <p:cNvPr id="15406" name="Rounded Rectangle 15405"/>
          <p:cNvSpPr/>
          <p:nvPr/>
        </p:nvSpPr>
        <p:spPr>
          <a:xfrm>
            <a:off x="7534253" y="5707549"/>
            <a:ext cx="1201500" cy="280800"/>
          </a:xfrm>
          <a:prstGeom prst="roundRect">
            <a:avLst>
              <a:gd name="adj" fmla="val 50000"/>
            </a:avLst>
          </a:prstGeom>
          <a:solidFill>
            <a:srgbClr val="EE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7" name="TextBox 15406"/>
          <p:cNvSpPr txBox="1"/>
          <p:nvPr/>
        </p:nvSpPr>
        <p:spPr>
          <a:xfrm>
            <a:off x="7534253" y="5707549"/>
            <a:ext cx="1201500" cy="280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30"/>
                </a:solidFill>
                <a:latin typeface="微軟正黑體"/>
                <a:ea typeface="微軟正黑體"/>
              </a:rPr>
              <a:t>貿聯-KY</a:t>
            </a:r>
          </a:p>
        </p:txBody>
      </p:sp>
      <p:sp>
        <p:nvSpPr>
          <p:cNvPr id="15408" name="Rounded Rectangle 15407"/>
          <p:cNvSpPr/>
          <p:nvPr/>
        </p:nvSpPr>
        <p:spPr>
          <a:xfrm>
            <a:off x="8843753" y="4655449"/>
            <a:ext cx="2565000" cy="1618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A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9" name="Rounded Rectangle 15408"/>
          <p:cNvSpPr/>
          <p:nvPr/>
        </p:nvSpPr>
        <p:spPr>
          <a:xfrm>
            <a:off x="8843753" y="4655449"/>
            <a:ext cx="2565000" cy="223200"/>
          </a:xfrm>
          <a:prstGeom prst="roundRect">
            <a:avLst>
              <a:gd name="adj" fmla="val 25000"/>
            </a:avLst>
          </a:prstGeom>
          <a:solidFill>
            <a:srgbClr val="00A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10" name="TextBox 15409"/>
          <p:cNvSpPr txBox="1"/>
          <p:nvPr/>
        </p:nvSpPr>
        <p:spPr>
          <a:xfrm>
            <a:off x="8843753" y="4655449"/>
            <a:ext cx="2565000" cy="22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  <a:ea typeface="微軟正黑體"/>
              </a:rPr>
              <a:t>能源、殖利率</a:t>
            </a:r>
          </a:p>
        </p:txBody>
      </p:sp>
      <p:sp>
        <p:nvSpPr>
          <p:cNvPr id="15411" name="TextBox 15410"/>
          <p:cNvSpPr txBox="1"/>
          <p:nvPr/>
        </p:nvSpPr>
        <p:spPr>
          <a:xfrm>
            <a:off x="8879753" y="4921849"/>
            <a:ext cx="2493000" cy="1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B7A82"/>
                </a:solidFill>
                <a:latin typeface="微軟正黑體"/>
                <a:ea typeface="微軟正黑體"/>
              </a:rPr>
              <a:t>重電設備、特化、金控類股</a:t>
            </a:r>
          </a:p>
        </p:txBody>
      </p:sp>
      <p:sp>
        <p:nvSpPr>
          <p:cNvPr id="15412" name="Rounded Rectangle 15411"/>
          <p:cNvSpPr/>
          <p:nvPr/>
        </p:nvSpPr>
        <p:spPr>
          <a:xfrm>
            <a:off x="8897753" y="5361949"/>
            <a:ext cx="1201500" cy="280800"/>
          </a:xfrm>
          <a:prstGeom prst="roundRect">
            <a:avLst>
              <a:gd name="adj" fmla="val 50000"/>
            </a:avLst>
          </a:prstGeom>
          <a:solidFill>
            <a:srgbClr val="E6F1F5"/>
          </a:solidFill>
          <a:ln w="9525">
            <a:solidFill>
              <a:srgbClr val="0148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13" name="TextBox 15412"/>
          <p:cNvSpPr txBox="1"/>
          <p:nvPr/>
        </p:nvSpPr>
        <p:spPr>
          <a:xfrm>
            <a:off x="8897753" y="5361949"/>
            <a:ext cx="1201500" cy="280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14865"/>
                </a:solidFill>
                <a:latin typeface="微軟正黑體"/>
                <a:ea typeface="微軟正黑體"/>
              </a:rPr>
              <a:t>★華城</a:t>
            </a:r>
          </a:p>
        </p:txBody>
      </p:sp>
      <p:sp>
        <p:nvSpPr>
          <p:cNvPr id="15414" name="Rounded Rectangle 15413"/>
          <p:cNvSpPr/>
          <p:nvPr/>
        </p:nvSpPr>
        <p:spPr>
          <a:xfrm>
            <a:off x="10153253" y="5361949"/>
            <a:ext cx="1201500" cy="280800"/>
          </a:xfrm>
          <a:prstGeom prst="roundRect">
            <a:avLst>
              <a:gd name="adj" fmla="val 50000"/>
            </a:avLst>
          </a:prstGeom>
          <a:solidFill>
            <a:srgbClr val="EE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15" name="TextBox 15414"/>
          <p:cNvSpPr txBox="1"/>
          <p:nvPr/>
        </p:nvSpPr>
        <p:spPr>
          <a:xfrm>
            <a:off x="10153253" y="5361949"/>
            <a:ext cx="1201500" cy="280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30"/>
                </a:solidFill>
                <a:latin typeface="微軟正黑體"/>
                <a:ea typeface="微軟正黑體"/>
              </a:rPr>
              <a:t>南亞</a:t>
            </a:r>
          </a:p>
        </p:txBody>
      </p:sp>
      <p:sp>
        <p:nvSpPr>
          <p:cNvPr id="15416" name="Rounded Rectangle 15415"/>
          <p:cNvSpPr/>
          <p:nvPr/>
        </p:nvSpPr>
        <p:spPr>
          <a:xfrm>
            <a:off x="8897753" y="5707549"/>
            <a:ext cx="1201500" cy="280800"/>
          </a:xfrm>
          <a:prstGeom prst="roundRect">
            <a:avLst>
              <a:gd name="adj" fmla="val 50000"/>
            </a:avLst>
          </a:prstGeom>
          <a:solidFill>
            <a:srgbClr val="E6F1F5"/>
          </a:solidFill>
          <a:ln w="9525">
            <a:solidFill>
              <a:srgbClr val="0148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17" name="TextBox 15416"/>
          <p:cNvSpPr txBox="1"/>
          <p:nvPr/>
        </p:nvSpPr>
        <p:spPr>
          <a:xfrm>
            <a:off x="8897753" y="5707549"/>
            <a:ext cx="1201500" cy="280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14865"/>
                </a:solidFill>
                <a:latin typeface="微軟正黑體"/>
                <a:ea typeface="微軟正黑體"/>
              </a:rPr>
              <a:t>★新應材</a:t>
            </a:r>
          </a:p>
        </p:txBody>
      </p:sp>
      <p:sp>
        <p:nvSpPr>
          <p:cNvPr id="15418" name="Rounded Rectangle 15417"/>
          <p:cNvSpPr/>
          <p:nvPr/>
        </p:nvSpPr>
        <p:spPr>
          <a:xfrm>
            <a:off x="10153253" y="5707549"/>
            <a:ext cx="1201500" cy="280800"/>
          </a:xfrm>
          <a:prstGeom prst="roundRect">
            <a:avLst>
              <a:gd name="adj" fmla="val 50000"/>
            </a:avLst>
          </a:prstGeom>
          <a:solidFill>
            <a:srgbClr val="EE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19" name="TextBox 15418"/>
          <p:cNvSpPr txBox="1"/>
          <p:nvPr/>
        </p:nvSpPr>
        <p:spPr>
          <a:xfrm>
            <a:off x="10153253" y="5707549"/>
            <a:ext cx="1201500" cy="280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30"/>
                </a:solidFill>
                <a:latin typeface="微軟正黑體"/>
                <a:ea typeface="微軟正黑體"/>
              </a:rPr>
              <a:t>國泰金</a:t>
            </a:r>
          </a:p>
        </p:txBody>
      </p:sp>
    </p:spTree>
    <p:extLst>
      <p:ext uri="{BB962C8B-B14F-4D97-AF65-F5344CB8AC3E}">
        <p14:creationId xmlns:p14="http://schemas.microsoft.com/office/powerpoint/2010/main" val="2512615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5F5E8134-2E7A-048E-6975-EE607471C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6783" y="2282320"/>
            <a:ext cx="4233673" cy="659975"/>
          </a:xfrm>
        </p:spPr>
        <p:txBody>
          <a:bodyPr>
            <a:normAutofit/>
          </a:bodyPr>
          <a:lstStyle/>
          <a:p>
            <a:pPr algn="ctr"/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簡報完畢  敬請指教</a:t>
            </a:r>
            <a:endParaRPr lang="zh-TW" altLang="en-US" sz="3600" b="1" dirty="0"/>
          </a:p>
        </p:txBody>
      </p:sp>
      <p:sp>
        <p:nvSpPr>
          <p:cNvPr id="4" name="圖片版面配置區 3">
            <a:extLst>
              <a:ext uri="{FF2B5EF4-FFF2-40B4-BE49-F238E27FC236}">
                <a16:creationId xmlns:a16="http://schemas.microsoft.com/office/drawing/2014/main" id="{C4A876E1-7180-4B16-51D5-0B64EBEF3340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7915281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362" name="標題 3">
            <a:extLst>
              <a:ext uri="{FF2B5EF4-FFF2-40B4-BE49-F238E27FC236}">
                <a16:creationId xmlns:a16="http://schemas.microsoft.com/office/drawing/2014/main" id="{D0052553-414B-0149-5353-CA3A7D03E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5999" y="288000"/>
            <a:ext cx="10463999" cy="430887"/>
          </a:xfrm>
        </p:spPr>
        <p:txBody>
          <a:bodyPr>
            <a:noAutofit/>
          </a:bodyPr>
          <a:lstStyle/>
          <a:p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AI動能擴散至先進封裝與測試 訂單外溢成新亮點</a:t>
            </a:r>
          </a:p>
        </p:txBody>
      </p:sp>
      <p:sp>
        <p:nvSpPr>
          <p:cNvPr id="5" name="文字方塊 14">
            <a:extLst>
              <a:ext uri="{FF2B5EF4-FFF2-40B4-BE49-F238E27FC236}">
                <a16:creationId xmlns:a16="http://schemas.microsoft.com/office/drawing/2014/main" id="{9C99D567-D09F-0FEC-56C5-3BB1DD9584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001" y="900000"/>
            <a:ext cx="10463999" cy="1493552"/>
          </a:xfrm>
          <a:prstGeom prst="rect">
            <a:avLst/>
          </a:prstGeom>
          <a:noFill/>
          <a:ln>
            <a:noFill/>
          </a:ln>
        </p:spPr>
        <p:txBody>
          <a:bodyPr lIns="36000" rIns="36000"/>
          <a:lstStyle>
            <a:lvl1pPr>
              <a:spcBef>
                <a:spcPct val="30000"/>
              </a:spcBef>
              <a:buClr>
                <a:srgbClr val="00829B"/>
              </a:buClr>
              <a:buSzPct val="70000"/>
              <a:buFont typeface="Wingdings" panose="05000000000000000000" pitchFamily="2" charset="2"/>
              <a:buChar char="n"/>
              <a:defRPr kumimoji="1" sz="2600">
                <a:solidFill>
                  <a:schemeClr val="tx1"/>
                </a:solidFill>
                <a:latin typeface="Doradani Lt" charset="0"/>
                <a:ea typeface="文鼎細圓" charset="-120"/>
              </a:defRPr>
            </a:lvl1pPr>
            <a:lvl2pPr marL="742950" indent="-285750">
              <a:spcBef>
                <a:spcPct val="30000"/>
              </a:spcBef>
              <a:buSzPct val="70000"/>
              <a:buFont typeface="Wingdings" panose="05000000000000000000" pitchFamily="2" charset="2"/>
              <a:buChar char="l"/>
              <a:defRPr kumimoji="1" sz="2200">
                <a:solidFill>
                  <a:schemeClr val="tx1"/>
                </a:solidFill>
                <a:latin typeface="Doradani Lt" charset="0"/>
                <a:ea typeface="文鼎細圓" charset="-120"/>
              </a:defRPr>
            </a:lvl2pPr>
            <a:lvl3pPr marL="1143000" indent="-228600">
              <a:spcBef>
                <a:spcPct val="30000"/>
              </a:spcBef>
              <a:buClr>
                <a:srgbClr val="00829B"/>
              </a:buClr>
              <a:buSzPct val="7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Doradani Lt" charset="0"/>
                <a:ea typeface="文鼎細圓" charset="-120"/>
              </a:defRPr>
            </a:lvl3pPr>
            <a:lvl4pPr marL="1600200" indent="-228600">
              <a:spcBef>
                <a:spcPct val="30000"/>
              </a:spcBef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Doradani Lt" charset="0"/>
                <a:ea typeface="文鼎細圓" charset="-120"/>
              </a:defRPr>
            </a:lvl4pPr>
            <a:lvl5pPr marL="2057400" indent="-228600">
              <a:lnSpc>
                <a:spcPct val="120000"/>
              </a:lnSpc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AI晶片朝更大型機櫃架構發展，推升CoWoS、CoPoS、SoIC先進封裝與測試設備需求；台積電N2、N3產能2026至2027年持續吃緊，預估2027年供需缺口擴大至15-20%。</a:t>
            </a: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Google、Meta等自研方案將尋求Intel、聯電等非台積電產能支援；台積電COUPE光子引擎可望節省功耗逾10倍、傳輸效率提升20倍，台廠可望成為CPO國際大廠主要夥伴。</a:t>
            </a: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None/>
            </a:pP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458EA3A-EC57-A4D3-E5FC-606D51CB141D}"/>
              </a:ext>
            </a:extLst>
          </p:cNvPr>
          <p:cNvSpPr/>
          <p:nvPr/>
        </p:nvSpPr>
        <p:spPr>
          <a:xfrm>
            <a:off x="8190000" y="6542809"/>
            <a:ext cx="3209998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zh-TW" altLang="en-US" sz="1200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資料來源：富邦投顧，2026.9.30</a:t>
            </a:r>
            <a:endParaRPr lang="zh-TW" altLang="en-US" sz="1400" dirty="0">
              <a:ea typeface="文鼎細圓" pitchFamily="49" charset="-120"/>
              <a:cs typeface="+mn-cs"/>
            </a:endParaRPr>
          </a:p>
        </p:txBody>
      </p:sp>
      <p:sp>
        <p:nvSpPr>
          <p:cNvPr id="15363" name="TextBox 15362"/>
          <p:cNvSpPr txBox="1"/>
          <p:nvPr/>
        </p:nvSpPr>
        <p:spPr>
          <a:xfrm>
            <a:off x="379232" y="2240000"/>
            <a:ext cx="540000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微軟正黑體"/>
                <a:ea typeface="微軟正黑體"/>
              </a:rPr>
              <a:t>2026年Nvidia AI機櫃出貨預估（千櫃）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379232" y="2608849"/>
            <a:ext cx="5400000" cy="3708000"/>
          </a:xfrm>
          <a:prstGeom prst="roundRect">
            <a:avLst>
              <a:gd name="adj" fmla="val 4000"/>
            </a:avLst>
          </a:prstGeom>
          <a:noFill/>
          <a:ln>
            <a:solidFill>
              <a:srgbClr val="CD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5" name="Rounded Rectangle 15364"/>
          <p:cNvSpPr/>
          <p:nvPr/>
        </p:nvSpPr>
        <p:spPr>
          <a:xfrm>
            <a:off x="487232" y="2680849"/>
            <a:ext cx="5184000" cy="259200"/>
          </a:xfrm>
          <a:prstGeom prst="roundRect">
            <a:avLst>
              <a:gd name="adj" fmla="val 50000"/>
            </a:avLst>
          </a:prstGeom>
          <a:solidFill>
            <a:srgbClr val="0082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</a:rPr>
              <a:t>全年8萬櫃 GB300占7萬櫃為主力</a:t>
            </a:r>
          </a:p>
        </p:txBody>
      </p:sp>
      <p:graphicFrame>
        <p:nvGraphicFramePr>
          <p:cNvPr id="15366" name="Chart 15365"/>
          <p:cNvGraphicFramePr>
            <a:graphicFrameLocks noGrp="1"/>
          </p:cNvGraphicFramePr>
          <p:nvPr/>
        </p:nvGraphicFramePr>
        <p:xfrm>
          <a:off x="433232" y="2983249"/>
          <a:ext cx="5292000" cy="329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367" name="TextBox 15366"/>
          <p:cNvSpPr txBox="1"/>
          <p:nvPr/>
        </p:nvSpPr>
        <p:spPr>
          <a:xfrm>
            <a:off x="6116753" y="2240000"/>
            <a:ext cx="540000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微軟正黑體"/>
                <a:ea typeface="微軟正黑體"/>
              </a:rPr>
              <a:t>核心持股季EPS年增率（%）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6116753" y="2608849"/>
            <a:ext cx="5400000" cy="3708000"/>
          </a:xfrm>
          <a:prstGeom prst="roundRect">
            <a:avLst>
              <a:gd name="adj" fmla="val 4000"/>
            </a:avLst>
          </a:prstGeom>
          <a:noFill/>
          <a:ln>
            <a:solidFill>
              <a:srgbClr val="CD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9" name="Rounded Rectangle 15368"/>
          <p:cNvSpPr/>
          <p:nvPr/>
        </p:nvSpPr>
        <p:spPr>
          <a:xfrm>
            <a:off x="6224753" y="2680849"/>
            <a:ext cx="5184000" cy="259200"/>
          </a:xfrm>
          <a:prstGeom prst="roundRect">
            <a:avLst>
              <a:gd name="adj" fmla="val 50000"/>
            </a:avLst>
          </a:prstGeom>
          <a:solidFill>
            <a:srgbClr val="0082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</a:rPr>
              <a:t>IC設計4Q26年增96.6% 成長延續至2027年</a:t>
            </a:r>
          </a:p>
        </p:txBody>
      </p:sp>
      <p:graphicFrame>
        <p:nvGraphicFramePr>
          <p:cNvPr id="15370" name="Chart 15369"/>
          <p:cNvGraphicFramePr>
            <a:graphicFrameLocks noGrp="1"/>
          </p:cNvGraphicFramePr>
          <p:nvPr/>
        </p:nvGraphicFramePr>
        <p:xfrm>
          <a:off x="6170753" y="2983249"/>
          <a:ext cx="5292000" cy="329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362" name="標題 3">
            <a:extLst>
              <a:ext uri="{FF2B5EF4-FFF2-40B4-BE49-F238E27FC236}">
                <a16:creationId xmlns:a16="http://schemas.microsoft.com/office/drawing/2014/main" id="{D0052553-414B-0149-5353-CA3A7D03E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5999" y="288000"/>
            <a:ext cx="10463999" cy="430887"/>
          </a:xfrm>
        </p:spPr>
        <p:txBody>
          <a:bodyPr>
            <a:noAutofit/>
          </a:bodyPr>
          <a:lstStyle/>
          <a:p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零組件投資焦點由漲價轉向規格升級</a:t>
            </a:r>
          </a:p>
        </p:txBody>
      </p:sp>
      <p:sp>
        <p:nvSpPr>
          <p:cNvPr id="5" name="文字方塊 14">
            <a:extLst>
              <a:ext uri="{FF2B5EF4-FFF2-40B4-BE49-F238E27FC236}">
                <a16:creationId xmlns:a16="http://schemas.microsoft.com/office/drawing/2014/main" id="{9C99D567-D09F-0FEC-56C5-3BB1DD9584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001" y="900000"/>
            <a:ext cx="10463999" cy="1493552"/>
          </a:xfrm>
          <a:prstGeom prst="rect">
            <a:avLst/>
          </a:prstGeom>
          <a:noFill/>
          <a:ln>
            <a:noFill/>
          </a:ln>
        </p:spPr>
        <p:txBody>
          <a:bodyPr lIns="36000" rIns="36000"/>
          <a:lstStyle>
            <a:lvl1pPr>
              <a:spcBef>
                <a:spcPct val="30000"/>
              </a:spcBef>
              <a:buClr>
                <a:srgbClr val="00829B"/>
              </a:buClr>
              <a:buSzPct val="70000"/>
              <a:buFont typeface="Wingdings" panose="05000000000000000000" pitchFamily="2" charset="2"/>
              <a:buChar char="n"/>
              <a:defRPr kumimoji="1" sz="2600">
                <a:solidFill>
                  <a:schemeClr val="tx1"/>
                </a:solidFill>
                <a:latin typeface="Doradani Lt" charset="0"/>
                <a:ea typeface="文鼎細圓" charset="-120"/>
              </a:defRPr>
            </a:lvl1pPr>
            <a:lvl2pPr marL="742950" indent="-285750">
              <a:spcBef>
                <a:spcPct val="30000"/>
              </a:spcBef>
              <a:buSzPct val="70000"/>
              <a:buFont typeface="Wingdings" panose="05000000000000000000" pitchFamily="2" charset="2"/>
              <a:buChar char="l"/>
              <a:defRPr kumimoji="1" sz="2200">
                <a:solidFill>
                  <a:schemeClr val="tx1"/>
                </a:solidFill>
                <a:latin typeface="Doradani Lt" charset="0"/>
                <a:ea typeface="文鼎細圓" charset="-120"/>
              </a:defRPr>
            </a:lvl2pPr>
            <a:lvl3pPr marL="1143000" indent="-228600">
              <a:spcBef>
                <a:spcPct val="30000"/>
              </a:spcBef>
              <a:buClr>
                <a:srgbClr val="00829B"/>
              </a:buClr>
              <a:buSzPct val="7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Doradani Lt" charset="0"/>
                <a:ea typeface="文鼎細圓" charset="-120"/>
              </a:defRPr>
            </a:lvl3pPr>
            <a:lvl4pPr marL="1600200" indent="-228600">
              <a:spcBef>
                <a:spcPct val="30000"/>
              </a:spcBef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Doradani Lt" charset="0"/>
                <a:ea typeface="文鼎細圓" charset="-120"/>
              </a:defRPr>
            </a:lvl4pPr>
            <a:lvl5pPr marL="2057400" indent="-228600">
              <a:lnSpc>
                <a:spcPct val="120000"/>
              </a:lnSpc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漲價題材已在市場預期之中，4Q26起留意規格升級；銅箔基板三雄前8月營收成長42%~97%，預期台光、台燿4Q26 M7以上產品比重將挑戰80%及45%。</a:t>
            </a: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Vera Rubin世代單櫃功耗超過200kW，單顆PSU功率由5.5kW提升至18kW以上；被動元件BB ratio攀升至歷史高點，4Q26將對通路商與直接客戶再度漲價。</a:t>
            </a: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None/>
            </a:pP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458EA3A-EC57-A4D3-E5FC-606D51CB141D}"/>
              </a:ext>
            </a:extLst>
          </p:cNvPr>
          <p:cNvSpPr/>
          <p:nvPr/>
        </p:nvSpPr>
        <p:spPr>
          <a:xfrm>
            <a:off x="8190000" y="6542809"/>
            <a:ext cx="3209998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zh-TW" altLang="en-US" sz="1200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資料來源：TrendForce、富邦投顧</a:t>
            </a:r>
            <a:endParaRPr lang="zh-TW" altLang="en-US" sz="1400" dirty="0">
              <a:ea typeface="文鼎細圓" pitchFamily="49" charset="-120"/>
              <a:cs typeface="+mn-cs"/>
            </a:endParaRPr>
          </a:p>
        </p:txBody>
      </p:sp>
      <p:sp>
        <p:nvSpPr>
          <p:cNvPr id="15363" name="TextBox 15362"/>
          <p:cNvSpPr txBox="1"/>
          <p:nvPr/>
        </p:nvSpPr>
        <p:spPr>
          <a:xfrm>
            <a:off x="379232" y="2240000"/>
            <a:ext cx="540000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微軟正黑體"/>
                <a:ea typeface="微軟正黑體"/>
              </a:rPr>
              <a:t>國際被動元件大廠BB ratio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379232" y="2608849"/>
            <a:ext cx="5400000" cy="3708000"/>
          </a:xfrm>
          <a:prstGeom prst="roundRect">
            <a:avLst>
              <a:gd name="adj" fmla="val 4000"/>
            </a:avLst>
          </a:prstGeom>
          <a:noFill/>
          <a:ln>
            <a:solidFill>
              <a:srgbClr val="CD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5" name="Rounded Rectangle 15364"/>
          <p:cNvSpPr/>
          <p:nvPr/>
        </p:nvSpPr>
        <p:spPr>
          <a:xfrm>
            <a:off x="487232" y="2680849"/>
            <a:ext cx="5184000" cy="259200"/>
          </a:xfrm>
          <a:prstGeom prst="roundRect">
            <a:avLst>
              <a:gd name="adj" fmla="val 50000"/>
            </a:avLst>
          </a:prstGeom>
          <a:solidFill>
            <a:srgbClr val="0082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</a:rPr>
              <a:t>國巨二季底BB ratio達2.2</a:t>
            </a:r>
          </a:p>
        </p:txBody>
      </p:sp>
      <p:graphicFrame>
        <p:nvGraphicFramePr>
          <p:cNvPr id="15366" name="Chart 15365"/>
          <p:cNvGraphicFramePr>
            <a:graphicFrameLocks noGrp="1"/>
          </p:cNvGraphicFramePr>
          <p:nvPr/>
        </p:nvGraphicFramePr>
        <p:xfrm>
          <a:off x="433232" y="2983249"/>
          <a:ext cx="5292000" cy="329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367" name="TextBox 15366"/>
          <p:cNvSpPr txBox="1"/>
          <p:nvPr/>
        </p:nvSpPr>
        <p:spPr>
          <a:xfrm>
            <a:off x="6116753" y="2240000"/>
            <a:ext cx="540000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微軟正黑體"/>
                <a:ea typeface="微軟正黑體"/>
              </a:rPr>
              <a:t>DRAM與NAND供需比預估（%）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6116753" y="2608849"/>
            <a:ext cx="5400000" cy="3708000"/>
          </a:xfrm>
          <a:prstGeom prst="roundRect">
            <a:avLst>
              <a:gd name="adj" fmla="val 4000"/>
            </a:avLst>
          </a:prstGeom>
          <a:noFill/>
          <a:ln>
            <a:solidFill>
              <a:srgbClr val="CD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9" name="Rounded Rectangle 15368"/>
          <p:cNvSpPr/>
          <p:nvPr/>
        </p:nvSpPr>
        <p:spPr>
          <a:xfrm>
            <a:off x="6224753" y="2680849"/>
            <a:ext cx="5184000" cy="259200"/>
          </a:xfrm>
          <a:prstGeom prst="roundRect">
            <a:avLst>
              <a:gd name="adj" fmla="val 50000"/>
            </a:avLst>
          </a:prstGeom>
          <a:solidFill>
            <a:srgbClr val="0082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</a:rPr>
              <a:t>2027年DRAM更吃緊 NAND轉為供過於求</a:t>
            </a:r>
          </a:p>
        </p:txBody>
      </p:sp>
      <p:graphicFrame>
        <p:nvGraphicFramePr>
          <p:cNvPr id="15370" name="Chart 15369"/>
          <p:cNvGraphicFramePr>
            <a:graphicFrameLocks noGrp="1"/>
          </p:cNvGraphicFramePr>
          <p:nvPr/>
        </p:nvGraphicFramePr>
        <p:xfrm>
          <a:off x="6170753" y="2983249"/>
          <a:ext cx="5292000" cy="329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362" name="標題 3">
            <a:extLst>
              <a:ext uri="{FF2B5EF4-FFF2-40B4-BE49-F238E27FC236}">
                <a16:creationId xmlns:a16="http://schemas.microsoft.com/office/drawing/2014/main" id="{D0052553-414B-0149-5353-CA3A7D03E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5999" y="288000"/>
            <a:ext cx="10463999" cy="430887"/>
          </a:xfrm>
        </p:spPr>
        <p:txBody>
          <a:bodyPr>
            <a:noAutofit/>
          </a:bodyPr>
          <a:lstStyle/>
          <a:p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傳產首選重電 交期拉長至150-200週</a:t>
            </a:r>
          </a:p>
        </p:txBody>
      </p:sp>
      <p:sp>
        <p:nvSpPr>
          <p:cNvPr id="5" name="文字方塊 14">
            <a:extLst>
              <a:ext uri="{FF2B5EF4-FFF2-40B4-BE49-F238E27FC236}">
                <a16:creationId xmlns:a16="http://schemas.microsoft.com/office/drawing/2014/main" id="{9C99D567-D09F-0FEC-56C5-3BB1DD9584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001" y="900000"/>
            <a:ext cx="10463999" cy="1493552"/>
          </a:xfrm>
          <a:prstGeom prst="rect">
            <a:avLst/>
          </a:prstGeom>
          <a:noFill/>
          <a:ln>
            <a:noFill/>
          </a:ln>
        </p:spPr>
        <p:txBody>
          <a:bodyPr lIns="36000" rIns="36000"/>
          <a:lstStyle>
            <a:lvl1pPr>
              <a:spcBef>
                <a:spcPct val="30000"/>
              </a:spcBef>
              <a:buClr>
                <a:srgbClr val="00829B"/>
              </a:buClr>
              <a:buSzPct val="70000"/>
              <a:buFont typeface="Wingdings" panose="05000000000000000000" pitchFamily="2" charset="2"/>
              <a:buChar char="n"/>
              <a:defRPr kumimoji="1" sz="2600">
                <a:solidFill>
                  <a:schemeClr val="tx1"/>
                </a:solidFill>
                <a:latin typeface="Doradani Lt" charset="0"/>
                <a:ea typeface="文鼎細圓" charset="-120"/>
              </a:defRPr>
            </a:lvl1pPr>
            <a:lvl2pPr marL="742950" indent="-285750">
              <a:spcBef>
                <a:spcPct val="30000"/>
              </a:spcBef>
              <a:buSzPct val="70000"/>
              <a:buFont typeface="Wingdings" panose="05000000000000000000" pitchFamily="2" charset="2"/>
              <a:buChar char="l"/>
              <a:defRPr kumimoji="1" sz="2200">
                <a:solidFill>
                  <a:schemeClr val="tx1"/>
                </a:solidFill>
                <a:latin typeface="Doradani Lt" charset="0"/>
                <a:ea typeface="文鼎細圓" charset="-120"/>
              </a:defRPr>
            </a:lvl2pPr>
            <a:lvl3pPr marL="1143000" indent="-228600">
              <a:spcBef>
                <a:spcPct val="30000"/>
              </a:spcBef>
              <a:buClr>
                <a:srgbClr val="00829B"/>
              </a:buClr>
              <a:buSzPct val="7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Doradani Lt" charset="0"/>
                <a:ea typeface="文鼎細圓" charset="-120"/>
              </a:defRPr>
            </a:lvl3pPr>
            <a:lvl4pPr marL="1600200" indent="-228600">
              <a:spcBef>
                <a:spcPct val="30000"/>
              </a:spcBef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Doradani Lt" charset="0"/>
                <a:ea typeface="文鼎細圓" charset="-120"/>
              </a:defRPr>
            </a:lvl4pPr>
            <a:lvl5pPr marL="2057400" indent="-228600">
              <a:lnSpc>
                <a:spcPct val="120000"/>
              </a:lnSpc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資料中心帶動用電需求，IEA預估2025-2027年全球電力消耗年增近4%；重電設備屆臨汰舊換新，變壓器價格自2021年至2026年7月漲幅達81%。</a:t>
            </a: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塑化首選具一貫廠優勢的台塑四寶；中鋼11月盤價可望調漲500~1000元／噸；壽險FVOCI資本利得豐厚，壽險型金控明年現金股息量能優於其他金融業者。</a:t>
            </a: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None/>
            </a:pP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458EA3A-EC57-A4D3-E5FC-606D51CB141D}"/>
              </a:ext>
            </a:extLst>
          </p:cNvPr>
          <p:cNvSpPr/>
          <p:nvPr/>
        </p:nvSpPr>
        <p:spPr>
          <a:xfrm>
            <a:off x="8190000" y="6542809"/>
            <a:ext cx="3209998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zh-TW" altLang="en-US" sz="1200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資料來源：IEA、富邦投顧，2026.9.30</a:t>
            </a:r>
            <a:endParaRPr lang="zh-TW" altLang="en-US" sz="1400" dirty="0">
              <a:ea typeface="文鼎細圓" pitchFamily="49" charset="-120"/>
              <a:cs typeface="+mn-cs"/>
            </a:endParaRPr>
          </a:p>
        </p:txBody>
      </p:sp>
      <p:sp>
        <p:nvSpPr>
          <p:cNvPr id="15363" name="TextBox 15362"/>
          <p:cNvSpPr txBox="1"/>
          <p:nvPr/>
        </p:nvSpPr>
        <p:spPr>
          <a:xfrm>
            <a:off x="379232" y="2240000"/>
            <a:ext cx="540000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微軟正黑體"/>
                <a:ea typeface="微軟正黑體"/>
              </a:rPr>
              <a:t>大型電力變壓器交期（週）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379232" y="2608849"/>
            <a:ext cx="5400000" cy="3708000"/>
          </a:xfrm>
          <a:prstGeom prst="roundRect">
            <a:avLst>
              <a:gd name="adj" fmla="val 4000"/>
            </a:avLst>
          </a:prstGeom>
          <a:noFill/>
          <a:ln>
            <a:solidFill>
              <a:srgbClr val="CD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5" name="Rounded Rectangle 15364"/>
          <p:cNvSpPr/>
          <p:nvPr/>
        </p:nvSpPr>
        <p:spPr>
          <a:xfrm>
            <a:off x="487232" y="2680849"/>
            <a:ext cx="5184000" cy="259200"/>
          </a:xfrm>
          <a:prstGeom prst="roundRect">
            <a:avLst>
              <a:gd name="adj" fmla="val 50000"/>
            </a:avLst>
          </a:prstGeom>
          <a:solidFill>
            <a:srgbClr val="0082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</a:rPr>
              <a:t>交期為疫情前約4倍 供需失衡轉為長期</a:t>
            </a:r>
          </a:p>
        </p:txBody>
      </p:sp>
      <p:graphicFrame>
        <p:nvGraphicFramePr>
          <p:cNvPr id="15366" name="Chart 15365"/>
          <p:cNvGraphicFramePr>
            <a:graphicFrameLocks noGrp="1"/>
          </p:cNvGraphicFramePr>
          <p:nvPr/>
        </p:nvGraphicFramePr>
        <p:xfrm>
          <a:off x="433232" y="2983249"/>
          <a:ext cx="5292000" cy="329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367" name="TextBox 15366"/>
          <p:cNvSpPr txBox="1"/>
          <p:nvPr/>
        </p:nvSpPr>
        <p:spPr>
          <a:xfrm>
            <a:off x="6116753" y="2240000"/>
            <a:ext cx="540000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微軟正黑體"/>
                <a:ea typeface="微軟正黑體"/>
              </a:rPr>
              <a:t>富邦次產業看法－傳產及金融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6116753" y="2608849"/>
            <a:ext cx="5400000" cy="3708000"/>
          </a:xfrm>
          <a:prstGeom prst="roundRect">
            <a:avLst>
              <a:gd name="adj" fmla="val 4000"/>
            </a:avLst>
          </a:prstGeom>
          <a:noFill/>
          <a:ln>
            <a:solidFill>
              <a:srgbClr val="CD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5369" name="Table 15368"/>
          <p:cNvGraphicFramePr>
            <a:graphicFrameLocks noGrp="1"/>
          </p:cNvGraphicFramePr>
          <p:nvPr/>
        </p:nvGraphicFramePr>
        <p:xfrm>
          <a:off x="6206753" y="2698849"/>
          <a:ext cx="5219998" cy="3528000"/>
        </p:xfrm>
        <a:graphic>
          <a:graphicData uri="http://schemas.openxmlformats.org/drawingml/2006/table">
            <a:tbl>
              <a:tblPr firstRow="1" bandRow="1"/>
              <a:tblGrid>
                <a:gridCol w="984905"/>
                <a:gridCol w="689433"/>
                <a:gridCol w="3545660"/>
              </a:tblGrid>
              <a:tr h="392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</a:rPr>
                        <a:t>次產業</a:t>
                      </a:r>
                    </a:p>
                  </a:txBody>
                  <a:tcPr marL="50000" marR="50000" marT="10000" marB="10000" anchor="ctr">
                    <a:solidFill>
                      <a:srgbClr val="0082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</a:rPr>
                        <a:t>看法</a:t>
                      </a:r>
                    </a:p>
                  </a:txBody>
                  <a:tcPr marL="50000" marR="50000" marT="10000" marB="10000" anchor="ctr">
                    <a:solidFill>
                      <a:srgbClr val="00829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</a:rPr>
                        <a:t>重點</a:t>
                      </a:r>
                    </a:p>
                  </a:txBody>
                  <a:tcPr marL="50000" marR="50000" marT="10000" marB="10000" anchor="ctr">
                    <a:solidFill>
                      <a:srgbClr val="00829B"/>
                    </a:solidFill>
                  </a:tcPr>
                </a:tc>
              </a:tr>
              <a:tr h="392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重電新能源</a:t>
                      </a:r>
                    </a:p>
                  </a:txBody>
                  <a:tcPr marL="50000" marR="50000" marT="10000" marB="1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</a:rPr>
                        <a:t>正向</a:t>
                      </a:r>
                    </a:p>
                  </a:txBody>
                  <a:tcPr marL="50000" marR="50000" marT="10000" marB="10000" anchor="ctr">
                    <a:solidFill>
                      <a:srgbClr val="01486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變壓器需求累計成長逾119%</a:t>
                      </a:r>
                    </a:p>
                  </a:txBody>
                  <a:tcPr marL="50000" marR="50000" marT="10000" marB="10000" anchor="ctr">
                    <a:solidFill>
                      <a:srgbClr val="FFFFFF"/>
                    </a:solidFill>
                  </a:tcPr>
                </a:tc>
              </a:tr>
              <a:tr h="392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特化</a:t>
                      </a:r>
                    </a:p>
                  </a:txBody>
                  <a:tcPr marL="50000" marR="50000" marT="10000" marB="1000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</a:rPr>
                        <a:t>正向</a:t>
                      </a:r>
                    </a:p>
                  </a:txBody>
                  <a:tcPr marL="50000" marR="50000" marT="10000" marB="10000" anchor="ctr">
                    <a:solidFill>
                      <a:srgbClr val="01486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中長線首選台積電材料概念股</a:t>
                      </a:r>
                    </a:p>
                  </a:txBody>
                  <a:tcPr marL="50000" marR="50000" marT="10000" marB="10000" anchor="ctr">
                    <a:solidFill>
                      <a:srgbClr val="EEF6F8"/>
                    </a:solidFill>
                  </a:tcPr>
                </a:tc>
              </a:tr>
              <a:tr h="392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塑化</a:t>
                      </a:r>
                    </a:p>
                  </a:txBody>
                  <a:tcPr marL="50000" marR="50000" marT="10000" marB="1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3A4F"/>
                          </a:solidFill>
                          <a:latin typeface="微軟正黑體"/>
                          <a:ea typeface="微軟正黑體"/>
                        </a:rPr>
                        <a:t>中性</a:t>
                      </a:r>
                    </a:p>
                  </a:txBody>
                  <a:tcPr marL="50000" marR="50000" marT="10000" marB="10000" anchor="ctr">
                    <a:solidFill>
                      <a:srgbClr val="BFD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首選台塑四寶 Brent重返100美元</a:t>
                      </a:r>
                    </a:p>
                  </a:txBody>
                  <a:tcPr marL="50000" marR="50000" marT="10000" marB="10000" anchor="ctr">
                    <a:solidFill>
                      <a:srgbClr val="FFFFFF"/>
                    </a:solidFill>
                  </a:tcPr>
                </a:tc>
              </a:tr>
              <a:tr h="392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鋼鐵</a:t>
                      </a:r>
                    </a:p>
                  </a:txBody>
                  <a:tcPr marL="50000" marR="50000" marT="10000" marB="1000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3A4F"/>
                          </a:solidFill>
                          <a:latin typeface="微軟正黑體"/>
                          <a:ea typeface="微軟正黑體"/>
                        </a:rPr>
                        <a:t>中性</a:t>
                      </a:r>
                    </a:p>
                  </a:txBody>
                  <a:tcPr marL="50000" marR="50000" marT="10000" marB="10000" anchor="ctr">
                    <a:solidFill>
                      <a:srgbClr val="BFD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中鋼與中龍出貨275-285萬噸</a:t>
                      </a:r>
                    </a:p>
                  </a:txBody>
                  <a:tcPr marL="50000" marR="50000" marT="10000" marB="10000" anchor="ctr">
                    <a:solidFill>
                      <a:srgbClr val="EEF6F8"/>
                    </a:solidFill>
                  </a:tcPr>
                </a:tc>
              </a:tr>
              <a:tr h="392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散裝航運</a:t>
                      </a:r>
                    </a:p>
                  </a:txBody>
                  <a:tcPr marL="50000" marR="50000" marT="10000" marB="1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3A4F"/>
                          </a:solidFill>
                          <a:latin typeface="微軟正黑體"/>
                          <a:ea typeface="微軟正黑體"/>
                        </a:rPr>
                        <a:t>中性</a:t>
                      </a:r>
                    </a:p>
                  </a:txBody>
                  <a:tcPr marL="50000" marR="50000" marT="10000" marB="10000" anchor="ctr">
                    <a:solidFill>
                      <a:srgbClr val="BFD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BDI區間3,000-3,500點</a:t>
                      </a:r>
                    </a:p>
                  </a:txBody>
                  <a:tcPr marL="50000" marR="50000" marT="10000" marB="10000" anchor="ctr">
                    <a:solidFill>
                      <a:srgbClr val="FFFFFF"/>
                    </a:solidFill>
                  </a:tcPr>
                </a:tc>
              </a:tr>
              <a:tr h="392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貨櫃航運</a:t>
                      </a:r>
                    </a:p>
                  </a:txBody>
                  <a:tcPr marL="50000" marR="50000" marT="10000" marB="1000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3A4F"/>
                          </a:solidFill>
                          <a:latin typeface="微軟正黑體"/>
                          <a:ea typeface="微軟正黑體"/>
                        </a:rPr>
                        <a:t>中性</a:t>
                      </a:r>
                    </a:p>
                  </a:txBody>
                  <a:tcPr marL="50000" marR="50000" marT="10000" marB="10000" anchor="ctr">
                    <a:solidFill>
                      <a:srgbClr val="BFD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十一長假淡季 運價估跌10%</a:t>
                      </a:r>
                    </a:p>
                  </a:txBody>
                  <a:tcPr marL="50000" marR="50000" marT="10000" marB="10000" anchor="ctr">
                    <a:solidFill>
                      <a:srgbClr val="EEF6F8"/>
                    </a:solidFill>
                  </a:tcPr>
                </a:tc>
              </a:tr>
              <a:tr h="392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水泥</a:t>
                      </a:r>
                    </a:p>
                  </a:txBody>
                  <a:tcPr marL="50000" marR="50000" marT="10000" marB="1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3A4F"/>
                          </a:solidFill>
                          <a:latin typeface="微軟正黑體"/>
                          <a:ea typeface="微軟正黑體"/>
                        </a:rPr>
                        <a:t>中性</a:t>
                      </a:r>
                    </a:p>
                  </a:txBody>
                  <a:tcPr marL="50000" marR="50000" marT="10000" marB="10000" anchor="ctr">
                    <a:solidFill>
                      <a:srgbClr val="BFD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中國1-8月產量近18年新低</a:t>
                      </a:r>
                    </a:p>
                  </a:txBody>
                  <a:tcPr marL="50000" marR="50000" marT="10000" marB="10000" anchor="ctr">
                    <a:solidFill>
                      <a:srgbClr val="FFFFFF"/>
                    </a:solidFill>
                  </a:tcPr>
                </a:tc>
              </a:tr>
              <a:tr h="392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金融</a:t>
                      </a:r>
                    </a:p>
                  </a:txBody>
                  <a:tcPr marL="50000" marR="50000" marT="10000" marB="1000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3A4F"/>
                          </a:solidFill>
                          <a:latin typeface="微軟正黑體"/>
                          <a:ea typeface="微軟正黑體"/>
                        </a:rPr>
                        <a:t>中性</a:t>
                      </a:r>
                    </a:p>
                  </a:txBody>
                  <a:tcPr marL="50000" marR="50000" marT="10000" marB="10000" anchor="ctr">
                    <a:solidFill>
                      <a:srgbClr val="BFD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壽險型金控明年股息量能較佳</a:t>
                      </a:r>
                    </a:p>
                  </a:txBody>
                  <a:tcPr marL="50000" marR="50000" marT="10000" marB="10000" anchor="ctr">
                    <a:solidFill>
                      <a:srgbClr val="EE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362" name="標題 3">
            <a:extLst>
              <a:ext uri="{FF2B5EF4-FFF2-40B4-BE49-F238E27FC236}">
                <a16:creationId xmlns:a16="http://schemas.microsoft.com/office/drawing/2014/main" id="{D0052553-414B-0149-5353-CA3A7D03E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5999" y="288000"/>
            <a:ext cx="10463999" cy="430887"/>
          </a:xfrm>
        </p:spPr>
        <p:txBody>
          <a:bodyPr>
            <a:noAutofit/>
          </a:bodyPr>
          <a:lstStyle/>
          <a:p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投組加碼科技 本期新增8檔 鎖定外溢與升規</a:t>
            </a:r>
          </a:p>
        </p:txBody>
      </p:sp>
      <p:sp>
        <p:nvSpPr>
          <p:cNvPr id="5" name="文字方塊 14">
            <a:extLst>
              <a:ext uri="{FF2B5EF4-FFF2-40B4-BE49-F238E27FC236}">
                <a16:creationId xmlns:a16="http://schemas.microsoft.com/office/drawing/2014/main" id="{9C99D567-D09F-0FEC-56C5-3BB1DD9584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001" y="900000"/>
            <a:ext cx="10463999" cy="1493552"/>
          </a:xfrm>
          <a:prstGeom prst="rect">
            <a:avLst/>
          </a:prstGeom>
          <a:noFill/>
          <a:ln>
            <a:noFill/>
          </a:ln>
        </p:spPr>
        <p:txBody>
          <a:bodyPr lIns="36000" rIns="36000"/>
          <a:lstStyle>
            <a:lvl1pPr>
              <a:spcBef>
                <a:spcPct val="30000"/>
              </a:spcBef>
              <a:buClr>
                <a:srgbClr val="00829B"/>
              </a:buClr>
              <a:buSzPct val="70000"/>
              <a:buFont typeface="Wingdings" panose="05000000000000000000" pitchFamily="2" charset="2"/>
              <a:buChar char="n"/>
              <a:defRPr kumimoji="1" sz="2600">
                <a:solidFill>
                  <a:schemeClr val="tx1"/>
                </a:solidFill>
                <a:latin typeface="Doradani Lt" charset="0"/>
                <a:ea typeface="文鼎細圓" charset="-120"/>
              </a:defRPr>
            </a:lvl1pPr>
            <a:lvl2pPr marL="742950" indent="-285750">
              <a:spcBef>
                <a:spcPct val="30000"/>
              </a:spcBef>
              <a:buSzPct val="70000"/>
              <a:buFont typeface="Wingdings" panose="05000000000000000000" pitchFamily="2" charset="2"/>
              <a:buChar char="l"/>
              <a:defRPr kumimoji="1" sz="2200">
                <a:solidFill>
                  <a:schemeClr val="tx1"/>
                </a:solidFill>
                <a:latin typeface="Doradani Lt" charset="0"/>
                <a:ea typeface="文鼎細圓" charset="-120"/>
              </a:defRPr>
            </a:lvl2pPr>
            <a:lvl3pPr marL="1143000" indent="-228600">
              <a:spcBef>
                <a:spcPct val="30000"/>
              </a:spcBef>
              <a:buClr>
                <a:srgbClr val="00829B"/>
              </a:buClr>
              <a:buSzPct val="7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Doradani Lt" charset="0"/>
                <a:ea typeface="文鼎細圓" charset="-120"/>
              </a:defRPr>
            </a:lvl3pPr>
            <a:lvl4pPr marL="1600200" indent="-228600">
              <a:spcBef>
                <a:spcPct val="30000"/>
              </a:spcBef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Doradani Lt" charset="0"/>
                <a:ea typeface="文鼎細圓" charset="-120"/>
              </a:defRPr>
            </a:lvl4pPr>
            <a:lvl5pPr marL="2057400" indent="-228600">
              <a:lnSpc>
                <a:spcPct val="120000"/>
              </a:lnSpc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富邦投資組合科技82%、金融8%、非科技10%，大盤權重分別為80.6%、8.7%、10.7%；台積電權重28%為最大部位。</a:t>
            </a: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傳產聚焦旺季效應（重電、散裝航運、鋼鐵、零售百貨）、低基期轉型（台塑四寶）與高股息防禦（壽險型金控），明年配息能力正向。</a:t>
            </a: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None/>
            </a:pP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458EA3A-EC57-A4D3-E5FC-606D51CB141D}"/>
              </a:ext>
            </a:extLst>
          </p:cNvPr>
          <p:cNvSpPr/>
          <p:nvPr/>
        </p:nvSpPr>
        <p:spPr>
          <a:xfrm>
            <a:off x="8190000" y="6542809"/>
            <a:ext cx="3209998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zh-TW" altLang="en-US" sz="1200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資料來源：CMoney、富邦投顧，2026.9.30</a:t>
            </a:r>
            <a:endParaRPr lang="zh-TW" altLang="en-US" sz="1400" dirty="0">
              <a:ea typeface="文鼎細圓" pitchFamily="49" charset="-120"/>
              <a:cs typeface="+mn-cs"/>
            </a:endParaRPr>
          </a:p>
        </p:txBody>
      </p:sp>
      <p:sp>
        <p:nvSpPr>
          <p:cNvPr id="15363" name="TextBox 15362"/>
          <p:cNvSpPr txBox="1"/>
          <p:nvPr/>
        </p:nvSpPr>
        <p:spPr>
          <a:xfrm>
            <a:off x="379232" y="2240000"/>
            <a:ext cx="540000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微軟正黑體"/>
                <a:ea typeface="微軟正黑體"/>
              </a:rPr>
              <a:t>富邦投資組合20檔權重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379232" y="2608849"/>
            <a:ext cx="5400000" cy="3708000"/>
          </a:xfrm>
          <a:prstGeom prst="roundRect">
            <a:avLst>
              <a:gd name="adj" fmla="val 4000"/>
            </a:avLst>
          </a:prstGeom>
          <a:noFill/>
          <a:ln>
            <a:solidFill>
              <a:srgbClr val="CD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5" name="Rounded Rectangle 15364"/>
          <p:cNvSpPr/>
          <p:nvPr/>
        </p:nvSpPr>
        <p:spPr>
          <a:xfrm>
            <a:off x="487232" y="2680849"/>
            <a:ext cx="5184000" cy="259200"/>
          </a:xfrm>
          <a:prstGeom prst="roundRect">
            <a:avLst>
              <a:gd name="adj" fmla="val 50000"/>
            </a:avLst>
          </a:prstGeom>
          <a:solidFill>
            <a:srgbClr val="0082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</a:rPr>
              <a:t>台積電28%為最大部位 本期新增8檔合計30%</a:t>
            </a:r>
          </a:p>
        </p:txBody>
      </p:sp>
      <p:sp>
        <p:nvSpPr>
          <p:cNvPr id="15366" name="Rectangle 15365"/>
          <p:cNvSpPr/>
          <p:nvPr/>
        </p:nvSpPr>
        <p:spPr>
          <a:xfrm>
            <a:off x="469232" y="2983249"/>
            <a:ext cx="1461600" cy="3092400"/>
          </a:xfrm>
          <a:prstGeom prst="rect">
            <a:avLst/>
          </a:prstGeom>
          <a:solidFill>
            <a:srgbClr val="8CCB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7" name="TextBox 15366"/>
          <p:cNvSpPr txBox="1"/>
          <p:nvPr/>
        </p:nvSpPr>
        <p:spPr>
          <a:xfrm>
            <a:off x="469232" y="2983249"/>
            <a:ext cx="1461600" cy="3092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0B3A4F"/>
                </a:solidFill>
                <a:latin typeface="微軟正黑體"/>
                <a:ea typeface="微軟正黑體"/>
              </a:rPr>
              <a:t>台積電</a:t>
            </a:r>
          </a:p>
          <a:p>
            <a:pPr algn="ctr"/>
            <a:r>
              <a:rPr sz="1600" b="0">
                <a:solidFill>
                  <a:srgbClr val="0B3A4F"/>
                </a:solidFill>
                <a:latin typeface="微軟正黑體"/>
                <a:ea typeface="微軟正黑體"/>
              </a:rPr>
              <a:t>28%</a:t>
            </a:r>
          </a:p>
        </p:txBody>
      </p:sp>
      <p:sp>
        <p:nvSpPr>
          <p:cNvPr id="15368" name="Rectangle 15367"/>
          <p:cNvSpPr/>
          <p:nvPr/>
        </p:nvSpPr>
        <p:spPr>
          <a:xfrm>
            <a:off x="1930832" y="2983249"/>
            <a:ext cx="835200" cy="1159650"/>
          </a:xfrm>
          <a:prstGeom prst="rect">
            <a:avLst/>
          </a:prstGeom>
          <a:solidFill>
            <a:srgbClr val="8CCB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9" name="TextBox 15368"/>
          <p:cNvSpPr txBox="1"/>
          <p:nvPr/>
        </p:nvSpPr>
        <p:spPr>
          <a:xfrm>
            <a:off x="1930832" y="2983249"/>
            <a:ext cx="835200" cy="1159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B3A4F"/>
                </a:solidFill>
                <a:latin typeface="微軟正黑體"/>
                <a:ea typeface="微軟正黑體"/>
              </a:rPr>
              <a:t>川湖</a:t>
            </a:r>
          </a:p>
          <a:p>
            <a:pPr algn="ctr"/>
            <a:r>
              <a:rPr sz="1000" b="0">
                <a:solidFill>
                  <a:srgbClr val="0B3A4F"/>
                </a:solidFill>
                <a:latin typeface="微軟正黑體"/>
                <a:ea typeface="微軟正黑體"/>
              </a:rPr>
              <a:t>6%</a:t>
            </a:r>
          </a:p>
        </p:txBody>
      </p:sp>
      <p:sp>
        <p:nvSpPr>
          <p:cNvPr id="15370" name="Rectangle 15369"/>
          <p:cNvSpPr/>
          <p:nvPr/>
        </p:nvSpPr>
        <p:spPr>
          <a:xfrm>
            <a:off x="1930832" y="4142899"/>
            <a:ext cx="835200" cy="966375"/>
          </a:xfrm>
          <a:prstGeom prst="rect">
            <a:avLst/>
          </a:prstGeom>
          <a:solidFill>
            <a:srgbClr val="0093C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1" name="TextBox 15370"/>
          <p:cNvSpPr txBox="1"/>
          <p:nvPr/>
        </p:nvSpPr>
        <p:spPr>
          <a:xfrm>
            <a:off x="1930832" y="4142899"/>
            <a:ext cx="835200" cy="9663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軟正黑體"/>
                <a:ea typeface="微軟正黑體"/>
              </a:rPr>
              <a:t>★南亞科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微軟正黑體"/>
                <a:ea typeface="微軟正黑體"/>
              </a:rPr>
              <a:t>5%</a:t>
            </a:r>
          </a:p>
        </p:txBody>
      </p:sp>
      <p:sp>
        <p:nvSpPr>
          <p:cNvPr id="15372" name="Rectangle 15371"/>
          <p:cNvSpPr/>
          <p:nvPr/>
        </p:nvSpPr>
        <p:spPr>
          <a:xfrm>
            <a:off x="1930832" y="5109274"/>
            <a:ext cx="835200" cy="966375"/>
          </a:xfrm>
          <a:prstGeom prst="rect">
            <a:avLst/>
          </a:prstGeom>
          <a:solidFill>
            <a:srgbClr val="8CCB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3" name="TextBox 15372"/>
          <p:cNvSpPr txBox="1"/>
          <p:nvPr/>
        </p:nvSpPr>
        <p:spPr>
          <a:xfrm>
            <a:off x="1930832" y="5109274"/>
            <a:ext cx="835200" cy="9663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B3A4F"/>
                </a:solidFill>
                <a:latin typeface="微軟正黑體"/>
                <a:ea typeface="微軟正黑體"/>
              </a:rPr>
              <a:t>大立光</a:t>
            </a:r>
          </a:p>
          <a:p>
            <a:pPr algn="ctr"/>
            <a:r>
              <a:rPr sz="1000" b="0">
                <a:solidFill>
                  <a:srgbClr val="0B3A4F"/>
                </a:solidFill>
                <a:latin typeface="微軟正黑體"/>
                <a:ea typeface="微軟正黑體"/>
              </a:rPr>
              <a:t>5%</a:t>
            </a:r>
          </a:p>
        </p:txBody>
      </p:sp>
      <p:sp>
        <p:nvSpPr>
          <p:cNvPr id="15374" name="Rectangle 15373"/>
          <p:cNvSpPr/>
          <p:nvPr/>
        </p:nvSpPr>
        <p:spPr>
          <a:xfrm>
            <a:off x="2766032" y="2983249"/>
            <a:ext cx="730800" cy="883542"/>
          </a:xfrm>
          <a:prstGeom prst="rect">
            <a:avLst/>
          </a:prstGeom>
          <a:solidFill>
            <a:srgbClr val="00A59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5" name="TextBox 15374"/>
          <p:cNvSpPr txBox="1"/>
          <p:nvPr/>
        </p:nvSpPr>
        <p:spPr>
          <a:xfrm>
            <a:off x="2766032" y="2983249"/>
            <a:ext cx="730800" cy="8835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軟正黑體"/>
                <a:ea typeface="微軟正黑體"/>
              </a:rPr>
              <a:t>★華城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微軟正黑體"/>
                <a:ea typeface="微軟正黑體"/>
              </a:rPr>
              <a:t>4%</a:t>
            </a:r>
          </a:p>
        </p:txBody>
      </p:sp>
      <p:sp>
        <p:nvSpPr>
          <p:cNvPr id="15376" name="Rectangle 15375"/>
          <p:cNvSpPr/>
          <p:nvPr/>
        </p:nvSpPr>
        <p:spPr>
          <a:xfrm>
            <a:off x="3496832" y="2983249"/>
            <a:ext cx="730800" cy="883542"/>
          </a:xfrm>
          <a:prstGeom prst="rect">
            <a:avLst/>
          </a:prstGeom>
          <a:solidFill>
            <a:srgbClr val="0093C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7" name="TextBox 15376"/>
          <p:cNvSpPr txBox="1"/>
          <p:nvPr/>
        </p:nvSpPr>
        <p:spPr>
          <a:xfrm>
            <a:off x="3496832" y="2983249"/>
            <a:ext cx="730800" cy="8835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軟正黑體"/>
                <a:ea typeface="微軟正黑體"/>
              </a:rPr>
              <a:t>★致茂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微軟正黑體"/>
                <a:ea typeface="微軟正黑體"/>
              </a:rPr>
              <a:t>4%</a:t>
            </a:r>
          </a:p>
        </p:txBody>
      </p:sp>
      <p:sp>
        <p:nvSpPr>
          <p:cNvPr id="15378" name="Rectangle 15377"/>
          <p:cNvSpPr/>
          <p:nvPr/>
        </p:nvSpPr>
        <p:spPr>
          <a:xfrm>
            <a:off x="4227632" y="2983249"/>
            <a:ext cx="730800" cy="883542"/>
          </a:xfrm>
          <a:prstGeom prst="rect">
            <a:avLst/>
          </a:prstGeom>
          <a:solidFill>
            <a:srgbClr val="8CCB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9" name="TextBox 15378"/>
          <p:cNvSpPr txBox="1"/>
          <p:nvPr/>
        </p:nvSpPr>
        <p:spPr>
          <a:xfrm>
            <a:off x="4227632" y="2983249"/>
            <a:ext cx="730800" cy="8835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B3A4F"/>
                </a:solidFill>
                <a:latin typeface="微軟正黑體"/>
                <a:ea typeface="微軟正黑體"/>
              </a:rPr>
              <a:t>志聖</a:t>
            </a:r>
          </a:p>
          <a:p>
            <a:pPr algn="ctr"/>
            <a:r>
              <a:rPr sz="1000" b="0">
                <a:solidFill>
                  <a:srgbClr val="0B3A4F"/>
                </a:solidFill>
                <a:latin typeface="微軟正黑體"/>
                <a:ea typeface="微軟正黑體"/>
              </a:rPr>
              <a:t>4%</a:t>
            </a:r>
          </a:p>
        </p:txBody>
      </p:sp>
      <p:sp>
        <p:nvSpPr>
          <p:cNvPr id="15380" name="Rectangle 15379"/>
          <p:cNvSpPr/>
          <p:nvPr/>
        </p:nvSpPr>
        <p:spPr>
          <a:xfrm>
            <a:off x="4958432" y="2983249"/>
            <a:ext cx="730800" cy="883542"/>
          </a:xfrm>
          <a:prstGeom prst="rect">
            <a:avLst/>
          </a:prstGeom>
          <a:solidFill>
            <a:srgbClr val="6F8FA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1" name="TextBox 15380"/>
          <p:cNvSpPr txBox="1"/>
          <p:nvPr/>
        </p:nvSpPr>
        <p:spPr>
          <a:xfrm>
            <a:off x="4958432" y="2983249"/>
            <a:ext cx="730800" cy="8835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軟正黑體"/>
                <a:ea typeface="微軟正黑體"/>
              </a:rPr>
              <a:t>國泰金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微軟正黑體"/>
                <a:ea typeface="微軟正黑體"/>
              </a:rPr>
              <a:t>4%</a:t>
            </a:r>
          </a:p>
        </p:txBody>
      </p:sp>
      <p:sp>
        <p:nvSpPr>
          <p:cNvPr id="15382" name="Rectangle 15381"/>
          <p:cNvSpPr/>
          <p:nvPr/>
        </p:nvSpPr>
        <p:spPr>
          <a:xfrm>
            <a:off x="2766032" y="3866791"/>
            <a:ext cx="876960" cy="736285"/>
          </a:xfrm>
          <a:prstGeom prst="rect">
            <a:avLst/>
          </a:prstGeom>
          <a:solidFill>
            <a:srgbClr val="01486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3" name="TextBox 15382"/>
          <p:cNvSpPr txBox="1"/>
          <p:nvPr/>
        </p:nvSpPr>
        <p:spPr>
          <a:xfrm>
            <a:off x="2766032" y="3866791"/>
            <a:ext cx="876960" cy="7362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軟正黑體"/>
                <a:ea typeface="微軟正黑體"/>
              </a:rPr>
              <a:t>★元大金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微軟正黑體"/>
                <a:ea typeface="微軟正黑體"/>
              </a:rPr>
              <a:t>4%</a:t>
            </a:r>
          </a:p>
        </p:txBody>
      </p:sp>
      <p:sp>
        <p:nvSpPr>
          <p:cNvPr id="15384" name="Rectangle 15383"/>
          <p:cNvSpPr/>
          <p:nvPr/>
        </p:nvSpPr>
        <p:spPr>
          <a:xfrm>
            <a:off x="2766032" y="4603077"/>
            <a:ext cx="876960" cy="736285"/>
          </a:xfrm>
          <a:prstGeom prst="rect">
            <a:avLst/>
          </a:prstGeom>
          <a:solidFill>
            <a:srgbClr val="8CCB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5" name="TextBox 15384"/>
          <p:cNvSpPr txBox="1"/>
          <p:nvPr/>
        </p:nvSpPr>
        <p:spPr>
          <a:xfrm>
            <a:off x="2766032" y="4603077"/>
            <a:ext cx="876960" cy="7362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B3A4F"/>
                </a:solidFill>
                <a:latin typeface="微軟正黑體"/>
                <a:ea typeface="微軟正黑體"/>
              </a:rPr>
              <a:t>奇鋐</a:t>
            </a:r>
          </a:p>
          <a:p>
            <a:pPr algn="ctr"/>
            <a:r>
              <a:rPr sz="1000" b="0">
                <a:solidFill>
                  <a:srgbClr val="0B3A4F"/>
                </a:solidFill>
                <a:latin typeface="微軟正黑體"/>
                <a:ea typeface="微軟正黑體"/>
              </a:rPr>
              <a:t>4%</a:t>
            </a:r>
          </a:p>
        </p:txBody>
      </p:sp>
      <p:sp>
        <p:nvSpPr>
          <p:cNvPr id="15386" name="Rectangle 15385"/>
          <p:cNvSpPr/>
          <p:nvPr/>
        </p:nvSpPr>
        <p:spPr>
          <a:xfrm>
            <a:off x="2766032" y="5339363"/>
            <a:ext cx="876960" cy="736285"/>
          </a:xfrm>
          <a:prstGeom prst="rect">
            <a:avLst/>
          </a:prstGeom>
          <a:solidFill>
            <a:srgbClr val="8CCB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7" name="TextBox 15386"/>
          <p:cNvSpPr txBox="1"/>
          <p:nvPr/>
        </p:nvSpPr>
        <p:spPr>
          <a:xfrm>
            <a:off x="2766032" y="5339363"/>
            <a:ext cx="876960" cy="7362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B3A4F"/>
                </a:solidFill>
                <a:latin typeface="微軟正黑體"/>
                <a:ea typeface="微軟正黑體"/>
              </a:rPr>
              <a:t>欣興</a:t>
            </a:r>
          </a:p>
          <a:p>
            <a:pPr algn="ctr"/>
            <a:r>
              <a:rPr sz="1000" b="0">
                <a:solidFill>
                  <a:srgbClr val="0B3A4F"/>
                </a:solidFill>
                <a:latin typeface="微軟正黑體"/>
                <a:ea typeface="微軟正黑體"/>
              </a:rPr>
              <a:t>4%</a:t>
            </a:r>
          </a:p>
        </p:txBody>
      </p:sp>
      <p:sp>
        <p:nvSpPr>
          <p:cNvPr id="15388" name="Rectangle 15387"/>
          <p:cNvSpPr/>
          <p:nvPr/>
        </p:nvSpPr>
        <p:spPr>
          <a:xfrm>
            <a:off x="3642992" y="3866791"/>
            <a:ext cx="818496" cy="788877"/>
          </a:xfrm>
          <a:prstGeom prst="rect">
            <a:avLst/>
          </a:prstGeom>
          <a:solidFill>
            <a:srgbClr val="0093C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9" name="TextBox 15388"/>
          <p:cNvSpPr txBox="1"/>
          <p:nvPr/>
        </p:nvSpPr>
        <p:spPr>
          <a:xfrm>
            <a:off x="3642992" y="3866791"/>
            <a:ext cx="818496" cy="7888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軟正黑體"/>
                <a:ea typeface="微軟正黑體"/>
              </a:rPr>
              <a:t>★昇陽半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微軟正黑體"/>
                <a:ea typeface="微軟正黑體"/>
              </a:rPr>
              <a:t>4%</a:t>
            </a:r>
          </a:p>
        </p:txBody>
      </p:sp>
      <p:sp>
        <p:nvSpPr>
          <p:cNvPr id="15390" name="Rectangle 15389"/>
          <p:cNvSpPr/>
          <p:nvPr/>
        </p:nvSpPr>
        <p:spPr>
          <a:xfrm>
            <a:off x="4461488" y="3866791"/>
            <a:ext cx="613872" cy="788877"/>
          </a:xfrm>
          <a:prstGeom prst="rect">
            <a:avLst/>
          </a:prstGeom>
          <a:solidFill>
            <a:srgbClr val="80CFC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1" name="TextBox 15390"/>
          <p:cNvSpPr txBox="1"/>
          <p:nvPr/>
        </p:nvSpPr>
        <p:spPr>
          <a:xfrm>
            <a:off x="4461488" y="3866791"/>
            <a:ext cx="613872" cy="7888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B3A4F"/>
                </a:solidFill>
                <a:latin typeface="微軟正黑體"/>
                <a:ea typeface="微軟正黑體"/>
              </a:rPr>
              <a:t>南亞</a:t>
            </a:r>
          </a:p>
          <a:p>
            <a:pPr algn="ctr"/>
            <a:r>
              <a:rPr sz="1000" b="0">
                <a:solidFill>
                  <a:srgbClr val="0B3A4F"/>
                </a:solidFill>
                <a:latin typeface="微軟正黑體"/>
                <a:ea typeface="微軟正黑體"/>
              </a:rPr>
              <a:t>3%</a:t>
            </a:r>
          </a:p>
        </p:txBody>
      </p:sp>
      <p:sp>
        <p:nvSpPr>
          <p:cNvPr id="15392" name="Rectangle 15391"/>
          <p:cNvSpPr/>
          <p:nvPr/>
        </p:nvSpPr>
        <p:spPr>
          <a:xfrm>
            <a:off x="5075360" y="3866791"/>
            <a:ext cx="613872" cy="788877"/>
          </a:xfrm>
          <a:prstGeom prst="rect">
            <a:avLst/>
          </a:prstGeom>
          <a:solidFill>
            <a:srgbClr val="0093C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3" name="TextBox 15392"/>
          <p:cNvSpPr txBox="1"/>
          <p:nvPr/>
        </p:nvSpPr>
        <p:spPr>
          <a:xfrm>
            <a:off x="5075360" y="3866791"/>
            <a:ext cx="613872" cy="7888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軟正黑體"/>
                <a:ea typeface="微軟正黑體"/>
              </a:rPr>
              <a:t>★華通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微軟正黑體"/>
                <a:ea typeface="微軟正黑體"/>
              </a:rPr>
              <a:t>3%</a:t>
            </a:r>
          </a:p>
        </p:txBody>
      </p:sp>
      <p:sp>
        <p:nvSpPr>
          <p:cNvPr id="15394" name="Rectangle 15393"/>
          <p:cNvSpPr/>
          <p:nvPr/>
        </p:nvSpPr>
        <p:spPr>
          <a:xfrm>
            <a:off x="3642992" y="4655669"/>
            <a:ext cx="682080" cy="709989"/>
          </a:xfrm>
          <a:prstGeom prst="rect">
            <a:avLst/>
          </a:prstGeom>
          <a:solidFill>
            <a:srgbClr val="8CCB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5" name="TextBox 15394"/>
          <p:cNvSpPr txBox="1"/>
          <p:nvPr/>
        </p:nvSpPr>
        <p:spPr>
          <a:xfrm>
            <a:off x="3642992" y="4655669"/>
            <a:ext cx="682080" cy="70998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B3A4F"/>
                </a:solidFill>
                <a:latin typeface="微軟正黑體"/>
                <a:ea typeface="微軟正黑體"/>
              </a:rPr>
              <a:t>聯發科</a:t>
            </a:r>
          </a:p>
          <a:p>
            <a:pPr algn="ctr"/>
            <a:r>
              <a:rPr sz="1000" b="0">
                <a:solidFill>
                  <a:srgbClr val="0B3A4F"/>
                </a:solidFill>
                <a:latin typeface="微軟正黑體"/>
                <a:ea typeface="微軟正黑體"/>
              </a:rPr>
              <a:t>3%</a:t>
            </a:r>
          </a:p>
        </p:txBody>
      </p:sp>
      <p:sp>
        <p:nvSpPr>
          <p:cNvPr id="15396" name="Rectangle 15395"/>
          <p:cNvSpPr/>
          <p:nvPr/>
        </p:nvSpPr>
        <p:spPr>
          <a:xfrm>
            <a:off x="3642992" y="5365659"/>
            <a:ext cx="682080" cy="709989"/>
          </a:xfrm>
          <a:prstGeom prst="rect">
            <a:avLst/>
          </a:prstGeom>
          <a:solidFill>
            <a:srgbClr val="8CCB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7" name="TextBox 15396"/>
          <p:cNvSpPr txBox="1"/>
          <p:nvPr/>
        </p:nvSpPr>
        <p:spPr>
          <a:xfrm>
            <a:off x="3642992" y="5365659"/>
            <a:ext cx="682080" cy="70998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B3A4F"/>
                </a:solidFill>
                <a:latin typeface="微軟正黑體"/>
                <a:ea typeface="微軟正黑體"/>
              </a:rPr>
              <a:t>全新</a:t>
            </a:r>
          </a:p>
          <a:p>
            <a:pPr algn="ctr"/>
            <a:r>
              <a:rPr sz="1000" b="0">
                <a:solidFill>
                  <a:srgbClr val="0B3A4F"/>
                </a:solidFill>
                <a:latin typeface="微軟正黑體"/>
                <a:ea typeface="微軟正黑體"/>
              </a:rPr>
              <a:t>3%</a:t>
            </a:r>
          </a:p>
        </p:txBody>
      </p:sp>
      <p:sp>
        <p:nvSpPr>
          <p:cNvPr id="15398" name="Rectangle 15397"/>
          <p:cNvSpPr/>
          <p:nvPr/>
        </p:nvSpPr>
        <p:spPr>
          <a:xfrm>
            <a:off x="4325072" y="4655669"/>
            <a:ext cx="682080" cy="709989"/>
          </a:xfrm>
          <a:prstGeom prst="rect">
            <a:avLst/>
          </a:prstGeom>
          <a:solidFill>
            <a:srgbClr val="8CCB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9" name="TextBox 15398"/>
          <p:cNvSpPr txBox="1"/>
          <p:nvPr/>
        </p:nvSpPr>
        <p:spPr>
          <a:xfrm>
            <a:off x="4325072" y="4655669"/>
            <a:ext cx="682080" cy="70998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B3A4F"/>
                </a:solidFill>
                <a:latin typeface="微軟正黑體"/>
                <a:ea typeface="微軟正黑體"/>
              </a:rPr>
              <a:t>創意</a:t>
            </a:r>
          </a:p>
          <a:p>
            <a:pPr algn="ctr"/>
            <a:r>
              <a:rPr sz="1000" b="0">
                <a:solidFill>
                  <a:srgbClr val="0B3A4F"/>
                </a:solidFill>
                <a:latin typeface="微軟正黑體"/>
                <a:ea typeface="微軟正黑體"/>
              </a:rPr>
              <a:t>3%</a:t>
            </a:r>
          </a:p>
        </p:txBody>
      </p:sp>
      <p:sp>
        <p:nvSpPr>
          <p:cNvPr id="15400" name="Rectangle 15399"/>
          <p:cNvSpPr/>
          <p:nvPr/>
        </p:nvSpPr>
        <p:spPr>
          <a:xfrm>
            <a:off x="5007152" y="4655669"/>
            <a:ext cx="682080" cy="709989"/>
          </a:xfrm>
          <a:prstGeom prst="rect">
            <a:avLst/>
          </a:prstGeom>
          <a:solidFill>
            <a:srgbClr val="8CCB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1" name="TextBox 15400"/>
          <p:cNvSpPr txBox="1"/>
          <p:nvPr/>
        </p:nvSpPr>
        <p:spPr>
          <a:xfrm>
            <a:off x="5007152" y="4655669"/>
            <a:ext cx="682080" cy="70998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B3A4F"/>
                </a:solidFill>
                <a:latin typeface="微軟正黑體"/>
                <a:ea typeface="微軟正黑體"/>
              </a:rPr>
              <a:t>貿聯-KY</a:t>
            </a:r>
          </a:p>
          <a:p>
            <a:pPr algn="ctr"/>
            <a:r>
              <a:rPr sz="1000" b="0">
                <a:solidFill>
                  <a:srgbClr val="0B3A4F"/>
                </a:solidFill>
                <a:latin typeface="微軟正黑體"/>
                <a:ea typeface="微軟正黑體"/>
              </a:rPr>
              <a:t>3%</a:t>
            </a:r>
          </a:p>
        </p:txBody>
      </p:sp>
      <p:sp>
        <p:nvSpPr>
          <p:cNvPr id="15402" name="Rectangle 15401"/>
          <p:cNvSpPr/>
          <p:nvPr/>
        </p:nvSpPr>
        <p:spPr>
          <a:xfrm>
            <a:off x="4325072" y="5365659"/>
            <a:ext cx="682080" cy="709989"/>
          </a:xfrm>
          <a:prstGeom prst="rect">
            <a:avLst/>
          </a:prstGeom>
          <a:solidFill>
            <a:srgbClr val="00A59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3" name="TextBox 15402"/>
          <p:cNvSpPr txBox="1"/>
          <p:nvPr/>
        </p:nvSpPr>
        <p:spPr>
          <a:xfrm>
            <a:off x="4325072" y="5365659"/>
            <a:ext cx="682080" cy="70998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軟正黑體"/>
                <a:ea typeface="微軟正黑體"/>
              </a:rPr>
              <a:t>★新應材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微軟正黑體"/>
                <a:ea typeface="微軟正黑體"/>
              </a:rPr>
              <a:t>3%</a:t>
            </a:r>
          </a:p>
        </p:txBody>
      </p:sp>
      <p:sp>
        <p:nvSpPr>
          <p:cNvPr id="15404" name="Rectangle 15403"/>
          <p:cNvSpPr/>
          <p:nvPr/>
        </p:nvSpPr>
        <p:spPr>
          <a:xfrm>
            <a:off x="5007152" y="5365659"/>
            <a:ext cx="682080" cy="709989"/>
          </a:xfrm>
          <a:prstGeom prst="rect">
            <a:avLst/>
          </a:prstGeom>
          <a:solidFill>
            <a:srgbClr val="0093C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5" name="TextBox 15404"/>
          <p:cNvSpPr txBox="1"/>
          <p:nvPr/>
        </p:nvSpPr>
        <p:spPr>
          <a:xfrm>
            <a:off x="5007152" y="5365659"/>
            <a:ext cx="682080" cy="70998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軟正黑體"/>
                <a:ea typeface="微軟正黑體"/>
              </a:rPr>
              <a:t>★萬潤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微軟正黑體"/>
                <a:ea typeface="微軟正黑體"/>
              </a:rPr>
              <a:t>3%</a:t>
            </a:r>
          </a:p>
        </p:txBody>
      </p:sp>
      <p:sp>
        <p:nvSpPr>
          <p:cNvPr id="15406" name="TextBox 15405"/>
          <p:cNvSpPr txBox="1"/>
          <p:nvPr/>
        </p:nvSpPr>
        <p:spPr>
          <a:xfrm>
            <a:off x="433232" y="6104449"/>
            <a:ext cx="5292000" cy="19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B7A82"/>
                </a:solidFill>
                <a:latin typeface="微軟正黑體"/>
                <a:ea typeface="微軟正黑體"/>
              </a:rPr>
              <a:t/>
            </a:r>
            <a:r>
              <a:rPr sz="1000" b="1">
                <a:solidFill>
                  <a:srgbClr val="0093C1"/>
                </a:solidFill>
                <a:latin typeface="微軟正黑體"/>
                <a:ea typeface="微軟正黑體"/>
              </a:rPr>
              <a:t>■</a:t>
            </a:r>
            <a:r>
              <a:rPr sz="1000" b="0">
                <a:solidFill>
                  <a:srgbClr val="6B7A82"/>
                </a:solidFill>
                <a:latin typeface="微軟正黑體"/>
                <a:ea typeface="微軟正黑體"/>
              </a:rPr>
              <a:t>科技82%（大盤80.6%）  </a:t>
            </a:r>
            <a:r>
              <a:rPr sz="1000" b="1">
                <a:solidFill>
                  <a:srgbClr val="014865"/>
                </a:solidFill>
                <a:latin typeface="微軟正黑體"/>
                <a:ea typeface="微軟正黑體"/>
              </a:rPr>
              <a:t>■</a:t>
            </a:r>
            <a:r>
              <a:rPr sz="1000" b="0">
                <a:solidFill>
                  <a:srgbClr val="6B7A82"/>
                </a:solidFill>
                <a:latin typeface="微軟正黑體"/>
                <a:ea typeface="微軟正黑體"/>
              </a:rPr>
              <a:t>金融8%（8.7%）  </a:t>
            </a:r>
            <a:r>
              <a:rPr sz="1000" b="1">
                <a:solidFill>
                  <a:srgbClr val="00A59B"/>
                </a:solidFill>
                <a:latin typeface="微軟正黑體"/>
                <a:ea typeface="微軟正黑體"/>
              </a:rPr>
              <a:t>■</a:t>
            </a:r>
            <a:r>
              <a:rPr sz="1000" b="0">
                <a:solidFill>
                  <a:srgbClr val="6B7A82"/>
                </a:solidFill>
                <a:latin typeface="微軟正黑體"/>
                <a:ea typeface="微軟正黑體"/>
              </a:rPr>
              <a:t>非科技10%（10.7%）  </a:t>
            </a:r>
            <a:r>
              <a:rPr sz="1000" b="1">
                <a:solidFill>
                  <a:srgbClr val="014865"/>
                </a:solidFill>
                <a:latin typeface="微軟正黑體"/>
                <a:ea typeface="微軟正黑體"/>
              </a:rPr>
              <a:t>★本期新增</a:t>
            </a:r>
          </a:p>
        </p:txBody>
      </p:sp>
      <p:sp>
        <p:nvSpPr>
          <p:cNvPr id="15407" name="TextBox 15406"/>
          <p:cNvSpPr txBox="1"/>
          <p:nvPr/>
        </p:nvSpPr>
        <p:spPr>
          <a:xfrm>
            <a:off x="6116753" y="2240000"/>
            <a:ext cx="540000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微軟正黑體"/>
                <a:ea typeface="微軟正黑體"/>
              </a:rPr>
              <a:t>本期新增8檔</a:t>
            </a:r>
          </a:p>
        </p:txBody>
      </p:sp>
      <p:sp>
        <p:nvSpPr>
          <p:cNvPr id="15408" name="Rounded Rectangle 15407"/>
          <p:cNvSpPr/>
          <p:nvPr/>
        </p:nvSpPr>
        <p:spPr>
          <a:xfrm>
            <a:off x="6116753" y="2608849"/>
            <a:ext cx="5400000" cy="3708000"/>
          </a:xfrm>
          <a:prstGeom prst="roundRect">
            <a:avLst>
              <a:gd name="adj" fmla="val 4000"/>
            </a:avLst>
          </a:prstGeom>
          <a:noFill/>
          <a:ln>
            <a:solidFill>
              <a:srgbClr val="CD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9" name="Rounded Rectangle 15408"/>
          <p:cNvSpPr/>
          <p:nvPr/>
        </p:nvSpPr>
        <p:spPr>
          <a:xfrm>
            <a:off x="6224753" y="2680849"/>
            <a:ext cx="5184000" cy="259200"/>
          </a:xfrm>
          <a:prstGeom prst="roundRect">
            <a:avLst>
              <a:gd name="adj" fmla="val 50000"/>
            </a:avLst>
          </a:prstGeom>
          <a:solidFill>
            <a:srgbClr val="0082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</a:rPr>
              <a:t>新增8檔合計權重30% 昇陽半上檔空間最大</a:t>
            </a:r>
          </a:p>
        </p:txBody>
      </p:sp>
      <p:graphicFrame>
        <p:nvGraphicFramePr>
          <p:cNvPr id="15410" name="Table 15409"/>
          <p:cNvGraphicFramePr>
            <a:graphicFrameLocks noGrp="1"/>
          </p:cNvGraphicFramePr>
          <p:nvPr/>
        </p:nvGraphicFramePr>
        <p:xfrm>
          <a:off x="6170753" y="2983249"/>
          <a:ext cx="5291997" cy="3290400"/>
        </p:xfrm>
        <a:graphic>
          <a:graphicData uri="http://schemas.openxmlformats.org/drawingml/2006/table">
            <a:tbl>
              <a:tblPr firstRow="1" bandRow="1"/>
              <a:tblGrid>
                <a:gridCol w="875055"/>
                <a:gridCol w="541700"/>
                <a:gridCol w="875055"/>
                <a:gridCol w="875055"/>
                <a:gridCol w="1416755"/>
                <a:gridCol w="708377"/>
              </a:tblGrid>
              <a:tr h="3656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</a:rPr>
                        <a:t>公司</a:t>
                      </a:r>
                    </a:p>
                  </a:txBody>
                  <a:tcPr marL="40000" marR="40000" marT="10000" marB="10000" anchor="ctr">
                    <a:solidFill>
                      <a:srgbClr val="0082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</a:rPr>
                        <a:t>權重</a:t>
                      </a:r>
                    </a:p>
                  </a:txBody>
                  <a:tcPr marL="40000" marR="40000" marT="10000" marB="10000" anchor="ctr">
                    <a:solidFill>
                      <a:srgbClr val="0082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</a:rPr>
                        <a:t>股價</a:t>
                      </a:r>
                    </a:p>
                  </a:txBody>
                  <a:tcPr marL="40000" marR="40000" marT="10000" marB="10000" anchor="ctr">
                    <a:solidFill>
                      <a:srgbClr val="0082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</a:rPr>
                        <a:t>目標價</a:t>
                      </a:r>
                    </a:p>
                  </a:txBody>
                  <a:tcPr marL="40000" marR="40000" marT="10000" marB="10000" anchor="ctr">
                    <a:solidFill>
                      <a:srgbClr val="0082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</a:rPr>
                        <a:t>上檔空間</a:t>
                      </a:r>
                    </a:p>
                  </a:txBody>
                  <a:tcPr marL="40000" marR="40000" marT="10000" marB="10000" anchor="ctr">
                    <a:solidFill>
                      <a:srgbClr val="0082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</a:rPr>
                        <a:t>EPS 26F</a:t>
                      </a:r>
                    </a:p>
                  </a:txBody>
                  <a:tcPr marL="40000" marR="40000" marT="10000" marB="10000" anchor="ctr">
                    <a:solidFill>
                      <a:srgbClr val="00829B"/>
                    </a:solidFill>
                  </a:tcPr>
                </a:tc>
              </a:tr>
              <a:tr h="3656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華城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6B7A82"/>
                          </a:solidFill>
                          <a:latin typeface="微軟正黑體"/>
                          <a:ea typeface="微軟正黑體"/>
                        </a:rPr>
                        <a:t>1519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4%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699.00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918.54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/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18.65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</a:tr>
              <a:tr h="3656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華通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6B7A82"/>
                          </a:solidFill>
                          <a:latin typeface="微軟正黑體"/>
                          <a:ea typeface="微軟正黑體"/>
                        </a:rPr>
                        <a:t>2313</a:t>
                      </a:r>
                    </a:p>
                  </a:txBody>
                  <a:tcPr marL="40000" marR="40000" marT="10000" marB="1000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3%</a:t>
                      </a:r>
                    </a:p>
                  </a:txBody>
                  <a:tcPr marL="40000" marR="40000" marT="10000" marB="1000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222.50</a:t>
                      </a:r>
                    </a:p>
                  </a:txBody>
                  <a:tcPr marL="40000" marR="40000" marT="10000" marB="1000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320.00</a:t>
                      </a:r>
                    </a:p>
                  </a:txBody>
                  <a:tcPr marL="40000" marR="40000" marT="10000" marB="1000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/>
                      </a:r>
                    </a:p>
                  </a:txBody>
                  <a:tcPr marL="40000" marR="40000" marT="10000" marB="1000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7.64</a:t>
                      </a:r>
                    </a:p>
                  </a:txBody>
                  <a:tcPr marL="40000" marR="40000" marT="10000" marB="10000" anchor="ctr">
                    <a:solidFill>
                      <a:srgbClr val="EEF6F8"/>
                    </a:solidFill>
                  </a:tcPr>
                </a:tc>
              </a:tr>
              <a:tr h="3656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致茂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6B7A82"/>
                          </a:solidFill>
                          <a:latin typeface="微軟正黑體"/>
                          <a:ea typeface="微軟正黑體"/>
                        </a:rPr>
                        <a:t>2360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4%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2,295.00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2,700.00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/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49.15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</a:tr>
              <a:tr h="3656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南亞科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6B7A82"/>
                          </a:solidFill>
                          <a:latin typeface="微軟正黑體"/>
                          <a:ea typeface="微軟正黑體"/>
                        </a:rPr>
                        <a:t>2408</a:t>
                      </a:r>
                    </a:p>
                  </a:txBody>
                  <a:tcPr marL="40000" marR="40000" marT="10000" marB="1000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5%</a:t>
                      </a:r>
                    </a:p>
                  </a:txBody>
                  <a:tcPr marL="40000" marR="40000" marT="10000" marB="1000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503.00</a:t>
                      </a:r>
                    </a:p>
                  </a:txBody>
                  <a:tcPr marL="40000" marR="40000" marT="10000" marB="1000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548.00</a:t>
                      </a:r>
                    </a:p>
                  </a:txBody>
                  <a:tcPr marL="40000" marR="40000" marT="10000" marB="1000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/>
                      </a:r>
                    </a:p>
                  </a:txBody>
                  <a:tcPr marL="40000" marR="40000" marT="10000" marB="1000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65.87</a:t>
                      </a:r>
                    </a:p>
                  </a:txBody>
                  <a:tcPr marL="40000" marR="40000" marT="10000" marB="10000" anchor="ctr">
                    <a:solidFill>
                      <a:srgbClr val="EEF6F8"/>
                    </a:solidFill>
                  </a:tcPr>
                </a:tc>
              </a:tr>
              <a:tr h="3656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元大金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6B7A82"/>
                          </a:solidFill>
                          <a:latin typeface="微軟正黑體"/>
                          <a:ea typeface="微軟正黑體"/>
                        </a:rPr>
                        <a:t>2885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4%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69.20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74.00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/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4.80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</a:tr>
              <a:tr h="3656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新應材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6B7A82"/>
                          </a:solidFill>
                          <a:latin typeface="微軟正黑體"/>
                          <a:ea typeface="微軟正黑體"/>
                        </a:rPr>
                        <a:t>4749</a:t>
                      </a:r>
                    </a:p>
                  </a:txBody>
                  <a:tcPr marL="40000" marR="40000" marT="10000" marB="1000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3%</a:t>
                      </a:r>
                    </a:p>
                  </a:txBody>
                  <a:tcPr marL="40000" marR="40000" marT="10000" marB="1000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728.00</a:t>
                      </a:r>
                    </a:p>
                  </a:txBody>
                  <a:tcPr marL="40000" marR="40000" marT="10000" marB="1000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950.00</a:t>
                      </a:r>
                    </a:p>
                  </a:txBody>
                  <a:tcPr marL="40000" marR="40000" marT="10000" marB="1000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/>
                      </a:r>
                    </a:p>
                  </a:txBody>
                  <a:tcPr marL="40000" marR="40000" marT="10000" marB="1000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15.22</a:t>
                      </a:r>
                    </a:p>
                  </a:txBody>
                  <a:tcPr marL="40000" marR="40000" marT="10000" marB="10000" anchor="ctr">
                    <a:solidFill>
                      <a:srgbClr val="EEF6F8"/>
                    </a:solidFill>
                  </a:tcPr>
                </a:tc>
              </a:tr>
              <a:tr h="3656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萬潤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6B7A82"/>
                          </a:solidFill>
                          <a:latin typeface="微軟正黑體"/>
                          <a:ea typeface="微軟正黑體"/>
                        </a:rPr>
                        <a:t>6187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3%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1,195.00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800.00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/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20.62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</a:tr>
              <a:tr h="3656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昇陽半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6B7A82"/>
                          </a:solidFill>
                          <a:latin typeface="微軟正黑體"/>
                          <a:ea typeface="微軟正黑體"/>
                        </a:rPr>
                        <a:t>8028</a:t>
                      </a:r>
                    </a:p>
                  </a:txBody>
                  <a:tcPr marL="40000" marR="40000" marT="10000" marB="1000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4%</a:t>
                      </a:r>
                    </a:p>
                  </a:txBody>
                  <a:tcPr marL="40000" marR="40000" marT="10000" marB="1000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269.00</a:t>
                      </a:r>
                    </a:p>
                  </a:txBody>
                  <a:tcPr marL="40000" marR="40000" marT="10000" marB="1000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400.00</a:t>
                      </a:r>
                    </a:p>
                  </a:txBody>
                  <a:tcPr marL="40000" marR="40000" marT="10000" marB="1000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/>
                      </a:r>
                    </a:p>
                  </a:txBody>
                  <a:tcPr marL="40000" marR="40000" marT="10000" marB="1000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7.56</a:t>
                      </a:r>
                    </a:p>
                  </a:txBody>
                  <a:tcPr marL="40000" marR="40000" marT="10000" marB="10000" anchor="ctr">
                    <a:solidFill>
                      <a:srgbClr val="EEF6F8"/>
                    </a:solidFill>
                  </a:tcPr>
                </a:tc>
              </a:tr>
            </a:tbl>
          </a:graphicData>
        </a:graphic>
      </p:graphicFrame>
      <p:sp>
        <p:nvSpPr>
          <p:cNvPr id="15411" name="Rectangle 15410"/>
          <p:cNvSpPr/>
          <p:nvPr/>
        </p:nvSpPr>
        <p:spPr>
          <a:xfrm>
            <a:off x="9373618" y="3451217"/>
            <a:ext cx="410423" cy="160864"/>
          </a:xfrm>
          <a:prstGeom prst="rect">
            <a:avLst/>
          </a:prstGeom>
          <a:solidFill>
            <a:srgbClr val="0082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12" name="TextBox 15411"/>
          <p:cNvSpPr txBox="1"/>
          <p:nvPr/>
        </p:nvSpPr>
        <p:spPr>
          <a:xfrm>
            <a:off x="9812841" y="3348849"/>
            <a:ext cx="934332" cy="36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14865"/>
                </a:solidFill>
                <a:latin typeface="微軟正黑體"/>
                <a:ea typeface="微軟正黑體"/>
              </a:rPr>
              <a:t>+31.4%</a:t>
            </a:r>
          </a:p>
        </p:txBody>
      </p:sp>
      <p:sp>
        <p:nvSpPr>
          <p:cNvPr id="15413" name="Rectangle 15412"/>
          <p:cNvSpPr/>
          <p:nvPr/>
        </p:nvSpPr>
        <p:spPr>
          <a:xfrm>
            <a:off x="9373618" y="3816817"/>
            <a:ext cx="572625" cy="160864"/>
          </a:xfrm>
          <a:prstGeom prst="rect">
            <a:avLst/>
          </a:prstGeom>
          <a:solidFill>
            <a:srgbClr val="0082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14" name="TextBox 15413"/>
          <p:cNvSpPr txBox="1"/>
          <p:nvPr/>
        </p:nvSpPr>
        <p:spPr>
          <a:xfrm>
            <a:off x="9975043" y="3714449"/>
            <a:ext cx="772130" cy="36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14865"/>
                </a:solidFill>
                <a:latin typeface="微軟正黑體"/>
                <a:ea typeface="微軟正黑體"/>
              </a:rPr>
              <a:t>+43.8%</a:t>
            </a:r>
          </a:p>
        </p:txBody>
      </p:sp>
      <p:sp>
        <p:nvSpPr>
          <p:cNvPr id="15415" name="Rectangle 15414"/>
          <p:cNvSpPr/>
          <p:nvPr/>
        </p:nvSpPr>
        <p:spPr>
          <a:xfrm>
            <a:off x="9373618" y="4182417"/>
            <a:ext cx="230604" cy="160864"/>
          </a:xfrm>
          <a:prstGeom prst="rect">
            <a:avLst/>
          </a:prstGeom>
          <a:solidFill>
            <a:srgbClr val="0082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16" name="TextBox 15415"/>
          <p:cNvSpPr txBox="1"/>
          <p:nvPr/>
        </p:nvSpPr>
        <p:spPr>
          <a:xfrm>
            <a:off x="9633022" y="4080049"/>
            <a:ext cx="1114151" cy="36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14865"/>
                </a:solidFill>
                <a:latin typeface="微軟正黑體"/>
                <a:ea typeface="微軟正黑體"/>
              </a:rPr>
              <a:t>+17.6%</a:t>
            </a:r>
          </a:p>
        </p:txBody>
      </p:sp>
      <p:sp>
        <p:nvSpPr>
          <p:cNvPr id="15417" name="Rectangle 15416"/>
          <p:cNvSpPr/>
          <p:nvPr/>
        </p:nvSpPr>
        <p:spPr>
          <a:xfrm>
            <a:off x="9373618" y="4548017"/>
            <a:ext cx="116907" cy="160864"/>
          </a:xfrm>
          <a:prstGeom prst="rect">
            <a:avLst/>
          </a:prstGeom>
          <a:solidFill>
            <a:srgbClr val="0082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18" name="TextBox 15417"/>
          <p:cNvSpPr txBox="1"/>
          <p:nvPr/>
        </p:nvSpPr>
        <p:spPr>
          <a:xfrm>
            <a:off x="9519325" y="4445649"/>
            <a:ext cx="1227848" cy="36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14865"/>
                </a:solidFill>
                <a:latin typeface="微軟正黑體"/>
                <a:ea typeface="微軟正黑體"/>
              </a:rPr>
              <a:t>+8.9%</a:t>
            </a:r>
          </a:p>
        </p:txBody>
      </p:sp>
      <p:sp>
        <p:nvSpPr>
          <p:cNvPr id="15419" name="Rectangle 15418"/>
          <p:cNvSpPr/>
          <p:nvPr/>
        </p:nvSpPr>
        <p:spPr>
          <a:xfrm>
            <a:off x="9373618" y="4913617"/>
            <a:ext cx="90642" cy="160864"/>
          </a:xfrm>
          <a:prstGeom prst="rect">
            <a:avLst/>
          </a:prstGeom>
          <a:solidFill>
            <a:srgbClr val="0082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20" name="TextBox 15419"/>
          <p:cNvSpPr txBox="1"/>
          <p:nvPr/>
        </p:nvSpPr>
        <p:spPr>
          <a:xfrm>
            <a:off x="9493060" y="4811249"/>
            <a:ext cx="1254113" cy="36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14865"/>
                </a:solidFill>
                <a:latin typeface="微軟正黑體"/>
                <a:ea typeface="微軟正黑體"/>
              </a:rPr>
              <a:t>+6.9%</a:t>
            </a:r>
          </a:p>
        </p:txBody>
      </p:sp>
      <p:sp>
        <p:nvSpPr>
          <p:cNvPr id="15421" name="Rectangle 15420"/>
          <p:cNvSpPr/>
          <p:nvPr/>
        </p:nvSpPr>
        <p:spPr>
          <a:xfrm>
            <a:off x="9373618" y="5279217"/>
            <a:ext cx="398490" cy="160864"/>
          </a:xfrm>
          <a:prstGeom prst="rect">
            <a:avLst/>
          </a:prstGeom>
          <a:solidFill>
            <a:srgbClr val="0082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22" name="TextBox 15421"/>
          <p:cNvSpPr txBox="1"/>
          <p:nvPr/>
        </p:nvSpPr>
        <p:spPr>
          <a:xfrm>
            <a:off x="9800908" y="5176849"/>
            <a:ext cx="946265" cy="36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14865"/>
                </a:solidFill>
                <a:latin typeface="微軟正黑體"/>
                <a:ea typeface="微軟正黑體"/>
              </a:rPr>
              <a:t>+30.5%</a:t>
            </a:r>
          </a:p>
        </p:txBody>
      </p:sp>
      <p:sp>
        <p:nvSpPr>
          <p:cNvPr id="15423" name="Rectangle 15422"/>
          <p:cNvSpPr/>
          <p:nvPr/>
        </p:nvSpPr>
        <p:spPr>
          <a:xfrm>
            <a:off x="9373618" y="5644817"/>
            <a:ext cx="431941" cy="160864"/>
          </a:xfrm>
          <a:prstGeom prst="rect">
            <a:avLst/>
          </a:prstGeom>
          <a:solidFill>
            <a:srgbClr val="B4C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24" name="TextBox 15423"/>
          <p:cNvSpPr txBox="1"/>
          <p:nvPr/>
        </p:nvSpPr>
        <p:spPr>
          <a:xfrm>
            <a:off x="9834359" y="5542449"/>
            <a:ext cx="912814" cy="36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A82"/>
                </a:solidFill>
                <a:latin typeface="微軟正黑體"/>
                <a:ea typeface="微軟正黑體"/>
              </a:rPr>
              <a:t>-33.1%*</a:t>
            </a:r>
          </a:p>
        </p:txBody>
      </p:sp>
      <p:sp>
        <p:nvSpPr>
          <p:cNvPr id="15425" name="Rectangle 15424"/>
          <p:cNvSpPr/>
          <p:nvPr/>
        </p:nvSpPr>
        <p:spPr>
          <a:xfrm>
            <a:off x="9373618" y="6010417"/>
            <a:ext cx="636378" cy="160864"/>
          </a:xfrm>
          <a:prstGeom prst="rect">
            <a:avLst/>
          </a:prstGeom>
          <a:solidFill>
            <a:srgbClr val="0082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26" name="TextBox 15425"/>
          <p:cNvSpPr txBox="1"/>
          <p:nvPr/>
        </p:nvSpPr>
        <p:spPr>
          <a:xfrm>
            <a:off x="10038796" y="5908049"/>
            <a:ext cx="708377" cy="36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14865"/>
                </a:solidFill>
                <a:latin typeface="微軟正黑體"/>
                <a:ea typeface="微軟正黑體"/>
              </a:rPr>
              <a:t>+48.7%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CDA2BE62921FA742ADA0DADE08321945" ma:contentTypeVersion="5" ma:contentTypeDescription="建立新的文件。" ma:contentTypeScope="" ma:versionID="8ea0477f4d9cc60e73b20821975a2002">
  <xsd:schema xmlns:xsd="http://www.w3.org/2001/XMLSchema" xmlns:xs="http://www.w3.org/2001/XMLSchema" xmlns:p="http://schemas.microsoft.com/office/2006/metadata/properties" xmlns:ns3="7a210efe-e13b-48d0-82b5-9db509c5c34f" targetNamespace="http://schemas.microsoft.com/office/2006/metadata/properties" ma:root="true" ma:fieldsID="d69d457693119ddc26b28fe05a827531" ns3:_="">
    <xsd:import namespace="7a210efe-e13b-48d0-82b5-9db509c5c34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210efe-e13b-48d0-82b5-9db509c5c34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a210efe-e13b-48d0-82b5-9db509c5c34f" xsi:nil="true"/>
  </documentManagement>
</p:properties>
</file>

<file path=customXml/itemProps1.xml><?xml version="1.0" encoding="utf-8"?>
<ds:datastoreItem xmlns:ds="http://schemas.openxmlformats.org/officeDocument/2006/customXml" ds:itemID="{0D76C915-45E9-423C-B85E-FD41D790CCA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75D1F7C-0AFA-4463-810D-481204E1E71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a210efe-e13b-48d0-82b5-9db509c5c34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4E7C95F-047A-4BD1-9959-0CED22F39785}">
  <ds:schemaRefs>
    <ds:schemaRef ds:uri="7a210efe-e13b-48d0-82b5-9db509c5c34f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purl.org/dc/elements/1.1/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2579</TotalTime>
  <Words>110</Words>
  <Application>Microsoft Office PowerPoint</Application>
  <PresentationFormat>寬螢幕</PresentationFormat>
  <Paragraphs>14</Paragraphs>
  <Slides>3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9" baseType="lpstr">
      <vt:lpstr>文鼎細圓</vt:lpstr>
      <vt:lpstr>微軟正黑體</vt:lpstr>
      <vt:lpstr>Aptos</vt:lpstr>
      <vt:lpstr>Aptos Display</vt:lpstr>
      <vt:lpstr>Arial</vt:lpstr>
      <vt:lpstr>Office 佈景主題</vt:lpstr>
      <vt:lpstr>PowerPoint 簡報</vt:lpstr>
      <vt:lpstr>經濟展望佳 股市創新高 成交量倍數放大 </vt:lpstr>
      <vt:lpstr>簡報完畢  敬請指教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黃大仁</dc:creator>
  <cp:lastModifiedBy>黃大仁</cp:lastModifiedBy>
  <cp:revision>64</cp:revision>
  <dcterms:created xsi:type="dcterms:W3CDTF">2026-03-30T08:00:42Z</dcterms:created>
  <dcterms:modified xsi:type="dcterms:W3CDTF">2026-09-30T08:07:34Z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0x010100CDA2BE62921FA742ADA0DADE08321945</vt:lpwstr>
  </property>
</Properties>
</file>