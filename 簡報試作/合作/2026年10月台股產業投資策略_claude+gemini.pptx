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719" r:id="rId5"/>
    <p:sldId id="1093" r:id="rId6"/>
    <p:sldId id="4823" r:id="rId13"/>
    <p:sldId id="4824" r:id="rId14"/>
    <p:sldId id="4825" r:id="rId15"/>
    <p:sldId id="4826" r:id="rId16"/>
    <p:sldId id="4827" r:id="rId17"/>
    <p:sldId id="4828" r:id="rId18"/>
    <p:sldId id="4829" r:id="rId19"/>
    <p:sldId id="482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年增率</c:v>
                </c:pt>
              </c:strCache>
            </c:strRef>
          </c:tx>
          <c:spPr>
            <a:solidFill>
              <a:srgbClr val="BFDDE6"/>
            </a:solidFill>
          </c:spPr>
          <c:dPt>
            <c:idx val="0"/>
            <c:spPr>
              <a:solidFill>
                <a:srgbClr val="BFDDE6"/>
              </a:solidFill>
            </c:spPr>
          </c:dPt>
          <c:dPt>
            <c:idx val="1"/>
            <c:spPr>
              <a:solidFill>
                <a:srgbClr val="014865"/>
              </a:solidFill>
            </c:spPr>
          </c:dPt>
          <c:cat>
            <c:strRef>
              <c:f>Sheet1!$A$2:$A$3</c:f>
              <c:strCache>
                <c:ptCount val="2"/>
                <c:pt idx="0">
                  <c:v>標普500整體</c:v>
                </c:pt>
                <c:pt idx="1">
                  <c:v>科技類股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29.9</c:v>
                </c:pt>
                <c:pt idx="1">
                  <c:v>64.9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</c:v>
                </c:pt>
              </c:strCache>
            </c:strRef>
          </c:tx>
          <c:spPr>
            <a:solidFill>
              <a:srgbClr val="BFDDE6"/>
            </a:solidFill>
          </c:spPr>
          <c:cat>
            <c:strRef>
              <c:f>Sheet1!$A$2:$A$5</c:f>
              <c:strCache>
                <c:ptCount val="4"/>
                <c:pt idx="0">
                  <c:v>金融</c:v>
                </c:pt>
                <c:pt idx="1">
                  <c:v>IC設計</c:v>
                </c:pt>
                <c:pt idx="2">
                  <c:v>半導體</c:v>
                </c:pt>
                <c:pt idx="3">
                  <c:v>PC周邊及零組件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60.2</c:v>
                </c:pt>
                <c:pt idx="2">
                  <c:v>41.6</c:v>
                </c:pt>
                <c:pt idx="3">
                  <c:v>59.3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00829B"/>
            </a:solidFill>
          </c:spPr>
          <c:dPt>
            <c:idx val="0"/>
            <c:spPr>
              <a:solidFill>
                <a:srgbClr val="00829B"/>
              </a:solidFill>
            </c:spPr>
          </c:dPt>
          <c:dPt>
            <c:idx val="1"/>
            <c:spPr>
              <a:solidFill>
                <a:srgbClr val="00829B"/>
              </a:solidFill>
            </c:spPr>
          </c:dPt>
          <c:dPt>
            <c:idx val="2"/>
            <c:spPr>
              <a:solidFill>
                <a:srgbClr val="00829B"/>
              </a:solidFill>
            </c:spPr>
          </c:dPt>
          <c:dPt>
            <c:idx val="3"/>
            <c:spPr>
              <a:solidFill>
                <a:srgbClr val="014865"/>
              </a:solidFill>
            </c:spPr>
          </c:dPt>
          <c:cat>
            <c:strRef>
              <c:f>Sheet1!$A$2:$A$5</c:f>
              <c:strCache>
                <c:ptCount val="4"/>
                <c:pt idx="0">
                  <c:v>金融</c:v>
                </c:pt>
                <c:pt idx="1">
                  <c:v>IC設計</c:v>
                </c:pt>
                <c:pt idx="2">
                  <c:v>半導體</c:v>
                </c:pt>
                <c:pt idx="3">
                  <c:v>PC周邊及零組件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20.9</c:v>
                </c:pt>
                <c:pt idx="1">
                  <c:v>64.8</c:v>
                </c:pt>
                <c:pt idx="2">
                  <c:v>68.5</c:v>
                </c:pt>
                <c:pt idx="3">
                  <c:v>107.8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微軟正黑體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富邦投資組合</c:v>
                </c:pt>
              </c:strCache>
            </c:strRef>
          </c:tx>
          <c:spPr>
            <a:solidFill>
              <a:srgbClr val="014865"/>
            </a:solidFill>
          </c:spPr>
          <c:cat>
            <c:strRef>
              <c:f>Sheet1!$A$2:$A$4</c:f>
              <c:strCache>
                <c:ptCount val="3"/>
                <c:pt idx="0">
                  <c:v>科技</c:v>
                </c:pt>
                <c:pt idx="1">
                  <c:v>金融</c:v>
                </c:pt>
                <c:pt idx="2">
                  <c:v>非科技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大盤指數權重</c:v>
                </c:pt>
              </c:strCache>
            </c:strRef>
          </c:tx>
          <c:spPr>
            <a:solidFill>
              <a:srgbClr val="BFDDE6"/>
            </a:solidFill>
          </c:spPr>
          <c:cat>
            <c:strRef>
              <c:f>Sheet1!$A$2:$A$4</c:f>
              <c:strCache>
                <c:ptCount val="3"/>
                <c:pt idx="0">
                  <c:v>科技</c:v>
                </c:pt>
                <c:pt idx="1">
                  <c:v>金融</c:v>
                </c:pt>
                <c:pt idx="2">
                  <c:v>非科技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80.6</c:v>
                </c:pt>
                <c:pt idx="1">
                  <c:v>8.7</c:v>
                </c:pt>
                <c:pt idx="2">
                  <c:v>10.7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latin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DE6E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A96AA-CE0D-454F-9036-2E7E01962C43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11E6F-1C25-4127-9829-3F391A3641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65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6C86-6A95-925B-1960-8F9A98FD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F03BECE-A97D-1F38-1F0D-39D79C2A2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02B7DD-1650-DACD-E98D-80F24A452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【富邦投顧研究部】依據 2026/09/30《2026年10月產業投資策略》第1-4、9頁。第1頁金控標準規格。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0E43F3-4B8C-083F-E350-23959FAC0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37645-B8BC-4356-B61A-DD261CD10DE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773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11E6F-1C25-4127-9829-3F391A3641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84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2026/09/30《2026年10月產業投資策略》第1-4、9頁。第2頁金控標準規格。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2026/09/30《2026年10月產業投資策略》第1-4、9頁。第3頁金控標準規格。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2026/09/30《2026年10月產業投資策略》第1-4、9頁。第4頁金控標準規格。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2026/09/30《2026年10月產業投資策略》第1-4、9頁。第5頁金控標準規格。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2026/09/30《2026年10月產業投資策略》第1-4、9頁。第6頁金控標準規格。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2026/09/30《2026年10月產業投資策略》第1-4、9頁。第7頁金控標準規格。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【富邦投顧研究部】依據 2026/09/30《2026年10月產業投資策略》第1-4、9頁。第8頁金控標準規格。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18B3B-C79A-D30A-9E8B-320D3510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433205-A250-C04A-19E1-9D36E9A6A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D74FA-60E2-D317-0554-15C634B7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C23465-2136-CAB3-6129-F1A5EC39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6AFDE9-5BF3-9071-ED63-0955BBE6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59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875BE7-4E1C-2E0F-8266-89872CBC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12F807-ED48-1C29-9C77-EEAC7890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BF9AF9-30AD-A712-3304-37EF504C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CF142E-8734-3821-F4E1-3627E264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64D1C3-820E-D7C5-79E1-CFBE18BF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52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C1A336-5B03-E061-CB74-A989C357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BCB916-9ED6-B1ED-DB30-4F7C8179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9482BC-D24D-48EE-A684-444E61E7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237CF6-7732-B956-7FFA-63F7E33F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36DD4A-8DDC-BC56-FDB8-6127B967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3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8AFB9-8911-2867-76A8-00829619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E4AFC-EBB4-C9AA-8EA7-456AA734E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B56454-9B54-3463-3048-4E3B46651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169BFF-98B8-76A6-972D-E3E5264B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97A390-A7BC-B145-5A37-CAE3DEAC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78FD82-3A14-FEDF-D9DA-A8294DE6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75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33680-5195-BB8E-6E18-92D83AB0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A20DB-19E2-F190-DC0A-8E758AAE1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F8388-C939-7F37-3BD7-A63501896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78B665-569E-FD60-10B0-9F5A6CDB5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6857E1-476E-0439-3C44-FDC2DA293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2B7300-999F-E06A-0D11-3E53DC45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7C6FDF-4C23-9B99-B35D-697C4725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08BEF8-0F43-F8EF-1867-F003E8CD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91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8C7A9-843D-1F49-AF04-F650570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2FD71F-09C2-3F34-3E05-1D0C541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2B6502-B9C3-EDF5-E1A4-0F619802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558BF7-50A6-DD4B-FF8A-46E8E11C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04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64C2DF-4284-BFD0-F3F1-FDE99317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2C2337-0A5A-1D52-252E-2A47A025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D476C5-04B7-17DA-3E97-1CA0703C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67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F6F18-540D-5740-EEB2-02C48B0E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73054B-70D2-1076-375D-E767B3A3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7533D9-D590-800E-0422-BF2E8D36B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527908-F962-1353-1065-54BA574B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F9CD05-FB29-D84E-2486-AC5DC4E7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323C69-22F1-9A6B-0AFA-CFABA375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4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D226E-CB6E-EF39-3ED2-98851F56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DC66BA-E2D1-C5ED-DF8E-5A6266017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7C06E7-2FBF-CCE2-B6EB-078CED315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DF25A6-3B3E-D197-98D0-57EEB16E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3BEFD8-58B1-8032-E616-1517A603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45CFE7-0AAB-47EC-5109-C314B6E2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9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67D65-338F-7646-02B7-E01FD32C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6774F0-FD16-07B8-0EBB-8753C6DF9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E57050-B3D8-98B8-4786-BF412CF3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9B3F5-5643-EE5E-1DAC-94C8A18E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94C950-7F11-92CD-8FB4-F5650908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31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A67ED09-8233-2174-97BA-E0511DFCB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C5295C-8A98-EA5F-E60C-BEB45531A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112FFF-8485-9BCF-5C4A-BCA10664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7519FE-F881-9918-F600-C8CAC6C9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10CD9E-3798-5B1B-D579-36224034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53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首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5B973EE-94EA-AE30-6772-9C5978F71921}"/>
              </a:ext>
            </a:extLst>
          </p:cNvPr>
          <p:cNvCxnSpPr>
            <a:cxnSpLocks/>
          </p:cNvCxnSpPr>
          <p:nvPr/>
        </p:nvCxnSpPr>
        <p:spPr>
          <a:xfrm>
            <a:off x="3965985" y="3026391"/>
            <a:ext cx="426002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92333323-A73C-5064-B286-84C9CFCF172F}"/>
              </a:ext>
            </a:extLst>
          </p:cNvPr>
          <p:cNvSpPr txBox="1">
            <a:spLocks/>
          </p:cNvSpPr>
          <p:nvPr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字版面配置區 5"/>
          <p:cNvSpPr>
            <a:spLocks noGrp="1"/>
          </p:cNvSpPr>
          <p:nvPr>
            <p:ph type="body" sz="quarter" idx="28" hasCustomPrompt="1"/>
          </p:nvPr>
        </p:nvSpPr>
        <p:spPr>
          <a:xfrm>
            <a:off x="8000731" y="3404763"/>
            <a:ext cx="1006908" cy="3290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3B99CB"/>
                </a:solidFill>
              </a:defRPr>
            </a:lvl1pPr>
          </a:lstStyle>
          <a:p>
            <a:pPr lvl="0"/>
            <a:r>
              <a:rPr lang="zh-TW" altLang="en-US" dirty="0"/>
              <a:t>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23FF69-4328-4C0F-E732-F62BA488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396" y="2227456"/>
            <a:ext cx="6434027" cy="659975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7" name="圖片版面配置區 6"/>
          <p:cNvSpPr>
            <a:spLocks noGrp="1"/>
          </p:cNvSpPr>
          <p:nvPr>
            <p:ph type="pic" sz="quarter" idx="29"/>
          </p:nvPr>
        </p:nvSpPr>
        <p:spPr>
          <a:xfrm>
            <a:off x="9859963" y="241300"/>
            <a:ext cx="1992312" cy="569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263612-F03C-9DA9-D88C-4746CC9739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6875" y="3300305"/>
            <a:ext cx="4818272" cy="4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06862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版型-有標題樣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23E32C13-15C5-88F2-E564-E878156F89C8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1492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rgbClr val="1492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0012B-FA25-A5CA-A709-692F4B4EFFA9}"/>
              </a:ext>
            </a:extLst>
          </p:cNvPr>
          <p:cNvSpPr/>
          <p:nvPr userDrawn="1"/>
        </p:nvSpPr>
        <p:spPr>
          <a:xfrm flipV="1">
            <a:off x="1972637" y="172789"/>
            <a:ext cx="10219363" cy="45719"/>
          </a:xfrm>
          <a:prstGeom prst="rect">
            <a:avLst/>
          </a:prstGeom>
          <a:gradFill>
            <a:gsLst>
              <a:gs pos="0">
                <a:srgbClr val="00F9D3">
                  <a:alpha val="0"/>
                </a:srgbClr>
              </a:gs>
              <a:gs pos="9000">
                <a:srgbClr val="00F9D3"/>
              </a:gs>
              <a:gs pos="44000">
                <a:srgbClr val="00C3CD"/>
              </a:gs>
              <a:gs pos="100000">
                <a:srgbClr val="008F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符號, 標誌, 圖形, 字型 的圖片&#10;&#10;自動產生的描述">
            <a:extLst>
              <a:ext uri="{FF2B5EF4-FFF2-40B4-BE49-F238E27FC236}">
                <a16:creationId xmlns:a16="http://schemas.microsoft.com/office/drawing/2014/main" id="{FFAADD23-8860-D697-2D51-977F135EB1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8" y="216276"/>
            <a:ext cx="517908" cy="537330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613489B-F1F5-45B9-5E53-A14E9851EF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7288" y="1229533"/>
            <a:ext cx="6319206" cy="43805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按一下以編輯子標題樣式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4A50BCB-0F6F-C499-0C3B-15E5EBB92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7981" y="417269"/>
            <a:ext cx="6026904" cy="60128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 dirty="0"/>
              <a:t>按一下以編輯標題樣式</a:t>
            </a:r>
          </a:p>
        </p:txBody>
      </p:sp>
      <p:sp>
        <p:nvSpPr>
          <p:cNvPr id="9" name="免責聲明">
            <a:extLst>
              <a:ext uri="{FF2B5EF4-FFF2-40B4-BE49-F238E27FC236}">
                <a16:creationId xmlns:a16="http://schemas.microsoft.com/office/drawing/2014/main" id="{E3042F75-1908-3D2A-34DA-11D7A042B0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17703" y="6561065"/>
            <a:ext cx="5750000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>
                    <a:alpha val="3019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zh-TW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本文內容僅供參考之用，本公司已審慎研究並提供合理依據，恕不負任何法律責任亦不作任何保證。</a:t>
            </a:r>
          </a:p>
        </p:txBody>
      </p:sp>
    </p:spTree>
    <p:extLst>
      <p:ext uri="{BB962C8B-B14F-4D97-AF65-F5344CB8AC3E}">
        <p14:creationId xmlns:p14="http://schemas.microsoft.com/office/powerpoint/2010/main" val="1862968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1EFEEE-B6A7-B5D3-7EB2-408B8B45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F6D7B9-63A2-A5BC-5736-C19617C6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56AF37-6E33-EFFA-597D-450619899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F2156-CA50-A4D4-D4E3-92282AB4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4265DF-1961-72CA-FA58-E5021F07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19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F9F467B6-2FDC-0D5F-9344-767407FE0E4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81386" y="3352338"/>
            <a:ext cx="1136040" cy="329074"/>
          </a:xfrm>
        </p:spPr>
        <p:txBody>
          <a:bodyPr/>
          <a:lstStyle/>
          <a:p>
            <a:pPr algn="r"/>
            <a:r>
              <a:rPr lang="en-US" altLang="zh-TW" sz="1400"/>
              <a:t>2026.10</a:t>
            </a:r>
            <a:endParaRPr lang="zh-TW" altLang="en-US" sz="1500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C54C4412-1D3B-6EB2-91CB-E16B5E6E689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F6DB5FD7-24E0-69F1-5553-087A8308110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83246" y="2316197"/>
            <a:ext cx="8409509" cy="432897"/>
          </a:xfrm>
        </p:spPr>
        <p:txBody>
          <a:bodyPr>
            <a:noAutofit/>
          </a:bodyPr>
          <a:lstStyle/>
          <a:p>
            <a:pPr defTabSz="914400" eaLnBrk="0" fontAlgn="base" hangingPunc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3600" b="1" dirty="0">
                <a:solidFill>
                  <a:srgbClr val="0093C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金融產業近況更新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A0BCB0EA-A6C4-B323-C12E-9E1ABB07A4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65176" y="3229450"/>
            <a:ext cx="4392705" cy="1053629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TW" altLang="en-US" sz="2800" b="1" dirty="0">
                <a:solidFill>
                  <a:srgbClr val="01486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2026年10月台股產業投資策略</a:t>
            </a:r>
          </a:p>
        </p:txBody>
      </p:sp>
    </p:spTree>
    <p:extLst>
      <p:ext uri="{BB962C8B-B14F-4D97-AF65-F5344CB8AC3E}">
        <p14:creationId xmlns:p14="http://schemas.microsoft.com/office/powerpoint/2010/main" val="268707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2D2A-A23B-D848-6EB3-193FA1C4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10月挑戰五萬大關 Fed升息難擋Q3財報強勁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聯準會9/16升息1碼至3.75%-4%，並上修2026、2027年利率目標中值至4.1%，推升美10年債殖利率突破5%，提高市場評價壓力。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台灣8月外銷接單首度突破1千億美元（年增71.4%），LSEG預估標普500第三季企業盈餘年增29.9%（科技高達64.9%），強力支撐台股蓄勢上攻。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資料來源：LSEG、富邦投顧，2026.9.30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第三季標普500盈餘年增率（%）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科技類股盈餘年增64.9% 為整體兩倍以上</a:t>
            </a:r>
          </a:p>
        </p:txBody>
      </p:sp>
      <p:graphicFrame>
        <p:nvGraphicFramePr>
          <p:cNvPr id="15366" name="Chart 15365"/>
          <p:cNvGraphicFramePr>
            <a:graphicFrameLocks noGrp="1"/>
          </p:cNvGraphicFramePr>
          <p:nvPr/>
        </p:nvGraphicFramePr>
        <p:xfrm>
          <a:off x="433232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10月總經關鍵指標概覽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升息壓力與外銷接單創高並存</a:t>
            </a:r>
          </a:p>
        </p:txBody>
      </p:sp>
      <p:graphicFrame>
        <p:nvGraphicFramePr>
          <p:cNvPr id="15370" name="Table 15369"/>
          <p:cNvGraphicFramePr>
            <a:graphicFrameLocks noGrp="1"/>
          </p:cNvGraphicFramePr>
          <p:nvPr/>
        </p:nvGraphicFramePr>
        <p:xfrm>
          <a:off x="6170753" y="2983249"/>
          <a:ext cx="5291999" cy="3290400"/>
        </p:xfrm>
        <a:graphic>
          <a:graphicData uri="http://schemas.openxmlformats.org/drawingml/2006/table">
            <a:tbl>
              <a:tblPr firstRow="1" bandRow="1"/>
              <a:tblGrid>
                <a:gridCol w="1949684"/>
                <a:gridCol w="1531894"/>
                <a:gridCol w="1810421"/>
              </a:tblGrid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指標項目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最新數值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實質市場意涵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Fed政策利率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3.75%-4%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9/16升息1碼至利率區間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利率目標中值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4.1%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2026、2027年目標上修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美10年債殖利率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5%以上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高利率推升估值折現壓力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台灣8月外銷接單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1千億美元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年增71.4%創歷史新高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61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5E8134-2E7A-048E-6975-EE607471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3" y="2282320"/>
            <a:ext cx="4233673" cy="659975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簡報完畢  敬請指教</a:t>
            </a:r>
            <a:endParaRPr lang="zh-TW" altLang="en-US" sz="3600" b="1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C4A876E1-7180-4B16-51D5-0B64EBEF334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91528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AI投資邏輯轉向 訂單外溢與規格升級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AI算力需求由單純擴張轉向先進封裝整合，CoWoS產能供不應求延續至2028年，促使CSP自研晶片尋求非台積電體系（如聯電、Intel）外溢產能。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10月推薦聚焦四大主軸：台積電訂單外溢、Agent AI及AI基礎建設、零組件規格升級、能源與殖利率，合計推薦16檔精選標的。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AI供應鏈示意圖</a:t>
            </a:r>
          </a:p>
        </p:txBody>
      </p:sp>
      <p:pic>
        <p:nvPicPr>
          <p:cNvPr id="15364" name="Picture 15363" descr="AI供應鏈.png"/>
          <p:cNvPicPr>
            <a:picLocks noChangeAspect="1"/>
          </p:cNvPicPr>
          <p:nvPr/>
        </p:nvPicPr>
        <p:blipFill>
          <a:blip r:embed="rId2"/>
          <a:srcRect l="948" r="948"/>
          <a:stretch>
            <a:fillRect/>
          </a:stretch>
        </p:blipFill>
        <p:spPr>
          <a:xfrm>
            <a:off x="439232" y="2668849"/>
            <a:ext cx="5280000" cy="358800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10月四大議題推薦個股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四大戰略議題合計精選16檔</a:t>
            </a:r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6170753" y="2983249"/>
          <a:ext cx="5291999" cy="3290400"/>
        </p:xfrm>
        <a:graphic>
          <a:graphicData uri="http://schemas.openxmlformats.org/drawingml/2006/table">
            <a:tbl>
              <a:tblPr firstRow="1" bandRow="1"/>
              <a:tblGrid>
                <a:gridCol w="1512000"/>
                <a:gridCol w="1993090"/>
                <a:gridCol w="1786909"/>
              </a:tblGrid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戰略議題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關鍵技術/細項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推薦核心標的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台積電訂單外溢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ASIC、封裝測試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設備材料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聯發科、志聖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致茂、萬潤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Agent AI及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AI基礎建設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GPU/CPU、載板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高速傳輸/介面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台積電、欣興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昇陽半、創意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零組件規格升級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滑軌、連接器線材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光通訊雷射、散熱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川湖、奇鋐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全新、貿聯-KY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能源、殖利率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重電設備、特化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金控類股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華城、南亞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新應材、國泰金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核心持股FY26 EPS成長74.4% 零組件居冠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富邦核心持股FY26 EPS預估年增74.4%、FY27成長37.9%；PC周邊及零組件FY26獲利成長107.8%居冠，半導體68.5%、IC設計64.8%。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附錄低基期族群同步迎來轉機：記憶體FY26 EPS預估年增2,784.0%、水泥營建1,101.3%、鋼鐵404.8%，提供實質獲利轉向動能。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富邦核心持股EPS成長預估（%）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PC周邊及零組件FY26 EPS成長107.8%居冠</a:t>
            </a:r>
          </a:p>
        </p:txBody>
      </p:sp>
      <p:graphicFrame>
        <p:nvGraphicFramePr>
          <p:cNvPr id="15366" name="Chart 15365"/>
          <p:cNvGraphicFramePr>
            <a:graphicFrameLocks noGrp="1"/>
          </p:cNvGraphicFramePr>
          <p:nvPr/>
        </p:nvGraphicFramePr>
        <p:xfrm>
          <a:off x="433232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低基期族群FY26 EPS成長率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記憶體族群FY26 EPS成長逾27倍</a:t>
            </a:r>
          </a:p>
        </p:txBody>
      </p:sp>
      <p:graphicFrame>
        <p:nvGraphicFramePr>
          <p:cNvPr id="15370" name="Table 15369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table">
            <a:tbl>
              <a:tblPr firstRow="1" bandRow="1"/>
              <a:tblGrid>
                <a:gridCol w="2940000"/>
                <a:gridCol w="2352000"/>
              </a:tblGrid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次產業族群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FY26 EPS預估成長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記憶體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2,784.0%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水泥營建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1,101.3%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鋼鐵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404.8%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其他科技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155.7%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5484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IT通路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132.6%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AI基礎建設與訂單外溢 推薦8檔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 AI運算需求驅動資料中心架構升規，關鍵供應鏈涵蓋GPU/CPU、高速傳輸介面、載板與先進檢測設備；台積電投組權重達28%。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兩大議題精選8檔重點股：台積電、欣興、昇陽半、創意、聯發科、志聖、致茂、萬潤；其中致茂、萬潤、昇陽半為投組本期新增。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AI資料中心示意圖</a:t>
            </a:r>
          </a:p>
        </p:txBody>
      </p:sp>
      <p:pic>
        <p:nvPicPr>
          <p:cNvPr id="15364" name="Picture 15363" descr="Agent AI資料中心.png"/>
          <p:cNvPicPr>
            <a:picLocks noChangeAspect="1"/>
          </p:cNvPicPr>
          <p:nvPr/>
        </p:nvPicPr>
        <p:blipFill>
          <a:blip r:embed="rId2"/>
          <a:srcRect l="637" r="637"/>
          <a:stretch>
            <a:fillRect/>
          </a:stretch>
        </p:blipFill>
        <p:spPr>
          <a:xfrm>
            <a:off x="439232" y="2668849"/>
            <a:ext cx="5280000" cy="358800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兩大議題推薦個股與投組權重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致茂、萬潤、昇陽半為本期新增</a:t>
            </a:r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table">
            <a:tbl>
              <a:tblPr firstRow="1" bandRow="1"/>
              <a:tblGrid>
                <a:gridCol w="1433250"/>
                <a:gridCol w="1102500"/>
                <a:gridCol w="882000"/>
                <a:gridCol w="992250"/>
                <a:gridCol w="882000"/>
              </a:tblGrid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議題分類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公司名稱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股票代號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投組權重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本期狀態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AI基礎建設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台積電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2330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28%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核心龍頭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AI基礎建設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欣興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3037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載板領先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AI基礎建設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昇陽半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8028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新增標的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AI基礎建設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創意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3443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ASIC設計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訂單外溢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聯發科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2454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自研晶片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訂單外溢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志聖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2467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熱處理設備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訂單外溢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致茂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2360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新增標的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訂單外溢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萬潤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6187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新增標的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零組件規格升級 CCL與高壓電容受矚目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AI投資邏輯由漲價題材轉向規格升級，CCL M8/M9材料升級與高電壓系統專用電容為次世代AI機櫃能否順利量產之決定性關鍵。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推薦個股鎖定高規格領先業者：川湖（滑軌，投組權重6%）、奇鋐（散熱）、全新（光通訊磊晶）、貿聯-KY（高壓線束連接器）。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AI伺服器零組件示意圖</a:t>
            </a:r>
          </a:p>
        </p:txBody>
      </p:sp>
      <p:pic>
        <p:nvPicPr>
          <p:cNvPr id="15364" name="Picture 15363" descr="AI伺服器零組件升規.png"/>
          <p:cNvPicPr>
            <a:picLocks noChangeAspect="1"/>
          </p:cNvPicPr>
          <p:nvPr/>
        </p:nvPicPr>
        <p:blipFill>
          <a:blip r:embed="rId2"/>
          <a:srcRect l="948" r="948"/>
          <a:stretch>
            <a:fillRect/>
          </a:stretch>
        </p:blipFill>
        <p:spPr>
          <a:xfrm>
            <a:off x="439232" y="2668849"/>
            <a:ext cx="5280000" cy="358800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零組件規格升級推薦個股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川湖投組權重6%為零組件最高</a:t>
            </a:r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6170753" y="2983249"/>
          <a:ext cx="5291998" cy="3290400"/>
        </p:xfrm>
        <a:graphic>
          <a:graphicData uri="http://schemas.openxmlformats.org/drawingml/2006/table">
            <a:tbl>
              <a:tblPr firstRow="1" bandRow="1"/>
              <a:tblGrid>
                <a:gridCol w="1017692"/>
                <a:gridCol w="712384"/>
                <a:gridCol w="915923"/>
                <a:gridCol w="1526538"/>
                <a:gridCol w="1119461"/>
              </a:tblGrid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公司名稱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代號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投組權重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核心升規零組件領域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技術優勢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川湖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2059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伺服器高乘載導軌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全球市占領先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奇鋐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3017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水冷板與3D VC模組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散熱解方完整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全新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2455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光通訊磊晶/CPO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光傳輸技術就緒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貿聯-KY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3665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高壓線束/匯流排連接器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高電壓認證優勢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能源與殖利率 傳產聚焦旺季與高股息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全球電網升級與AI資料中心耗電激增，重電設備迎歷史最長供需失衡，華城等變壓器大廠旺季入帳動能充沛；華城、新應材為本期新增。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傳產聚焦三大核心：旺季效應（重電、散裝、鋼鐵）、低基期轉型（特化、台塑四寶）與高股息防禦，壽險型金控明年配息能力可期。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電力基礎建設示意圖</a:t>
            </a:r>
          </a:p>
        </p:txBody>
      </p:sp>
      <p:pic>
        <p:nvPicPr>
          <p:cNvPr id="15364" name="Picture 15363" descr="電力基建.png"/>
          <p:cNvPicPr>
            <a:picLocks noChangeAspect="1"/>
          </p:cNvPicPr>
          <p:nvPr/>
        </p:nvPicPr>
        <p:blipFill>
          <a:blip r:embed="rId2"/>
          <a:srcRect l="948" r="948"/>
          <a:stretch>
            <a:fillRect/>
          </a:stretch>
        </p:blipFill>
        <p:spPr>
          <a:xfrm>
            <a:off x="439232" y="2668849"/>
            <a:ext cx="5280000" cy="3588000"/>
          </a:xfrm>
          <a:prstGeom prst="rect">
            <a:avLst/>
          </a:prstGeom>
        </p:spPr>
      </p:pic>
      <p:sp>
        <p:nvSpPr>
          <p:cNvPr id="15365" name="Rounded Rectangle 15364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能源、特化與高股息推薦個股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華城、新應材為本期新增</a:t>
            </a:r>
          </a:p>
        </p:txBody>
      </p:sp>
      <p:graphicFrame>
        <p:nvGraphicFramePr>
          <p:cNvPr id="15369" name="Table 15368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table">
            <a:tbl>
              <a:tblPr firstRow="1" bandRow="1"/>
              <a:tblGrid>
                <a:gridCol w="850500"/>
                <a:gridCol w="661500"/>
                <a:gridCol w="756000"/>
                <a:gridCol w="567000"/>
                <a:gridCol w="1134000"/>
                <a:gridCol w="1323000"/>
              </a:tblGrid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公司名稱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代號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投組權重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本期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次產業定位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核心投資亮點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華城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1519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14865"/>
                          </a:solidFill>
                          <a:latin typeface="微軟正黑體"/>
                          <a:ea typeface="微軟正黑體"/>
                        </a:rPr>
                        <a:t>新增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重電/電力變壓器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美系電網訂單長線滿載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南亞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1303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塑膠/低基期轉型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油價帶動報價回升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新應材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4749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14865"/>
                          </a:solidFill>
                          <a:latin typeface="微軟正黑體"/>
                          <a:ea typeface="微軟正黑體"/>
                        </a:rPr>
                        <a:t>新增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半導體先進特化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先進製程材料認證放量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國泰金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2882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壽險型金控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資本評價修復配息正向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投組加碼科技 台積電權重28%居首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富邦投資組合配置科技82%、金融8%、非科技10%，相較大盤權重（80.6%、8.7%、10.7%）採策略性微幅加碼科技，兼顧攻防縱深。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20檔核心持股中台積電以28%居最大部位，川湖6%次之；金融部位配置國泰金與元大金各4%，發揮高息與資本評價防禦緩衝。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資料來源：CMoney、富邦投顧，2026.9.30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富邦投資組合20檔權重分布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台積電28%為最大部位 本期新增8檔合計30%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469232" y="2983249"/>
            <a:ext cx="1461600" cy="3092400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69232" y="2983249"/>
            <a:ext cx="1461600" cy="309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B3A4F"/>
                </a:solidFill>
                <a:latin typeface="微軟正黑體"/>
                <a:ea typeface="微軟正黑體"/>
              </a:rPr>
              <a:t>台積電</a:t>
            </a:r>
          </a:p>
          <a:p>
            <a:pPr algn="ctr"/>
            <a:r>
              <a:rPr sz="1600" b="0">
                <a:solidFill>
                  <a:srgbClr val="0B3A4F"/>
                </a:solidFill>
                <a:latin typeface="微軟正黑體"/>
                <a:ea typeface="微軟正黑體"/>
              </a:rPr>
              <a:t>28%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1930832" y="2983249"/>
            <a:ext cx="835200" cy="1159650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1930832" y="2983249"/>
            <a:ext cx="835200" cy="115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川湖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6%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1930832" y="4142899"/>
            <a:ext cx="835200" cy="966375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1930832" y="4142899"/>
            <a:ext cx="835200" cy="966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★南亞科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5%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1930832" y="5109274"/>
            <a:ext cx="835200" cy="96637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1930832" y="5109274"/>
            <a:ext cx="835200" cy="966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大立光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5%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2766032" y="2983249"/>
            <a:ext cx="730800" cy="883542"/>
          </a:xfrm>
          <a:prstGeom prst="rect">
            <a:avLst/>
          </a:prstGeom>
          <a:solidFill>
            <a:srgbClr val="00A59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27660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★華城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3496832" y="2983249"/>
            <a:ext cx="730800" cy="883542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34968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★致茂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4227632" y="2983249"/>
            <a:ext cx="730800" cy="883542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2276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志聖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4958432" y="2983249"/>
            <a:ext cx="730800" cy="883542"/>
          </a:xfrm>
          <a:prstGeom prst="rect">
            <a:avLst/>
          </a:prstGeom>
          <a:solidFill>
            <a:srgbClr val="6F8FA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4958432" y="2983249"/>
            <a:ext cx="730800" cy="8835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國泰金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2766032" y="3866791"/>
            <a:ext cx="876960" cy="736285"/>
          </a:xfrm>
          <a:prstGeom prst="rect">
            <a:avLst/>
          </a:prstGeom>
          <a:solidFill>
            <a:srgbClr val="01486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2766032" y="3866791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★元大金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2766032" y="4603077"/>
            <a:ext cx="876960" cy="73628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2766032" y="4603077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奇鋐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2766032" y="5339363"/>
            <a:ext cx="876960" cy="736285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2766032" y="5339363"/>
            <a:ext cx="876960" cy="7362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欣興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3642992" y="3866791"/>
            <a:ext cx="818496" cy="788877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3642992" y="3866791"/>
            <a:ext cx="818496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★昇陽半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4%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4461488" y="3866791"/>
            <a:ext cx="613872" cy="788877"/>
          </a:xfrm>
          <a:prstGeom prst="rect">
            <a:avLst/>
          </a:prstGeom>
          <a:solidFill>
            <a:srgbClr val="80CFC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4461488" y="3866791"/>
            <a:ext cx="613872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南亞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5075360" y="3866791"/>
            <a:ext cx="613872" cy="788877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5075360" y="3866791"/>
            <a:ext cx="613872" cy="7888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★華通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364299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364299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聯發科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6" name="Rectangle 15395"/>
          <p:cNvSpPr/>
          <p:nvPr/>
        </p:nvSpPr>
        <p:spPr>
          <a:xfrm>
            <a:off x="3642992" y="536565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364299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全新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398" name="Rectangle 15397"/>
          <p:cNvSpPr/>
          <p:nvPr/>
        </p:nvSpPr>
        <p:spPr>
          <a:xfrm>
            <a:off x="432507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432507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創意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0" name="Rectangle 15399"/>
          <p:cNvSpPr/>
          <p:nvPr/>
        </p:nvSpPr>
        <p:spPr>
          <a:xfrm>
            <a:off x="5007152" y="4655669"/>
            <a:ext cx="682080" cy="709989"/>
          </a:xfrm>
          <a:prstGeom prst="rect">
            <a:avLst/>
          </a:prstGeom>
          <a:solidFill>
            <a:srgbClr val="8CCB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5007152" y="465566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B3A4F"/>
                </a:solidFill>
                <a:latin typeface="微軟正黑體"/>
                <a:ea typeface="微軟正黑體"/>
              </a:rPr>
              <a:t>貿聯-KY</a:t>
            </a:r>
          </a:p>
          <a:p>
            <a:pPr algn="ctr"/>
            <a:r>
              <a:rPr sz="1000" b="0">
                <a:solidFill>
                  <a:srgbClr val="0B3A4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2" name="Rectangle 15401"/>
          <p:cNvSpPr/>
          <p:nvPr/>
        </p:nvSpPr>
        <p:spPr>
          <a:xfrm>
            <a:off x="4325072" y="5365659"/>
            <a:ext cx="682080" cy="709989"/>
          </a:xfrm>
          <a:prstGeom prst="rect">
            <a:avLst/>
          </a:prstGeom>
          <a:solidFill>
            <a:srgbClr val="00A59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432507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★新應材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4" name="Rectangle 15403"/>
          <p:cNvSpPr/>
          <p:nvPr/>
        </p:nvSpPr>
        <p:spPr>
          <a:xfrm>
            <a:off x="5007152" y="5365659"/>
            <a:ext cx="682080" cy="709989"/>
          </a:xfrm>
          <a:prstGeom prst="rect">
            <a:avLst/>
          </a:prstGeom>
          <a:solidFill>
            <a:srgbClr val="0093C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5007152" y="5365659"/>
            <a:ext cx="682080" cy="7099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</a:rPr>
              <a:t>★萬潤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軟正黑體"/>
                <a:ea typeface="微軟正黑體"/>
              </a:rPr>
              <a:t>3%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33232" y="6104449"/>
            <a:ext cx="5292000" cy="19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/>
            </a:r>
            <a:r>
              <a:rPr sz="1000" b="1">
                <a:solidFill>
                  <a:srgbClr val="0093C1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科技82%  </a:t>
            </a:r>
            <a:r>
              <a:rPr sz="1000" b="1">
                <a:solidFill>
                  <a:srgbClr val="014865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金融8%  </a:t>
            </a:r>
            <a:r>
              <a:rPr sz="1000" b="1">
                <a:solidFill>
                  <a:srgbClr val="00A59B"/>
                </a:solidFill>
                <a:latin typeface="微軟正黑體"/>
                <a:ea typeface="微軟正黑體"/>
              </a:rPr>
              <a:t>■</a:t>
            </a:r>
            <a:r>
              <a:rPr sz="1000" b="0">
                <a:solidFill>
                  <a:srgbClr val="6B7A82"/>
                </a:solidFill>
                <a:latin typeface="微軟正黑體"/>
                <a:ea typeface="微軟正黑體"/>
              </a:rPr>
              <a:t>非科技10%  </a:t>
            </a:r>
            <a:r>
              <a:rPr sz="1000" b="1">
                <a:solidFill>
                  <a:srgbClr val="014865"/>
                </a:solidFill>
                <a:latin typeface="微軟正黑體"/>
                <a:ea typeface="微軟正黑體"/>
              </a:rPr>
              <a:t>★本期新增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富邦投資組合與大盤產業權重（%）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9" name="Rounded Rectangle 15408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科技權重82% 略高於大盤80.6%</a:t>
            </a:r>
          </a:p>
        </p:txBody>
      </p:sp>
      <p:graphicFrame>
        <p:nvGraphicFramePr>
          <p:cNvPr id="15410" name="Chart 15409"/>
          <p:cNvGraphicFramePr>
            <a:graphicFrameLocks noGrp="1"/>
          </p:cNvGraphicFramePr>
          <p:nvPr/>
        </p:nvGraphicFramePr>
        <p:xfrm>
          <a:off x="6170753" y="2983249"/>
          <a:ext cx="5292000" cy="329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362" name="標題 3">
            <a:extLst>
              <a:ext uri="{FF2B5EF4-FFF2-40B4-BE49-F238E27FC236}">
                <a16:creationId xmlns:a16="http://schemas.microsoft.com/office/drawing/2014/main" id="{D0052553-414B-0149-5353-CA3A7D03E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本期新增8檔 鎖定外溢與升規</a:t>
            </a:r>
          </a:p>
        </p:txBody>
      </p:sp>
      <p:sp>
        <p:nvSpPr>
          <p:cNvPr id="5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93552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本期投資組合新增8檔標的：華城、華通、致茂、南亞科、元大金、新應材、萬潤、昇陽半，合計配置權重達30%。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新增標的中昇陽半目標價400元隱含上檔空間48.7%最高；致茂上檔空間達49.15%；萬潤目標價800元反映保守評價以灰條標示。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190000" y="6542809"/>
            <a:ext cx="3209998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zh-TW" altLang="en-US" sz="12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資料來源：CMoney、富邦投顧，2026.9.30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379232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本期新增8檔上檔空間與評價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79232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487232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新增8檔合計權重30% 昇陽半上檔空間最大</a:t>
            </a:r>
          </a:p>
        </p:txBody>
      </p:sp>
      <p:graphicFrame>
        <p:nvGraphicFramePr>
          <p:cNvPr id="15366" name="Table 15365"/>
          <p:cNvGraphicFramePr>
            <a:graphicFrameLocks noGrp="1"/>
          </p:cNvGraphicFramePr>
          <p:nvPr/>
        </p:nvGraphicFramePr>
        <p:xfrm>
          <a:off x="433232" y="2983249"/>
          <a:ext cx="5291997" cy="3290400"/>
        </p:xfrm>
        <a:graphic>
          <a:graphicData uri="http://schemas.openxmlformats.org/drawingml/2006/table">
            <a:tbl>
              <a:tblPr firstRow="1" bandRow="1"/>
              <a:tblGrid>
                <a:gridCol w="875055"/>
                <a:gridCol w="541700"/>
                <a:gridCol w="875055"/>
                <a:gridCol w="875055"/>
                <a:gridCol w="1416755"/>
                <a:gridCol w="708377"/>
              </a:tblGrid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權重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股價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目標價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上檔空間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EPS 26F</a:t>
                      </a:r>
                    </a:p>
                  </a:txBody>
                  <a:tcPr marL="40000" marR="40000" marT="10000" marB="10000" anchor="ctr">
                    <a:solidFill>
                      <a:srgbClr val="00829B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華城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1519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699.00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918.54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18.65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華通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2313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222.50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320.00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7.64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致茂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2360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2,295.00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2,700.00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49.15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南亞科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2408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503.00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548.00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65.87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元大金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2885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69.20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74.00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4.80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新應材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4749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728.00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950.00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15.22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萬潤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6187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1,195.00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800.00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20.62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昇陽半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6B7A82"/>
                          </a:solidFill>
                          <a:latin typeface="微軟正黑體"/>
                          <a:ea typeface="微軟正黑體"/>
                        </a:rPr>
                        <a:t>8028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269.00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400.00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/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7.56</a:t>
                      </a:r>
                    </a:p>
                  </a:txBody>
                  <a:tcPr marL="40000" marR="40000" marT="10000" marB="10000" anchor="ctr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  <p:sp>
        <p:nvSpPr>
          <p:cNvPr id="15367" name="Rectangle 15366"/>
          <p:cNvSpPr/>
          <p:nvPr/>
        </p:nvSpPr>
        <p:spPr>
          <a:xfrm>
            <a:off x="3636097" y="3451217"/>
            <a:ext cx="410423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4075320" y="3348849"/>
            <a:ext cx="934332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+31.4%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3636097" y="3816817"/>
            <a:ext cx="572625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4237522" y="3714449"/>
            <a:ext cx="772130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+43.8%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3636097" y="4182417"/>
            <a:ext cx="230604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3895501" y="4080049"/>
            <a:ext cx="1114151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+17.6%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3636097" y="4548017"/>
            <a:ext cx="116907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3781804" y="4445649"/>
            <a:ext cx="1227848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+8.9%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636097" y="4913617"/>
            <a:ext cx="90642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755539" y="4811249"/>
            <a:ext cx="1254113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+6.9%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3636097" y="5279217"/>
            <a:ext cx="398490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4063387" y="5176849"/>
            <a:ext cx="946265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+30.5%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3636097" y="5644817"/>
            <a:ext cx="431941" cy="160864"/>
          </a:xfrm>
          <a:prstGeom prst="rect">
            <a:avLst/>
          </a:prstGeom>
          <a:solidFill>
            <a:srgbClr val="B4C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4096838" y="5542449"/>
            <a:ext cx="912814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A82"/>
                </a:solidFill>
                <a:latin typeface="微軟正黑體"/>
                <a:ea typeface="微軟正黑體"/>
              </a:rPr>
              <a:t>-33.1%*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3636097" y="6010417"/>
            <a:ext cx="636378" cy="160864"/>
          </a:xfrm>
          <a:prstGeom prst="rect">
            <a:avLst/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4301275" y="5908049"/>
            <a:ext cx="708377" cy="36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14865"/>
                </a:solidFill>
                <a:latin typeface="微軟正黑體"/>
                <a:ea typeface="微軟正黑體"/>
              </a:rPr>
              <a:t>+48.7%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116753" y="2240000"/>
            <a:ext cx="54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微軟正黑體"/>
                <a:ea typeface="微軟正黑體"/>
              </a:rPr>
              <a:t>新增標的所屬議題矩陣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116753" y="2608849"/>
            <a:ext cx="5400000" cy="3708000"/>
          </a:xfrm>
          <a:prstGeom prst="roundRect">
            <a:avLst>
              <a:gd name="adj" fmla="val 4000"/>
            </a:avLst>
          </a:prstGeom>
          <a:noFill/>
          <a:ln>
            <a:solidFill>
              <a:srgbClr val="CD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6224753" y="2680849"/>
            <a:ext cx="5184000" cy="259200"/>
          </a:xfrm>
          <a:prstGeom prst="roundRect">
            <a:avLst>
              <a:gd name="adj" fmla="val 50000"/>
            </a:avLst>
          </a:prstGeom>
          <a:solidFill>
            <a:srgbClr val="008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5檔屬10月四大議題</a:t>
            </a:r>
          </a:p>
        </p:txBody>
      </p:sp>
      <p:graphicFrame>
        <p:nvGraphicFramePr>
          <p:cNvPr id="15386" name="Table 15385"/>
          <p:cNvGraphicFramePr>
            <a:graphicFrameLocks noGrp="1"/>
          </p:cNvGraphicFramePr>
          <p:nvPr/>
        </p:nvGraphicFramePr>
        <p:xfrm>
          <a:off x="6170753" y="2983249"/>
          <a:ext cx="5291997" cy="3290400"/>
        </p:xfrm>
        <a:graphic>
          <a:graphicData uri="http://schemas.openxmlformats.org/drawingml/2006/table">
            <a:tbl>
              <a:tblPr firstRow="1" bandRow="1"/>
              <a:tblGrid>
                <a:gridCol w="1102499"/>
                <a:gridCol w="881999"/>
                <a:gridCol w="2425500"/>
                <a:gridCol w="881999"/>
              </a:tblGrid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公司名稱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代號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所屬戰略議題/投組角色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</a:rPr>
                        <a:t>投組權重</a:t>
                      </a:r>
                    </a:p>
                  </a:txBody>
                  <a:tcPr anchor="ctr" marL="40000" marR="40000" marT="10000" marB="10000">
                    <a:solidFill>
                      <a:srgbClr val="00829B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華城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1519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能源、殖利率（重電外銷）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新應材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4749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能源、殖利率（特化先進材料）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致茂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2360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台積電訂單外溢（半導體檢測）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萬潤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6187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台積電訂單外溢（先進封裝設備）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昇陽半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8028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Agent AI及AI基礎建設（再生晶圓）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華通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2313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投組新增（蘋果供應鏈HDI）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3%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南亞科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2408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投組新增（記憶體循環復甦）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5%</a:t>
                      </a:r>
                    </a:p>
                  </a:txBody>
                  <a:tcPr anchor="ctr" marL="40000" marR="40000" marT="10000" marB="10000">
                    <a:solidFill>
                      <a:srgbClr val="FFFFFF"/>
                    </a:solidFill>
                  </a:tcPr>
                </a:tc>
              </a:tr>
              <a:tr h="3656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元大金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2885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投組新增（證券與ETF獲利倍增）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微軟正黑體"/>
                          <a:ea typeface="微軟正黑體"/>
                        </a:rPr>
                        <a:t>4%</a:t>
                      </a:r>
                    </a:p>
                  </a:txBody>
                  <a:tcPr anchor="ctr" marL="40000" marR="40000" marT="10000" marB="10000">
                    <a:solidFill>
                      <a:srgbClr val="EE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A2BE62921FA742ADA0DADE08321945" ma:contentTypeVersion="5" ma:contentTypeDescription="建立新的文件。" ma:contentTypeScope="" ma:versionID="8ea0477f4d9cc60e73b20821975a2002">
  <xsd:schema xmlns:xsd="http://www.w3.org/2001/XMLSchema" xmlns:xs="http://www.w3.org/2001/XMLSchema" xmlns:p="http://schemas.microsoft.com/office/2006/metadata/properties" xmlns:ns3="7a210efe-e13b-48d0-82b5-9db509c5c34f" targetNamespace="http://schemas.microsoft.com/office/2006/metadata/properties" ma:root="true" ma:fieldsID="d69d457693119ddc26b28fe05a827531" ns3:_="">
    <xsd:import namespace="7a210efe-e13b-48d0-82b5-9db509c5c34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10efe-e13b-48d0-82b5-9db509c5c34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210efe-e13b-48d0-82b5-9db509c5c34f" xsi:nil="true"/>
  </documentManagement>
</p:properties>
</file>

<file path=customXml/itemProps1.xml><?xml version="1.0" encoding="utf-8"?>
<ds:datastoreItem xmlns:ds="http://schemas.openxmlformats.org/officeDocument/2006/customXml" ds:itemID="{0D76C915-45E9-423C-B85E-FD41D790CC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5D1F7C-0AFA-4463-810D-481204E1E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10efe-e13b-48d0-82b5-9db509c5c3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7C95F-047A-4BD1-9959-0CED22F39785}">
  <ds:schemaRefs>
    <ds:schemaRef ds:uri="7a210efe-e13b-48d0-82b5-9db509c5c34f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110</Words>
  <Application>Microsoft Office PowerPoint</Application>
  <PresentationFormat>寬螢幕</PresentationFormat>
  <Paragraphs>14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文鼎細圓</vt:lpstr>
      <vt:lpstr>微軟正黑體</vt:lpstr>
      <vt:lpstr>Aptos</vt:lpstr>
      <vt:lpstr>Aptos Display</vt:lpstr>
      <vt:lpstr>Arial</vt:lpstr>
      <vt:lpstr>Office 佈景主題</vt:lpstr>
      <vt:lpstr>PowerPoint 簡報</vt:lpstr>
      <vt:lpstr>經濟展望佳 股市創新高 成交量倍數放大 </vt:lpstr>
      <vt:lpstr>簡報完畢  敬請指教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黃大仁</dc:creator>
  <cp:lastModifiedBy>黃大仁</cp:lastModifiedBy>
  <cp:revision>64</cp:revision>
  <dcterms:created xsi:type="dcterms:W3CDTF">2026-03-30T08:00:42Z</dcterms:created>
  <dcterms:modified xsi:type="dcterms:W3CDTF">2026-09-30T08:07:34Z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0x010100CDA2BE62921FA742ADA0DADE08321945</vt:lpwstr>
  </property>
</Properties>
</file>