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719" r:id="rId5"/>
    <p:sldId id="4823" r:id="rId13"/>
    <p:sldId id="4824" r:id="rId14"/>
    <p:sldId id="4825" r:id="rId15"/>
    <p:sldId id="4826" r:id="rId16"/>
    <p:sldId id="4827" r:id="rId17"/>
    <p:sldId id="4828" r:id="rId18"/>
    <p:sldId id="4829" r:id="rId19"/>
    <p:sldId id="4830" r:id="rId20"/>
    <p:sldId id="4831" r:id="rId21"/>
    <p:sldId id="4832" r:id="rId22"/>
    <p:sldId id="4833" r:id="rId23"/>
    <p:sldId id="4822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外銷接單YoY(%)</c:v>
                </c:pt>
              </c:strCache>
            </c:strRef>
          </c:tx>
          <c:spPr>
            <a:solidFill>
              <a:srgbClr val="00829B"/>
            </a:solidFill>
            <a:ln>
              <a:solidFill>
                <a:srgbClr val="00829B"/>
              </a:solidFill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8月</c:v>
                </c:pt>
                <c:pt idx="1">
                  <c:v>前8月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71.4</c:v>
                </c:pt>
                <c:pt idx="1">
                  <c:v>55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DE6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DE6EB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spPr>
    <a:ln>
      <a:solidFill>
        <a:srgbClr val="CDE6EB"/>
      </a:solidFill>
    </a:ln>
  </c:spPr>
  <c:txPr>
    <a:bodyPr/>
    <a:lstStyle/>
    <a:p>
      <a:pPr>
        <a:defRPr sz="14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盈餘YoY(%)</c:v>
                </c:pt>
              </c:strCache>
            </c:strRef>
          </c:tx>
          <c:spPr>
            <a:solidFill>
              <a:srgbClr val="00829B"/>
            </a:solidFill>
            <a:ln>
              <a:solidFill>
                <a:srgbClr val="00829B"/>
              </a:solidFill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整體</c:v>
                </c:pt>
                <c:pt idx="1">
                  <c:v>科技股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29.9</c:v>
                </c:pt>
                <c:pt idx="1">
                  <c:v>64.9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DE6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DE6EB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spPr>
    <a:ln>
      <a:solidFill>
        <a:srgbClr val="CDE6EB"/>
      </a:solidFill>
    </a:ln>
  </c:spPr>
  <c:txPr>
    <a:bodyPr/>
    <a:lstStyle/>
    <a:p>
      <a:pPr>
        <a:defRPr sz="14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FY26(%)</c:v>
                </c:pt>
              </c:strCache>
            </c:strRef>
          </c:tx>
          <c:spPr>
            <a:solidFill>
              <a:srgbClr val="00829B"/>
            </a:solidFill>
            <a:ln>
              <a:solidFill>
                <a:srgbClr val="00829B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整體</c:v>
                </c:pt>
                <c:pt idx="1">
                  <c:v>半導體</c:v>
                </c:pt>
                <c:pt idx="2">
                  <c:v>IC設計</c:v>
                </c:pt>
                <c:pt idx="3">
                  <c:v>OEM/EMS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74.4</c:v>
                </c:pt>
                <c:pt idx="1">
                  <c:v>68.5</c:v>
                </c:pt>
                <c:pt idx="2">
                  <c:v>64.8</c:v>
                </c:pt>
                <c:pt idx="3">
                  <c:v>50.2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FY27(%)</c:v>
                </c:pt>
              </c:strCache>
            </c:strRef>
          </c:tx>
          <c:spPr>
            <a:solidFill>
              <a:srgbClr val="3B9EAB"/>
            </a:solidFill>
            <a:ln>
              <a:solidFill>
                <a:srgbClr val="3B9EAB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整體</c:v>
                </c:pt>
                <c:pt idx="1">
                  <c:v>半導體</c:v>
                </c:pt>
                <c:pt idx="2">
                  <c:v>IC設計</c:v>
                </c:pt>
                <c:pt idx="3">
                  <c:v>OEM/EMS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37.9</c:v>
                </c:pt>
                <c:pt idx="1">
                  <c:v>41.6</c:v>
                </c:pt>
                <c:pt idx="2">
                  <c:v>60.2</c:v>
                </c:pt>
                <c:pt idx="3">
                  <c:v>34.4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DE6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DE6EB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spPr>
    <a:ln>
      <a:solidFill>
        <a:srgbClr val="CDE6EB"/>
      </a:solidFill>
    </a:ln>
  </c:spPr>
  <c:txPr>
    <a:bodyPr/>
    <a:lstStyle/>
    <a:p>
      <a:pPr>
        <a:defRPr sz="14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核心持股整體YoY(%)</c:v>
                </c:pt>
              </c:strCache>
            </c:strRef>
          </c:tx>
          <c:spPr>
            <a:ln w="19050">
              <a:solidFill>
                <a:srgbClr val="3B9EAB"/>
              </a:solidFill>
            </a:ln>
          </c:spPr>
          <c:marker>
            <c:symbol val="diamond"/>
            <c:size val="4"/>
            <c:spPr>
              <a:solidFill>
                <a:srgbClr val="3B9EAB"/>
              </a:solidFill>
              <a:ln w="19050">
                <a:solidFill>
                  <a:srgbClr val="3B9EAB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1Q26</c:v>
                </c:pt>
                <c:pt idx="1">
                  <c:v>2Q26</c:v>
                </c:pt>
                <c:pt idx="2">
                  <c:v>3Q26</c:v>
                </c:pt>
                <c:pt idx="3">
                  <c:v>4Q26</c:v>
                </c:pt>
                <c:pt idx="4">
                  <c:v>1Q27</c:v>
                </c:pt>
                <c:pt idx="5">
                  <c:v>2Q27</c:v>
                </c:pt>
                <c:pt idx="6">
                  <c:v>3Q27</c:v>
                </c:pt>
                <c:pt idx="7">
                  <c:v>4Q27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52.7</c:v>
                </c:pt>
                <c:pt idx="1">
                  <c:v>114.3</c:v>
                </c:pt>
                <c:pt idx="2">
                  <c:v>79.2</c:v>
                </c:pt>
                <c:pt idx="3">
                  <c:v>78.3</c:v>
                </c:pt>
                <c:pt idx="4">
                  <c:v>53.3</c:v>
                </c:pt>
                <c:pt idx="5">
                  <c:v>30.8</c:v>
                </c:pt>
                <c:pt idx="6">
                  <c:v>40.3</c:v>
                </c:pt>
                <c:pt idx="7">
                  <c:v>37.6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DE6EB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CDE6EB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spPr>
    <a:ln>
      <a:solidFill>
        <a:srgbClr val="CDE6EB"/>
      </a:solidFill>
    </a:ln>
  </c:spPr>
  <c:txPr>
    <a:bodyPr/>
    <a:lstStyle/>
    <a:p>
      <a:pPr>
        <a:defRPr sz="14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倍數</c:v>
                </c:pt>
              </c:strCache>
            </c:strRef>
          </c:tx>
          <c:spPr>
            <a:solidFill>
              <a:srgbClr val="00829B"/>
            </a:solidFill>
            <a:ln>
              <a:solidFill>
                <a:srgbClr val="00829B"/>
              </a:solidFill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功耗節省</c:v>
                </c:pt>
                <c:pt idx="1">
                  <c:v>傳輸效率提升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DE6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DE6EB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spPr>
    <a:ln>
      <a:solidFill>
        <a:srgbClr val="CDE6EB"/>
      </a:solidFill>
    </a:ln>
  </c:spPr>
  <c:txPr>
    <a:bodyPr/>
    <a:lstStyle/>
    <a:p>
      <a:pPr>
        <a:defRPr sz="14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半導體YoY(%)</c:v>
                </c:pt>
              </c:strCache>
            </c:strRef>
          </c:tx>
          <c:spPr>
            <a:ln w="19050">
              <a:solidFill>
                <a:srgbClr val="3B9EAB"/>
              </a:solidFill>
            </a:ln>
          </c:spPr>
          <c:marker>
            <c:symbol val="diamond"/>
            <c:size val="4"/>
            <c:spPr>
              <a:solidFill>
                <a:srgbClr val="3B9EAB"/>
              </a:solidFill>
              <a:ln w="19050">
                <a:solidFill>
                  <a:srgbClr val="3B9EAB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1Q26</c:v>
                </c:pt>
                <c:pt idx="1">
                  <c:v>2Q26</c:v>
                </c:pt>
                <c:pt idx="2">
                  <c:v>3Q26</c:v>
                </c:pt>
                <c:pt idx="3">
                  <c:v>4Q26</c:v>
                </c:pt>
                <c:pt idx="4">
                  <c:v>1Q27</c:v>
                </c:pt>
                <c:pt idx="5">
                  <c:v>2Q27</c:v>
                </c:pt>
                <c:pt idx="6">
                  <c:v>3Q27</c:v>
                </c:pt>
                <c:pt idx="7">
                  <c:v>4Q27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62.3</c:v>
                </c:pt>
                <c:pt idx="1">
                  <c:v>89.4</c:v>
                </c:pt>
                <c:pt idx="2">
                  <c:v>64.3</c:v>
                </c:pt>
                <c:pt idx="3">
                  <c:v>60.7</c:v>
                </c:pt>
                <c:pt idx="4">
                  <c:v>42.7</c:v>
                </c:pt>
                <c:pt idx="5">
                  <c:v>28.2</c:v>
                </c:pt>
                <c:pt idx="6">
                  <c:v>47.4</c:v>
                </c:pt>
                <c:pt idx="7">
                  <c:v>45.6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DE6EB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CDE6EB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spPr>
    <a:ln>
      <a:solidFill>
        <a:srgbClr val="CDE6EB"/>
      </a:solidFill>
    </a:ln>
  </c:spPr>
  <c:txPr>
    <a:bodyPr/>
    <a:lstStyle/>
    <a:p>
      <a:pPr>
        <a:defRPr sz="14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出貨YoY(%)</c:v>
                </c:pt>
              </c:strCache>
            </c:strRef>
          </c:tx>
          <c:spPr>
            <a:solidFill>
              <a:srgbClr val="00829B"/>
            </a:solidFill>
            <a:ln>
              <a:solidFill>
                <a:srgbClr val="00829B"/>
              </a:solidFill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原預估</c:v>
                </c:pt>
                <c:pt idx="1">
                  <c:v>上修後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26.5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DE6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DE6EB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spPr>
    <a:ln>
      <a:solidFill>
        <a:srgbClr val="CDE6EB"/>
      </a:solidFill>
    </a:ln>
  </c:spPr>
  <c:txPr>
    <a:bodyPr/>
    <a:lstStyle/>
    <a:p>
      <a:pPr>
        <a:defRPr sz="14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出貨量(k)</c:v>
                </c:pt>
              </c:strCache>
            </c:strRef>
          </c:tx>
          <c:spPr>
            <a:solidFill>
              <a:srgbClr val="00829B"/>
            </a:solidFill>
            <a:ln>
              <a:solidFill>
                <a:srgbClr val="00829B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GB300</c:v>
                </c:pt>
                <c:pt idx="1">
                  <c:v>GB200</c:v>
                </c:pt>
                <c:pt idx="2">
                  <c:v>VR200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6</c:v>
                </c:pt>
                <c:pt idx="2">
                  <c:v>4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DE6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DE6EB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spPr>
    <a:ln>
      <a:solidFill>
        <a:srgbClr val="CDE6EB"/>
      </a:solidFill>
    </a:ln>
  </c:spPr>
  <c:txPr>
    <a:bodyPr/>
    <a:lstStyle/>
    <a:p>
      <a:pPr>
        <a:defRPr sz="14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BB ratio</c:v>
                </c:pt>
              </c:strCache>
            </c:strRef>
          </c:tx>
          <c:spPr>
            <a:solidFill>
              <a:srgbClr val="00829B"/>
            </a:solidFill>
            <a:ln>
              <a:solidFill>
                <a:srgbClr val="00829B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村田</c:v>
                </c:pt>
                <c:pt idx="1">
                  <c:v>太陽誘電</c:v>
                </c:pt>
                <c:pt idx="2">
                  <c:v>國巨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1.34</c:v>
                </c:pt>
                <c:pt idx="1">
                  <c:v>1.72</c:v>
                </c:pt>
                <c:pt idx="2">
                  <c:v>2.2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DE6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DE6EB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spPr>
    <a:ln>
      <a:solidFill>
        <a:srgbClr val="CDE6EB"/>
      </a:solidFill>
    </a:ln>
  </c:spPr>
  <c:txPr>
    <a:bodyPr/>
    <a:lstStyle/>
    <a:p>
      <a:pPr>
        <a:defRPr sz="14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DRAM(%)</c:v>
                </c:pt>
              </c:strCache>
            </c:strRef>
          </c:tx>
          <c:spPr>
            <a:ln w="19050">
              <a:solidFill>
                <a:srgbClr val="3B9EAB"/>
              </a:solidFill>
            </a:ln>
          </c:spPr>
          <c:marker>
            <c:symbol val="diamond"/>
            <c:size val="4"/>
            <c:spPr>
              <a:solidFill>
                <a:srgbClr val="3B9EAB"/>
              </a:solidFill>
              <a:ln w="19050">
                <a:solidFill>
                  <a:srgbClr val="3B9EAB"/>
                </a:solidFill>
              </a:ln>
            </c:spPr>
          </c:marker>
          <c:cat>
            <c:strRef>
              <c:f>Sheet1!$A$2:$A$3</c:f>
              <c:strCache>
                <c:ptCount val="2"/>
                <c:pt idx="0">
                  <c:v>2026年</c:v>
                </c:pt>
                <c:pt idx="1">
                  <c:v>2027年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-1</c:v>
                </c:pt>
                <c:pt idx="1">
                  <c:v>-4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NAND(%)</c:v>
                </c:pt>
              </c:strCache>
            </c:strRef>
          </c:tx>
          <c:spPr>
            <a:ln w="19050">
              <a:solidFill>
                <a:srgbClr val="E65000"/>
              </a:solidFill>
            </a:ln>
          </c:spPr>
          <c:marker>
            <c:symbol val="square"/>
            <c:size val="4"/>
            <c:spPr>
              <a:solidFill>
                <a:srgbClr val="E65000"/>
              </a:solidFill>
              <a:ln w="19050">
                <a:solidFill>
                  <a:srgbClr val="E65000"/>
                </a:solidFill>
              </a:ln>
            </c:spPr>
          </c:marker>
          <c:cat>
            <c:strRef>
              <c:f>Sheet1!$A$2:$A$3</c:f>
              <c:strCache>
                <c:ptCount val="2"/>
                <c:pt idx="0">
                  <c:v>2026年</c:v>
                </c:pt>
                <c:pt idx="1">
                  <c:v>2027年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-4.4</c:v>
                </c:pt>
                <c:pt idx="1">
                  <c:v>3.6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CDE6EB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CDE6EB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spPr>
    <a:ln>
      <a:solidFill>
        <a:srgbClr val="CDE6EB"/>
      </a:solidFill>
    </a:ln>
  </c:spPr>
  <c:txPr>
    <a:bodyPr/>
    <a:lstStyle/>
    <a:p>
      <a:pPr>
        <a:defRPr sz="14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M7以上產品比重(%)</c:v>
                </c:pt>
              </c:strCache>
            </c:strRef>
          </c:tx>
          <c:spPr>
            <a:solidFill>
              <a:srgbClr val="00829B"/>
            </a:solidFill>
            <a:ln>
              <a:solidFill>
                <a:srgbClr val="00829B"/>
              </a:solidFill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台光</c:v>
                </c:pt>
                <c:pt idx="1">
                  <c:v>台燿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45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DE6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DE6EB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spPr>
    <a:ln>
      <a:solidFill>
        <a:srgbClr val="CDE6EB"/>
      </a:solidFill>
    </a:ln>
  </c:spPr>
  <c:txPr>
    <a:bodyPr/>
    <a:lstStyle/>
    <a:p>
      <a:pPr>
        <a:defRPr sz="14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PSU功率(kW)</c:v>
                </c:pt>
              </c:strCache>
            </c:strRef>
          </c:tx>
          <c:spPr>
            <a:solidFill>
              <a:srgbClr val="00829B"/>
            </a:solidFill>
            <a:ln>
              <a:solidFill>
                <a:srgbClr val="00829B"/>
              </a:solidFill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提升前</c:v>
                </c:pt>
                <c:pt idx="1">
                  <c:v>Vera Rubin世代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5.5</c:v>
                </c:pt>
                <c:pt idx="1">
                  <c:v>18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DE6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DE6EB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spPr>
    <a:ln>
      <a:solidFill>
        <a:srgbClr val="CDE6EB"/>
      </a:solidFill>
    </a:ln>
  </c:spPr>
  <c:txPr>
    <a:bodyPr/>
    <a:lstStyle/>
    <a:p>
      <a:pPr>
        <a:defRPr sz="14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累積成長(%)</c:v>
                </c:pt>
              </c:strCache>
            </c:strRef>
          </c:tx>
          <c:spPr>
            <a:solidFill>
              <a:srgbClr val="00829B"/>
            </a:solidFill>
            <a:ln>
              <a:solidFill>
                <a:srgbClr val="00829B"/>
              </a:solidFill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電力變壓器</c:v>
                </c:pt>
                <c:pt idx="1">
                  <c:v>配電變壓器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119</c:v>
                </c:pt>
                <c:pt idx="1">
                  <c:v>34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DE6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DE6EB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spPr>
    <a:ln>
      <a:solidFill>
        <a:srgbClr val="CDE6EB"/>
      </a:solidFill>
    </a:ln>
  </c:spPr>
  <c:txPr>
    <a:bodyPr/>
    <a:lstStyle/>
    <a:p>
      <a:pPr>
        <a:defRPr sz="14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占比(%)</c:v>
                </c:pt>
              </c:strCache>
            </c:strRef>
          </c:tx>
          <c:spPr>
            <a:ln w="19050">
              <a:solidFill>
                <a:srgbClr val="3B9EAB"/>
              </a:solidFill>
            </a:ln>
          </c:spPr>
          <c:marker>
            <c:symbol val="diamond"/>
            <c:size val="4"/>
            <c:spPr>
              <a:solidFill>
                <a:srgbClr val="3B9EAB"/>
              </a:solidFill>
              <a:ln w="19050">
                <a:solidFill>
                  <a:srgbClr val="3B9EAB"/>
                </a:solidFill>
              </a:ln>
            </c:spPr>
          </c:marker>
          <c:cat>
            <c:strRef>
              <c:f>Sheet1!$A$2:$A$3</c:f>
              <c:strCache>
                <c:ptCount val="2"/>
                <c:pt idx="0">
                  <c:v>2024年</c:v>
                </c:pt>
                <c:pt idx="1">
                  <c:v>2030年底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1.5</c:v>
                </c:pt>
                <c:pt idx="1">
                  <c:v>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DE6EB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CDE6EB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spPr>
    <a:ln>
      <a:solidFill>
        <a:srgbClr val="CDE6EB"/>
      </a:solidFill>
    </a:ln>
  </c:spPr>
  <c:txPr>
    <a:bodyPr/>
    <a:lstStyle/>
    <a:p>
      <a:pPr>
        <a:defRPr sz="14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成長率(%)</c:v>
                </c:pt>
              </c:strCache>
            </c:strRef>
          </c:tx>
          <c:spPr>
            <a:solidFill>
              <a:srgbClr val="00829B"/>
            </a:solidFill>
            <a:ln>
              <a:solidFill>
                <a:srgbClr val="00829B"/>
              </a:solidFill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延噸需求</c:v>
                </c:pt>
                <c:pt idx="1">
                  <c:v>需求量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1.3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DE6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DE6EB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spPr>
    <a:ln>
      <a:solidFill>
        <a:srgbClr val="CDE6EB"/>
      </a:solidFill>
    </a:ln>
  </c:spPr>
  <c:txPr>
    <a:bodyPr/>
    <a:lstStyle/>
    <a:p>
      <a:pPr>
        <a:defRPr sz="14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營業利潤率(%)</c:v>
                </c:pt>
              </c:strCache>
            </c:strRef>
          </c:tx>
          <c:spPr>
            <a:ln w="19050">
              <a:solidFill>
                <a:srgbClr val="3B9EAB"/>
              </a:solidFill>
            </a:ln>
          </c:spPr>
          <c:marker>
            <c:symbol val="diamond"/>
            <c:size val="4"/>
            <c:spPr>
              <a:solidFill>
                <a:srgbClr val="3B9EAB"/>
              </a:solidFill>
              <a:ln w="19050">
                <a:solidFill>
                  <a:srgbClr val="3B9EAB"/>
                </a:solidFill>
              </a:ln>
            </c:spPr>
          </c:marker>
          <c:cat>
            <c:strRef>
              <c:f>Sheet1!$A$2:$A$3</c:f>
              <c:strCache>
                <c:ptCount val="2"/>
                <c:pt idx="0">
                  <c:v>7月</c:v>
                </c:pt>
                <c:pt idx="1">
                  <c:v>8月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0.81</c:v>
                </c:pt>
                <c:pt idx="1">
                  <c:v>2.8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DE6EB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CDE6EB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spPr>
    <a:ln>
      <a:solidFill>
        <a:srgbClr val="CDE6EB"/>
      </a:solidFill>
    </a:ln>
  </c:spPr>
  <c:txPr>
    <a:bodyPr/>
    <a:lstStyle/>
    <a:p>
      <a:pPr>
        <a:defRPr sz="14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BB ratio</c:v>
                </c:pt>
              </c:strCache>
            </c:strRef>
          </c:tx>
          <c:spPr>
            <a:solidFill>
              <a:srgbClr val="00829B"/>
            </a:solidFill>
            <a:ln>
              <a:solidFill>
                <a:srgbClr val="00829B"/>
              </a:solidFill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2Q26</c:v>
                </c:pt>
                <c:pt idx="1">
                  <c:v>歷史平均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1.44</c:v>
                </c:pt>
                <c:pt idx="1">
                  <c:v>1.08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DE6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DE6EB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spPr>
    <a:ln>
      <a:solidFill>
        <a:srgbClr val="CDE6EB"/>
      </a:solidFill>
    </a:ln>
  </c:spPr>
  <c:txPr>
    <a:bodyPr/>
    <a:lstStyle/>
    <a:p>
      <a:pPr>
        <a:defRPr sz="14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漲跌幅(%)</c:v>
                </c:pt>
              </c:strCache>
            </c:strRef>
          </c:tx>
          <c:spPr>
            <a:solidFill>
              <a:srgbClr val="00829B"/>
            </a:solidFill>
            <a:ln>
              <a:solidFill>
                <a:srgbClr val="00829B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綜合指數</c:v>
                </c:pt>
                <c:pt idx="1">
                  <c:v>歐洲航線</c:v>
                </c:pt>
                <c:pt idx="2">
                  <c:v>美西航線</c:v>
                </c:pt>
                <c:pt idx="3">
                  <c:v>美東航線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-0.03</c:v>
                </c:pt>
                <c:pt idx="1">
                  <c:v>-4.6</c:v>
                </c:pt>
                <c:pt idx="2">
                  <c:v>-1.3</c:v>
                </c:pt>
                <c:pt idx="3">
                  <c:v>-0.8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CDE6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DE6EB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spPr>
    <a:ln>
      <a:solidFill>
        <a:srgbClr val="CDE6EB"/>
      </a:solidFill>
    </a:ln>
  </c:spPr>
  <c:txPr>
    <a:bodyPr/>
    <a:lstStyle/>
    <a:p>
      <a:pPr>
        <a:defRPr sz="14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EPS成長率(%)</c:v>
                </c:pt>
              </c:strCache>
            </c:strRef>
          </c:tx>
          <c:spPr>
            <a:solidFill>
              <a:srgbClr val="00829B"/>
            </a:solidFill>
            <a:ln>
              <a:solidFill>
                <a:srgbClr val="00829B"/>
              </a:solidFill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FY26</c:v>
                </c:pt>
                <c:pt idx="1">
                  <c:v>FY27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20.9</c:v>
                </c:pt>
                <c:pt idx="1">
                  <c:v>6.7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DE6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DE6EB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spPr>
    <a:ln>
      <a:solidFill>
        <a:srgbClr val="CDE6EB"/>
      </a:solidFill>
    </a:ln>
  </c:spPr>
  <c:txPr>
    <a:bodyPr/>
    <a:lstStyle/>
    <a:p>
      <a:pPr>
        <a:defRPr sz="14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ROE(%)</c:v>
                </c:pt>
              </c:strCache>
            </c:strRef>
          </c:tx>
          <c:spPr>
            <a:ln w="19050">
              <a:solidFill>
                <a:srgbClr val="3B9EAB"/>
              </a:solidFill>
            </a:ln>
          </c:spPr>
          <c:marker>
            <c:symbol val="diamond"/>
            <c:size val="4"/>
            <c:spPr>
              <a:solidFill>
                <a:srgbClr val="3B9EAB"/>
              </a:solidFill>
              <a:ln w="19050">
                <a:solidFill>
                  <a:srgbClr val="3B9EAB"/>
                </a:solidFill>
              </a:ln>
            </c:spPr>
          </c:marker>
          <c:cat>
            <c:strRef>
              <c:f>Sheet1!$A$2:$A$3</c:f>
              <c:strCache>
                <c:ptCount val="2"/>
                <c:pt idx="0">
                  <c:v>FY26</c:v>
                </c:pt>
                <c:pt idx="1">
                  <c:v>FY27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11.4</c:v>
                </c:pt>
                <c:pt idx="1">
                  <c:v>10.9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DE6EB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CDE6EB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spPr>
    <a:ln>
      <a:solidFill>
        <a:srgbClr val="CDE6EB"/>
      </a:solidFill>
    </a:ln>
  </c:spPr>
  <c:txPr>
    <a:bodyPr/>
    <a:lstStyle/>
    <a:p>
      <a:pPr>
        <a:defRPr sz="14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富邦投資組合(%)</c:v>
                </c:pt>
              </c:strCache>
            </c:strRef>
          </c:tx>
          <c:spPr>
            <a:solidFill>
              <a:srgbClr val="00829B"/>
            </a:solidFill>
            <a:ln>
              <a:solidFill>
                <a:srgbClr val="00829B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科技</c:v>
                </c:pt>
                <c:pt idx="1">
                  <c:v>金融</c:v>
                </c:pt>
                <c:pt idx="2">
                  <c:v>非科技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</c:v>
                </c:pt>
                <c:pt idx="1">
                  <c:v>8</c:v>
                </c:pt>
                <c:pt idx="2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市場權重(%)</c:v>
                </c:pt>
              </c:strCache>
            </c:strRef>
          </c:tx>
          <c:spPr>
            <a:solidFill>
              <a:srgbClr val="3B9EAB"/>
            </a:solidFill>
            <a:ln>
              <a:solidFill>
                <a:srgbClr val="3B9EAB"/>
              </a:solidFill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科技</c:v>
                </c:pt>
                <c:pt idx="1">
                  <c:v>金融</c:v>
                </c:pt>
                <c:pt idx="2">
                  <c:v>非科技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80.6</c:v>
                </c:pt>
                <c:pt idx="1">
                  <c:v>8.7</c:v>
                </c:pt>
                <c:pt idx="2">
                  <c:v>10.7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DE6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DE6EB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spPr>
    <a:ln>
      <a:solidFill>
        <a:srgbClr val="CDE6EB"/>
      </a:solidFill>
    </a:ln>
  </c:spPr>
  <c:txPr>
    <a:bodyPr/>
    <a:lstStyle/>
    <a:p>
      <a:pPr>
        <a:defRPr sz="14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FY26(倍)</c:v>
                </c:pt>
              </c:strCache>
            </c:strRef>
          </c:tx>
          <c:spPr>
            <a:solidFill>
              <a:srgbClr val="00829B"/>
            </a:solidFill>
            <a:ln>
              <a:solidFill>
                <a:srgbClr val="00829B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整體</c:v>
                </c:pt>
                <c:pt idx="1">
                  <c:v>半導體</c:v>
                </c:pt>
                <c:pt idx="2">
                  <c:v>IC設計</c:v>
                </c:pt>
                <c:pt idx="3">
                  <c:v>金融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22.4</c:v>
                </c:pt>
                <c:pt idx="1">
                  <c:v>23.6</c:v>
                </c:pt>
                <c:pt idx="2">
                  <c:v>41.3</c:v>
                </c:pt>
                <c:pt idx="3">
                  <c:v>16.1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FY27(倍)</c:v>
                </c:pt>
              </c:strCache>
            </c:strRef>
          </c:tx>
          <c:spPr>
            <a:solidFill>
              <a:srgbClr val="3B9EAB"/>
            </a:solidFill>
            <a:ln>
              <a:solidFill>
                <a:srgbClr val="3B9EAB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整體</c:v>
                </c:pt>
                <c:pt idx="1">
                  <c:v>半導體</c:v>
                </c:pt>
                <c:pt idx="2">
                  <c:v>IC設計</c:v>
                </c:pt>
                <c:pt idx="3">
                  <c:v>金融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16.2</c:v>
                </c:pt>
                <c:pt idx="1">
                  <c:v>16.6</c:v>
                </c:pt>
                <c:pt idx="2">
                  <c:v>25.8</c:v>
                </c:pt>
                <c:pt idx="3">
                  <c:v>15.1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DE6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DE6EB"/>
              </a:solidFill>
            </a:ln>
          </c:spPr>
        </c:majorGridlines>
        <c:numFmt formatCode="General" sourceLinked="0"/>
        <c:majorTickMark val="none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spPr>
    <a:ln>
      <a:solidFill>
        <a:srgbClr val="CDE6EB"/>
      </a:solidFill>
    </a:ln>
  </c:spPr>
  <c:txPr>
    <a:bodyPr/>
    <a:lstStyle/>
    <a:p>
      <a:pPr>
        <a:defRPr sz="1400">
          <a:latin typeface="微軟正黑體"/>
          <a:ea typeface="微軟正黑體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7A96AA-CE0D-454F-9036-2E7E01962C43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A11E6F-1C25-4127-9829-3F391A3641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8652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結尾頁沿用範本，無數字。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11E6F-1C25-4127-9829-3F391A36416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6843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封面。標題與日期依據 PDF 第1頁「10 月台股產業投資策略」（報告日期 2026 年9 月30 日）。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本頁數字均出自 PDF 第1頁「聯準會再次升息雖提高股市壓力，但預期第三季財報強勁可抵消不利因素」段落（該頁資料來源：工商時報）；四大議題出自 PDF 第1頁重點摘要。標普500盈餘預估為 LSEG 調查。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年度 EPS 成長率與本益比出自 PDF 第9頁「附錄1: 富邦核心持股年獲利預估」（total、Semiconductor、Fabless、OEM/EMS 列）；季度 EPS 年增率出自 PDF 第10頁「附錄2: 富邦核心持股季獲利預估」Total 列 EPS YOY 欄。產業名稱對照：Semiconductor 半導體、Fabless IC設計。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台積電產能與 2028 年前需求出自 PDF 第1頁；供需缺口出自 PDF 第5頁「半導體/封測」；COUPE 效益出自 PDF 第3頁「台灣CPO 供應鏈日趨完整」；相關個股出自 PDF 第2頁圖表1「台積電訂單外溢效應」；半導體季度 EPS 年增率出自 PDF 第10頁 Semiconductor 列 EPS YOY 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伺服器與機櫃數字出自 PDF 第5頁「PC/手機/伺服器」段落；相關個股出自 PDF 第2頁圖表1「Agent AI 及AI 基礎建設」。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記憶體供需比出自 PDF 第5頁「記憶體」段落（TrendForce 預估）；BB ratio 與漲價時程出自 PDF 第5頁「被動元件」段落，國巨為二季底數據。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規格升級看法出自 PDF 第1頁；M7 以上產品比重出自 PDF 第6頁「PCB/CCL」段落；PSU 功率出自 PDF 第6頁「電源供應器」段落；相關個股出自 PDF 第2頁圖表1「零組件規格升級」。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本頁數字出自 PDF 第7頁「重電新能源」段落（IEA 預估與市調機構資料）；相關個股出自 PDF 第2頁圖表1「能源、殖利率」。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鋼鐵數字出自 PDF 第8頁「鋼鐵」段落；航程距離與延噸需求出自 PDF 第8頁散裝航運續段。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研華接單與 BB ratio 出自 PDF 第6頁「IPC/工具機」段落；貨櫃運價與 SCFI 出自 PDF 第7頁「貨櫃航運」段落；Brent 油價出自 PDF 第7頁「塑化」段落。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金控獲利出自 PDF 第8頁「金融」段落；放款與收益率出自 PDF 第3頁「證券、銀行與壽險三大業務均維持高成長態勢」段落；金融類股 EPS 成長率與 ROE 出自 PDF 第9頁 Financial 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投資組合權重、台積電權重與本期新增個股（★標記）出自 PDF 第4頁；各產業本益比出自 PDF 第9頁 PER 欄（total、Semiconductor、Fabless、Financial 列）。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F18B3B-C79A-D30A-9E8B-320D35103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0433205-A250-C04A-19E1-9D36E9A6A1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3D74FA-60E2-D317-0554-15C634B7A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DC23465-2136-CAB3-6129-F1A5EC39B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6AFDE9-5BF3-9071-ED63-0955BBE60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0598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875BE7-4E1C-2E0F-8266-89872CBCD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12F807-ED48-1C29-9C77-EEAC78908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6BF9AF9-30AD-A712-3304-37EF504C4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CF142E-8734-3821-F4E1-3627E264E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D64D1C3-820E-D7C5-79E1-CFBE18BFC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5526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C1A336-5B03-E061-CB74-A989C3573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BCB916-9ED6-B1ED-DB30-4F7C81794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9482BC-D24D-48EE-A684-444E61E77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237CF6-7732-B956-7FFA-63F7E33F2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236DD4A-8DDC-BC56-FDB8-6127B9673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23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B8AFB9-8911-2867-76A8-00829619B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3E4AFC-EBB4-C9AA-8EA7-456AA734E4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9B56454-9B54-3463-3048-4E3B46651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4169BFF-98B8-76A6-972D-E3E5264BD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697A390-A7BC-B145-5A37-CAE3DEACB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178FD82-3A14-FEDF-D9DA-A8294DE66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3757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033680-5195-BB8E-6E18-92D83AB09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35A20DB-19E2-F190-DC0A-8E758AAE1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CAF8388-C939-7F37-3BD7-A63501896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F78B665-569E-FD60-10B0-9F5A6CDB51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36857E1-476E-0439-3C44-FDC2DA293B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42B7300-999F-E06A-0D11-3E53DC455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A7C6FDF-4C23-9B99-B35D-697C4725C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108BEF8-0F43-F8EF-1867-F003E8CDC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8917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88C7A9-843D-1F49-AF04-F650570AC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12FD71F-09C2-3F34-3E05-1D0C541C0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A2B6502-B9C3-EDF5-E1A4-0F6198029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5558BF7-50A6-DD4B-FF8A-46E8E11C7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0046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C64C2DF-4284-BFD0-F3F1-FDE993179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92C2337-0A5A-1D52-252E-2A47A0254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D476C5-04B7-17DA-3E97-1CA0703CC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0678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0F6F18-540D-5740-EEB2-02C48B0E8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73054B-70D2-1076-375D-E767B3A37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B7533D9-D590-800E-0422-BF2E8D36B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5527908-F962-1353-1065-54BA574B9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6F9CD05-FB29-D84E-2486-AC5DC4E74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9323C69-22F1-9A6B-0AFA-CFABA3755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246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9D226E-CB6E-EF39-3ED2-98851F56E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EDC66BA-E2D1-C5ED-DF8E-5A62660173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57C06E7-2FBF-CCE2-B6EB-078CED315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2DF25A6-3B3E-D197-98D0-57EEB16EB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A3BEFD8-58B1-8032-E616-1517A603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D45CFE7-0AAB-47EC-5109-C314B6E2E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5939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C67D65-338F-7646-02B7-E01FD32C2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C6774F0-FD16-07B8-0EBB-8753C6DF99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E57050-B3D8-98B8-4786-BF412CF34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99B3F5-5643-EE5E-1DAC-94C8A18EE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94C950-7F11-92CD-8FB4-F56509087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3316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A67ED09-8233-2174-97BA-E0511DFCB4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0C5295C-8A98-EA5F-E60C-BEB45531AE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B112FFF-8485-9BCF-5C4A-BCA10664D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A7519FE-F881-9918-F600-C8CAC6C90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10CD9E-3798-5B1B-D579-362240340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7530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封面首頁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75B973EE-94EA-AE30-6772-9C5978F71921}"/>
              </a:ext>
            </a:extLst>
          </p:cNvPr>
          <p:cNvCxnSpPr>
            <a:cxnSpLocks/>
          </p:cNvCxnSpPr>
          <p:nvPr/>
        </p:nvCxnSpPr>
        <p:spPr>
          <a:xfrm>
            <a:off x="3965985" y="3026391"/>
            <a:ext cx="426002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投影片編號版面配置區 3">
            <a:extLst>
              <a:ext uri="{FF2B5EF4-FFF2-40B4-BE49-F238E27FC236}">
                <a16:creationId xmlns:a16="http://schemas.microsoft.com/office/drawing/2014/main" id="{92333323-A73C-5064-B286-84C9CFCF172F}"/>
              </a:ext>
            </a:extLst>
          </p:cNvPr>
          <p:cNvSpPr txBox="1">
            <a:spLocks/>
          </p:cNvSpPr>
          <p:nvPr/>
        </p:nvSpPr>
        <p:spPr>
          <a:xfrm>
            <a:off x="11706044" y="6519625"/>
            <a:ext cx="403891" cy="297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4094CE0-D024-4FC6-B25F-837FC5BFCD48}" type="slidenum">
              <a:rPr lang="zh-TW" altLang="en-US" sz="14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zh-TW" alt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字版面配置區 5"/>
          <p:cNvSpPr>
            <a:spLocks noGrp="1"/>
          </p:cNvSpPr>
          <p:nvPr>
            <p:ph type="body" sz="quarter" idx="28" hasCustomPrompt="1"/>
          </p:nvPr>
        </p:nvSpPr>
        <p:spPr>
          <a:xfrm>
            <a:off x="8000731" y="3404763"/>
            <a:ext cx="1006908" cy="3290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rgbClr val="3B99CB"/>
                </a:solidFill>
              </a:defRPr>
            </a:lvl1pPr>
          </a:lstStyle>
          <a:p>
            <a:pPr lvl="0"/>
            <a:r>
              <a:rPr lang="zh-TW" altLang="en-US" dirty="0"/>
              <a:t>日期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823FF69-4328-4C0F-E732-F62BA4880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6396" y="2227456"/>
            <a:ext cx="6434027" cy="659975"/>
          </a:xfrm>
          <a:prstGeom prst="rect">
            <a:avLst/>
          </a:prstGeom>
        </p:spPr>
        <p:txBody>
          <a:bodyPr/>
          <a:lstStyle>
            <a:lvl1pPr algn="l">
              <a:defRPr sz="4000">
                <a:solidFill>
                  <a:srgbClr val="008FC7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7" name="圖片版面配置區 6"/>
          <p:cNvSpPr>
            <a:spLocks noGrp="1"/>
          </p:cNvSpPr>
          <p:nvPr>
            <p:ph type="pic" sz="quarter" idx="29"/>
          </p:nvPr>
        </p:nvSpPr>
        <p:spPr>
          <a:xfrm>
            <a:off x="9859963" y="241300"/>
            <a:ext cx="1992312" cy="5699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8263612-F03C-9DA9-D88C-4746CC9739D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936875" y="3300305"/>
            <a:ext cx="4818272" cy="4328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706862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內頁版型-有標題樣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3">
            <a:extLst>
              <a:ext uri="{FF2B5EF4-FFF2-40B4-BE49-F238E27FC236}">
                <a16:creationId xmlns:a16="http://schemas.microsoft.com/office/drawing/2014/main" id="{23E32C13-15C5-88F2-E564-E878156F89C8}"/>
              </a:ext>
            </a:extLst>
          </p:cNvPr>
          <p:cNvSpPr txBox="1">
            <a:spLocks/>
          </p:cNvSpPr>
          <p:nvPr userDrawn="1"/>
        </p:nvSpPr>
        <p:spPr>
          <a:xfrm>
            <a:off x="11706044" y="6519625"/>
            <a:ext cx="403891" cy="297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4094CE0-D024-4FC6-B25F-837FC5BFCD48}" type="slidenum">
              <a:rPr lang="zh-TW" altLang="en-US" sz="1400" smtClean="0">
                <a:solidFill>
                  <a:srgbClr val="1492C3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zh-TW" altLang="en-US" sz="1400" dirty="0">
              <a:solidFill>
                <a:srgbClr val="1492C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30012B-FA25-A5CA-A709-692F4B4EFFA9}"/>
              </a:ext>
            </a:extLst>
          </p:cNvPr>
          <p:cNvSpPr/>
          <p:nvPr userDrawn="1"/>
        </p:nvSpPr>
        <p:spPr>
          <a:xfrm flipV="1">
            <a:off x="1972637" y="172789"/>
            <a:ext cx="10219363" cy="45719"/>
          </a:xfrm>
          <a:prstGeom prst="rect">
            <a:avLst/>
          </a:prstGeom>
          <a:gradFill>
            <a:gsLst>
              <a:gs pos="0">
                <a:srgbClr val="00F9D3">
                  <a:alpha val="0"/>
                </a:srgbClr>
              </a:gs>
              <a:gs pos="9000">
                <a:srgbClr val="00F9D3"/>
              </a:gs>
              <a:gs pos="44000">
                <a:srgbClr val="00C3CD"/>
              </a:gs>
              <a:gs pos="100000">
                <a:srgbClr val="008FC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 descr="一張含有 符號, 標誌, 圖形, 字型 的圖片&#10;&#10;自動產生的描述">
            <a:extLst>
              <a:ext uri="{FF2B5EF4-FFF2-40B4-BE49-F238E27FC236}">
                <a16:creationId xmlns:a16="http://schemas.microsoft.com/office/drawing/2014/main" id="{FFAADD23-8860-D697-2D51-977F135EB1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68" y="216276"/>
            <a:ext cx="517908" cy="537330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D613489B-F1F5-45B9-5E53-A14E9851EF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27288" y="1229533"/>
            <a:ext cx="6319206" cy="43805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TW" altLang="en-US" dirty="0"/>
              <a:t>按一下以編輯子標題樣式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F4A50BCB-0F6F-C499-0C3B-15E5EBB920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27981" y="417269"/>
            <a:ext cx="6026904" cy="601289"/>
          </a:xfrm>
          <a:prstGeom prst="rect">
            <a:avLst/>
          </a:prstGeom>
        </p:spPr>
        <p:txBody>
          <a:bodyPr/>
          <a:lstStyle>
            <a:lvl1pPr algn="l">
              <a:defRPr sz="4000">
                <a:solidFill>
                  <a:srgbClr val="008FC7"/>
                </a:solidFill>
              </a:defRPr>
            </a:lvl1pPr>
          </a:lstStyle>
          <a:p>
            <a:r>
              <a:rPr lang="zh-TW" altLang="en-US" dirty="0"/>
              <a:t>按一下以編輯標題樣式</a:t>
            </a:r>
          </a:p>
        </p:txBody>
      </p:sp>
      <p:sp>
        <p:nvSpPr>
          <p:cNvPr id="9" name="免責聲明">
            <a:extLst>
              <a:ext uri="{FF2B5EF4-FFF2-40B4-BE49-F238E27FC236}">
                <a16:creationId xmlns:a16="http://schemas.microsoft.com/office/drawing/2014/main" id="{E3042F75-1908-3D2A-34DA-11D7A042B08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417703" y="6561065"/>
            <a:ext cx="5750000" cy="24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>
                    <a:alpha val="30196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prstDash val="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kumimoji="1" sz="1400">
                <a:solidFill>
                  <a:srgbClr val="006666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defRPr kumimoji="1" sz="1400">
                <a:solidFill>
                  <a:srgbClr val="006666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defRPr kumimoji="1" sz="1400">
                <a:solidFill>
                  <a:srgbClr val="006666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defRPr kumimoji="1" sz="1400">
                <a:solidFill>
                  <a:srgbClr val="006666"/>
                </a:solidFill>
                <a:latin typeface="Arial" charset="0"/>
                <a:ea typeface="標楷體" pitchFamily="65" charset="-120"/>
              </a:defRPr>
            </a:lvl4pPr>
            <a:lvl5pPr marL="2057400" indent="-228600" eaLnBrk="0" hangingPunct="0">
              <a:defRPr kumimoji="1" sz="1400">
                <a:solidFill>
                  <a:srgbClr val="006666"/>
                </a:solidFill>
                <a:latin typeface="Arial" charset="0"/>
                <a:ea typeface="標楷體" pitchFamily="65" charset="-12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6666"/>
                </a:solidFill>
                <a:latin typeface="Arial" charset="0"/>
                <a:ea typeface="標楷體" pitchFamily="65" charset="-12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6666"/>
                </a:solidFill>
                <a:latin typeface="Arial" charset="0"/>
                <a:ea typeface="標楷體" pitchFamily="65" charset="-12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6666"/>
                </a:solidFill>
                <a:latin typeface="Arial" charset="0"/>
                <a:ea typeface="標楷體" pitchFamily="65" charset="-12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6666"/>
                </a:solidFill>
                <a:latin typeface="Arial" charset="0"/>
                <a:ea typeface="標楷體" pitchFamily="65" charset="-120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zh-TW" altLang="en-US" sz="1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本文內容僅供參考之用，本公司已審慎研究並提供合理依據，恕不負任何法律責任亦不作任何保證。</a:t>
            </a:r>
          </a:p>
        </p:txBody>
      </p:sp>
    </p:spTree>
    <p:extLst>
      <p:ext uri="{BB962C8B-B14F-4D97-AF65-F5344CB8AC3E}">
        <p14:creationId xmlns:p14="http://schemas.microsoft.com/office/powerpoint/2010/main" val="18629689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31EFEEE-B6A7-B5D3-7EB2-408B8B452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6F6D7B9-63A2-A5BC-5736-C19617C6B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56AF37-6E33-EFFA-597D-4506198995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907213-1547-4AC0-9970-4C4853B08BEC}" type="datetimeFigureOut">
              <a:rPr lang="zh-TW" altLang="en-US" smtClean="0"/>
              <a:t>2026/9/30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FF2156-CA50-A4D4-D4E3-92282AB4B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64265DF-1961-72CA-FA58-E5021F07D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2BD85-8AC9-4BB8-B432-5627023284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319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5.xml"/><Relationship Id="rId3" Type="http://schemas.openxmlformats.org/officeDocument/2006/relationships/chart" Target="../charts/chart16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9.xml"/><Relationship Id="rId3" Type="http://schemas.openxmlformats.org/officeDocument/2006/relationships/chart" Target="../charts/chart20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21.xml"/><Relationship Id="rId3" Type="http://schemas.openxmlformats.org/officeDocument/2006/relationships/chart" Target="../charts/chart22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23.xml"/><Relationship Id="rId3" Type="http://schemas.openxmlformats.org/officeDocument/2006/relationships/chart" Target="../charts/chart24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F9F467B6-2FDC-0D5F-9344-767407FE0E4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081386" y="3352338"/>
            <a:ext cx="1136040" cy="329074"/>
          </a:xfrm>
        </p:spPr>
        <p:txBody>
          <a:bodyPr/>
          <a:lstStyle/>
          <a:p>
            <a:pPr algn="r"/>
            <a:r>
              <a:rPr lang="en-US" altLang="zh-TW" sz="1500"/>
              <a:t>2026.10</a:t>
            </a:r>
            <a:endParaRPr lang="zh-TW" altLang="en-US" sz="1500" dirty="0"/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F6DB5FD7-24E0-69F1-5553-087A8308110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883246" y="2316197"/>
            <a:ext cx="8409509" cy="432897"/>
          </a:xfrm>
        </p:spPr>
        <p:txBody>
          <a:bodyPr>
            <a:noAutofit/>
          </a:bodyPr>
          <a:lstStyle/>
          <a:p>
            <a:pPr defTabSz="914400" eaLnBrk="0" fontAlgn="base" hangingPunct="0"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3600" b="1" dirty="0">
                <a:solidFill>
                  <a:srgbClr val="0093C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10月產業投資策略</a:t>
            </a:r>
            <a:endParaRPr lang="zh-TW" altLang="en-US" sz="3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副標題 6">
            <a:extLst>
              <a:ext uri="{FF2B5EF4-FFF2-40B4-BE49-F238E27FC236}">
                <a16:creationId xmlns:a16="http://schemas.microsoft.com/office/drawing/2014/main" id="{A0BCB0EA-A6C4-B323-C12E-9E1ABB07A4F7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765176" y="3229450"/>
            <a:ext cx="4392705" cy="1053629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富邦投顧</a:t>
            </a:r>
          </a:p>
        </p:txBody>
      </p:sp>
    </p:spTree>
    <p:extLst>
      <p:ext uri="{BB962C8B-B14F-4D97-AF65-F5344CB8AC3E}">
        <p14:creationId xmlns:p14="http://schemas.microsoft.com/office/powerpoint/2010/main" val="2687072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F5E8134-2E7A-048E-6975-EE607471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3" y="2282320"/>
            <a:ext cx="4233673" cy="659975"/>
          </a:xfrm>
        </p:spPr>
        <p:txBody>
          <a:bodyPr>
            <a:normAutofit/>
          </a:bodyPr>
          <a:lstStyle/>
          <a:p>
            <a:pPr algn="ctr"/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簡報完畢  敬請指教</a:t>
            </a:r>
            <a:endParaRPr lang="zh-TW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197915281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5999" y="288000"/>
            <a:ext cx="10463999" cy="430887"/>
          </a:xfrm>
        </p:spPr>
        <p:txBody>
          <a:bodyPr>
            <a:noAutofit/>
          </a:bodyPr>
          <a:lstStyle/>
          <a:p>
            <a:r>
              <a:rPr lang="zh-TW" altLang="en-US" dirty="0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聯準會升息壓力仍在 第三季財報強勁 台股挑戰五萬大關</a:t>
            </a:r>
          </a:p>
        </p:txBody>
      </p:sp>
      <p:sp>
        <p:nvSpPr>
          <p:cNvPr id="4" name="文字方塊 14">
            <a:extLst>
              <a:ext uri="{FF2B5EF4-FFF2-40B4-BE49-F238E27FC236}">
                <a16:creationId xmlns:a16="http://schemas.microsoft.com/office/drawing/2014/main" id="{9C99D567-D09F-0FEC-56C5-3BB1DD958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1" y="900000"/>
            <a:ext cx="10463999" cy="1440000"/>
          </a:xfrm>
          <a:prstGeom prst="rect">
            <a:avLst/>
          </a:prstGeom>
          <a:noFill/>
          <a:ln>
            <a:noFill/>
          </a:ln>
        </p:spPr>
        <p:txBody>
          <a:bodyPr lIns="36000" rIns="36000"/>
          <a:lstStyle>
            <a:lvl1pPr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Doradani Lt" charset="0"/>
                <a:ea typeface="文鼎細圓" charset="-120"/>
              </a:defRPr>
            </a:lvl1pPr>
            <a:lvl2pPr marL="742950" indent="-285750">
              <a:spcBef>
                <a:spcPct val="30000"/>
              </a:spcBef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Doradani Lt" charset="0"/>
                <a:ea typeface="文鼎細圓" charset="-120"/>
              </a:defRPr>
            </a:lvl2pPr>
            <a:lvl3pPr marL="1143000" indent="-228600"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3pPr>
            <a:lvl4pPr marL="1600200" indent="-228600">
              <a:spcBef>
                <a:spcPct val="30000"/>
              </a:spcBef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4pPr>
            <a:lvl5pPr marL="2057400" indent="-228600">
              <a:lnSpc>
                <a:spcPct val="120000"/>
              </a:lnSpc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聯準會升息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碼至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3.75%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至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4%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z="1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月外銷接單首破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千億美元，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YoY+71.4%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z="1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79232" y="2800000"/>
          <a:ext cx="5243000" cy="3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文字方塊 1">
            <a:extLst>
              <a:ext uri="{FF2B5EF4-FFF2-40B4-BE49-F238E27FC236}">
                <a16:creationId xmlns:a16="http://schemas.microsoft.com/office/drawing/2014/main" id="{86251B1F-8ACA-0C62-E227-25E855E1FB02}"/>
              </a:ext>
            </a:extLst>
          </p:cNvPr>
          <p:cNvSpPr txBox="1"/>
          <p:nvPr/>
        </p:nvSpPr>
        <p:spPr>
          <a:xfrm>
            <a:off x="1860592" y="2400000"/>
            <a:ext cx="2280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台灣外銷接單年增率</a:t>
            </a:r>
            <a:endParaRPr lang="zh-TW" altLang="en-US" dirty="0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16753" y="2800000"/>
          <a:ext cx="5243000" cy="36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文字方塊 1">
            <a:extLst>
              <a:ext uri="{FF2B5EF4-FFF2-40B4-BE49-F238E27FC236}">
                <a16:creationId xmlns:a16="http://schemas.microsoft.com/office/drawing/2014/main" id="{86251B1F-8ACA-0C62-E227-25E855E1FB02}"/>
              </a:ext>
            </a:extLst>
          </p:cNvPr>
          <p:cNvSpPr txBox="1"/>
          <p:nvPr/>
        </p:nvSpPr>
        <p:spPr>
          <a:xfrm>
            <a:off x="7063189" y="2400000"/>
            <a:ext cx="3350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標普500第三季盈餘預估年增率</a:t>
            </a:r>
            <a:endParaRPr lang="zh-TW" altLang="en-US" dirty="0"/>
          </a:p>
        </p:txBody>
      </p:sp>
      <p:sp>
        <p:nvSpPr>
          <p:cNvPr id="9" name="矩形 11">
            <a:extLst>
              <a:ext uri="{FF2B5EF4-FFF2-40B4-BE49-F238E27FC236}">
                <a16:creationId xmlns:a16="http://schemas.microsoft.com/office/drawing/2014/main" id="{D458EA3A-EC57-A4D3-E5FC-606D51CB141D}"/>
              </a:ext>
            </a:extLst>
          </p:cNvPr>
          <p:cNvSpPr/>
          <p:nvPr/>
        </p:nvSpPr>
        <p:spPr>
          <a:xfrm>
            <a:off x="8262257" y="6542809"/>
            <a:ext cx="3137741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TW" altLang="en-US" sz="14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資料來源：工商時報 2026.10.06製作</a:t>
            </a:r>
            <a:endParaRPr lang="zh-TW" altLang="en-US" sz="1400" dirty="0">
              <a:ea typeface="文鼎細圓" pitchFamily="49" charset="-120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5999" y="288000"/>
            <a:ext cx="10463999" cy="430887"/>
          </a:xfrm>
        </p:spPr>
        <p:txBody>
          <a:bodyPr>
            <a:noAutofit/>
          </a:bodyPr>
          <a:lstStyle/>
          <a:p>
            <a:r>
              <a:rPr lang="zh-TW" altLang="en-US" dirty="0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核心持股獲利維持高成長 FY27本益比降至16.2倍</a:t>
            </a:r>
          </a:p>
        </p:txBody>
      </p:sp>
      <p:sp>
        <p:nvSpPr>
          <p:cNvPr id="4" name="文字方塊 14">
            <a:extLst>
              <a:ext uri="{FF2B5EF4-FFF2-40B4-BE49-F238E27FC236}">
                <a16:creationId xmlns:a16="http://schemas.microsoft.com/office/drawing/2014/main" id="{9C99D567-D09F-0FEC-56C5-3BB1DD958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1" y="900000"/>
            <a:ext cx="10463999" cy="1440000"/>
          </a:xfrm>
          <a:prstGeom prst="rect">
            <a:avLst/>
          </a:prstGeom>
          <a:noFill/>
          <a:ln>
            <a:noFill/>
          </a:ln>
        </p:spPr>
        <p:txBody>
          <a:bodyPr lIns="36000" rIns="36000"/>
          <a:lstStyle>
            <a:lvl1pPr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Doradani Lt" charset="0"/>
                <a:ea typeface="文鼎細圓" charset="-120"/>
              </a:defRPr>
            </a:lvl1pPr>
            <a:lvl2pPr marL="742950" indent="-285750">
              <a:spcBef>
                <a:spcPct val="30000"/>
              </a:spcBef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Doradani Lt" charset="0"/>
                <a:ea typeface="文鼎細圓" charset="-120"/>
              </a:defRPr>
            </a:lvl2pPr>
            <a:lvl3pPr marL="1143000" indent="-228600"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3pPr>
            <a:lvl4pPr marL="1600200" indent="-228600">
              <a:spcBef>
                <a:spcPct val="30000"/>
              </a:spcBef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4pPr>
            <a:lvl5pPr marL="2057400" indent="-228600">
              <a:lnSpc>
                <a:spcPct val="120000"/>
              </a:lnSpc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FY26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核心持股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EPS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預估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YoY+74.4%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z="1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FY27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核心持股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EPS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預估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YoY+37.9%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z="1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79232" y="2800000"/>
          <a:ext cx="5243000" cy="3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文字方塊 1">
            <a:extLst>
              <a:ext uri="{FF2B5EF4-FFF2-40B4-BE49-F238E27FC236}">
                <a16:creationId xmlns:a16="http://schemas.microsoft.com/office/drawing/2014/main" id="{86251B1F-8ACA-0C62-E227-25E855E1FB02}"/>
              </a:ext>
            </a:extLst>
          </p:cNvPr>
          <p:cNvSpPr txBox="1"/>
          <p:nvPr/>
        </p:nvSpPr>
        <p:spPr>
          <a:xfrm>
            <a:off x="1782868" y="2400000"/>
            <a:ext cx="2435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各產業EPS成長率預估</a:t>
            </a:r>
            <a:endParaRPr lang="zh-TW" altLang="en-US" dirty="0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16753" y="2800000"/>
          <a:ext cx="5243000" cy="36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文字方塊 1">
            <a:extLst>
              <a:ext uri="{FF2B5EF4-FFF2-40B4-BE49-F238E27FC236}">
                <a16:creationId xmlns:a16="http://schemas.microsoft.com/office/drawing/2014/main" id="{86251B1F-8ACA-0C62-E227-25E855E1FB02}"/>
              </a:ext>
            </a:extLst>
          </p:cNvPr>
          <p:cNvSpPr txBox="1"/>
          <p:nvPr/>
        </p:nvSpPr>
        <p:spPr>
          <a:xfrm>
            <a:off x="7520389" y="2400000"/>
            <a:ext cx="2435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核心持股EPS季年增率</a:t>
            </a:r>
            <a:endParaRPr lang="zh-TW" altLang="en-US" dirty="0"/>
          </a:p>
        </p:txBody>
      </p:sp>
      <p:sp>
        <p:nvSpPr>
          <p:cNvPr id="9" name="矩形 11">
            <a:extLst>
              <a:ext uri="{FF2B5EF4-FFF2-40B4-BE49-F238E27FC236}">
                <a16:creationId xmlns:a16="http://schemas.microsoft.com/office/drawing/2014/main" id="{D458EA3A-EC57-A4D3-E5FC-606D51CB141D}"/>
              </a:ext>
            </a:extLst>
          </p:cNvPr>
          <p:cNvSpPr/>
          <p:nvPr/>
        </p:nvSpPr>
        <p:spPr>
          <a:xfrm>
            <a:off x="8262257" y="6542809"/>
            <a:ext cx="3137741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TW" altLang="en-US" sz="14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資料來源：富邦投顧 2026.10.06製作</a:t>
            </a:r>
            <a:endParaRPr lang="zh-TW" altLang="en-US" sz="1400" dirty="0">
              <a:ea typeface="文鼎細圓" pitchFamily="49" charset="-120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5999" y="288000"/>
            <a:ext cx="10463999" cy="430887"/>
          </a:xfrm>
        </p:spPr>
        <p:txBody>
          <a:bodyPr>
            <a:noAutofit/>
          </a:bodyPr>
          <a:lstStyle/>
          <a:p>
            <a:r>
              <a:rPr lang="zh-TW" altLang="en-US" dirty="0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先進製程供給吃緊 台積電訂單外溢成AI新亮點</a:t>
            </a:r>
          </a:p>
        </p:txBody>
      </p:sp>
      <p:sp>
        <p:nvSpPr>
          <p:cNvPr id="4" name="文字方塊 14">
            <a:extLst>
              <a:ext uri="{FF2B5EF4-FFF2-40B4-BE49-F238E27FC236}">
                <a16:creationId xmlns:a16="http://schemas.microsoft.com/office/drawing/2014/main" id="{9C99D567-D09F-0FEC-56C5-3BB1DD958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1" y="900000"/>
            <a:ext cx="10463999" cy="1440000"/>
          </a:xfrm>
          <a:prstGeom prst="rect">
            <a:avLst/>
          </a:prstGeom>
          <a:noFill/>
          <a:ln>
            <a:noFill/>
          </a:ln>
        </p:spPr>
        <p:txBody>
          <a:bodyPr lIns="36000" rIns="36000"/>
          <a:lstStyle>
            <a:lvl1pPr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Doradani Lt" charset="0"/>
                <a:ea typeface="文鼎細圓" charset="-120"/>
              </a:defRPr>
            </a:lvl1pPr>
            <a:lvl2pPr marL="742950" indent="-285750">
              <a:spcBef>
                <a:spcPct val="30000"/>
              </a:spcBef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Doradani Lt" charset="0"/>
                <a:ea typeface="文鼎細圓" charset="-120"/>
              </a:defRPr>
            </a:lvl2pPr>
            <a:lvl3pPr marL="1143000" indent="-228600"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3pPr>
            <a:lvl4pPr marL="1600200" indent="-228600">
              <a:spcBef>
                <a:spcPct val="30000"/>
              </a:spcBef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4pPr>
            <a:lvl5pPr marL="2057400" indent="-228600">
              <a:lnSpc>
                <a:spcPct val="120000"/>
              </a:lnSpc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台積電擴產仍難以滿足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2028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年前需求。</a:t>
            </a:r>
            <a:endParaRPr lang="en-US" altLang="zh-TW" dirty="0" sz="1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2027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年先進製程供需缺口預估達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15%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至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20%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z="1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79232" y="2800000"/>
          <a:ext cx="5243000" cy="3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文字方塊 1">
            <a:extLst>
              <a:ext uri="{FF2B5EF4-FFF2-40B4-BE49-F238E27FC236}">
                <a16:creationId xmlns:a16="http://schemas.microsoft.com/office/drawing/2014/main" id="{86251B1F-8ACA-0C62-E227-25E855E1FB02}"/>
              </a:ext>
            </a:extLst>
          </p:cNvPr>
          <p:cNvSpPr txBox="1"/>
          <p:nvPr/>
        </p:nvSpPr>
        <p:spPr>
          <a:xfrm>
            <a:off x="1997752" y="2400000"/>
            <a:ext cx="2005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台積電COUPE效益</a:t>
            </a:r>
            <a:endParaRPr lang="zh-TW" altLang="en-US" dirty="0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16753" y="2800000"/>
          <a:ext cx="5243000" cy="36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文字方塊 1">
            <a:extLst>
              <a:ext uri="{FF2B5EF4-FFF2-40B4-BE49-F238E27FC236}">
                <a16:creationId xmlns:a16="http://schemas.microsoft.com/office/drawing/2014/main" id="{86251B1F-8ACA-0C62-E227-25E855E1FB02}"/>
              </a:ext>
            </a:extLst>
          </p:cNvPr>
          <p:cNvSpPr txBox="1"/>
          <p:nvPr/>
        </p:nvSpPr>
        <p:spPr>
          <a:xfrm>
            <a:off x="7634689" y="2400000"/>
            <a:ext cx="2207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半導體EPS季年增率</a:t>
            </a:r>
            <a:endParaRPr lang="zh-TW" altLang="en-US" dirty="0"/>
          </a:p>
        </p:txBody>
      </p:sp>
      <p:sp>
        <p:nvSpPr>
          <p:cNvPr id="9" name="矩形 11">
            <a:extLst>
              <a:ext uri="{FF2B5EF4-FFF2-40B4-BE49-F238E27FC236}">
                <a16:creationId xmlns:a16="http://schemas.microsoft.com/office/drawing/2014/main" id="{D458EA3A-EC57-A4D3-E5FC-606D51CB141D}"/>
              </a:ext>
            </a:extLst>
          </p:cNvPr>
          <p:cNvSpPr/>
          <p:nvPr/>
        </p:nvSpPr>
        <p:spPr>
          <a:xfrm>
            <a:off x="8262257" y="6542809"/>
            <a:ext cx="3137741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TW" altLang="en-US" sz="14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資料來源：富邦投顧 2026.10.06製作</a:t>
            </a:r>
            <a:endParaRPr lang="zh-TW" altLang="en-US" sz="1400" dirty="0">
              <a:ea typeface="文鼎細圓" pitchFamily="49" charset="-120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5999" y="288000"/>
            <a:ext cx="10463999" cy="430887"/>
          </a:xfrm>
        </p:spPr>
        <p:txBody>
          <a:bodyPr>
            <a:noAutofit/>
          </a:bodyPr>
          <a:lstStyle/>
          <a:p>
            <a:r>
              <a:rPr lang="zh-TW" altLang="en-US" dirty="0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AI推論需求爆發 伺服器與機櫃出貨上修</a:t>
            </a:r>
          </a:p>
        </p:txBody>
      </p:sp>
      <p:sp>
        <p:nvSpPr>
          <p:cNvPr id="4" name="文字方塊 14">
            <a:extLst>
              <a:ext uri="{FF2B5EF4-FFF2-40B4-BE49-F238E27FC236}">
                <a16:creationId xmlns:a16="http://schemas.microsoft.com/office/drawing/2014/main" id="{9C99D567-D09F-0FEC-56C5-3BB1DD958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1" y="900000"/>
            <a:ext cx="10463999" cy="1440000"/>
          </a:xfrm>
          <a:prstGeom prst="rect">
            <a:avLst/>
          </a:prstGeom>
          <a:noFill/>
          <a:ln>
            <a:noFill/>
          </a:ln>
        </p:spPr>
        <p:txBody>
          <a:bodyPr lIns="36000" rIns="36000"/>
          <a:lstStyle>
            <a:lvl1pPr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Doradani Lt" charset="0"/>
                <a:ea typeface="文鼎細圓" charset="-120"/>
              </a:defRPr>
            </a:lvl1pPr>
            <a:lvl2pPr marL="742950" indent="-285750">
              <a:spcBef>
                <a:spcPct val="30000"/>
              </a:spcBef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Doradani Lt" charset="0"/>
                <a:ea typeface="文鼎細圓" charset="-120"/>
              </a:defRPr>
            </a:lvl2pPr>
            <a:lvl3pPr marL="1143000" indent="-228600"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3pPr>
            <a:lvl4pPr marL="1600200" indent="-228600">
              <a:spcBef>
                <a:spcPct val="30000"/>
              </a:spcBef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4pPr>
            <a:lvl5pPr marL="2057400" indent="-228600">
              <a:lnSpc>
                <a:spcPct val="120000"/>
              </a:lnSpc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伺服器出貨預估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YoY+64%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，滲透率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16%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z="1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四大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CSP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明年資本支出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YoY+60%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至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70%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z="1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79232" y="2800000"/>
          <a:ext cx="5243000" cy="3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文字方塊 1">
            <a:extLst>
              <a:ext uri="{FF2B5EF4-FFF2-40B4-BE49-F238E27FC236}">
                <a16:creationId xmlns:a16="http://schemas.microsoft.com/office/drawing/2014/main" id="{86251B1F-8ACA-0C62-E227-25E855E1FB02}"/>
              </a:ext>
            </a:extLst>
          </p:cNvPr>
          <p:cNvSpPr txBox="1"/>
          <p:nvPr/>
        </p:nvSpPr>
        <p:spPr>
          <a:xfrm>
            <a:off x="1261660" y="2400000"/>
            <a:ext cx="3478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2026年通用型伺服器出貨年增率</a:t>
            </a:r>
            <a:endParaRPr lang="zh-TW" altLang="en-US" dirty="0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16753" y="2800000"/>
          <a:ext cx="5243000" cy="36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文字方塊 1">
            <a:extLst>
              <a:ext uri="{FF2B5EF4-FFF2-40B4-BE49-F238E27FC236}">
                <a16:creationId xmlns:a16="http://schemas.microsoft.com/office/drawing/2014/main" id="{86251B1F-8ACA-0C62-E227-25E855E1FB02}"/>
              </a:ext>
            </a:extLst>
          </p:cNvPr>
          <p:cNvSpPr txBox="1"/>
          <p:nvPr/>
        </p:nvSpPr>
        <p:spPr>
          <a:xfrm>
            <a:off x="6994609" y="2400000"/>
            <a:ext cx="3487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2026年Nvidia AI機櫃出貨預估</a:t>
            </a:r>
            <a:endParaRPr lang="zh-TW" altLang="en-US" dirty="0"/>
          </a:p>
        </p:txBody>
      </p:sp>
      <p:sp>
        <p:nvSpPr>
          <p:cNvPr id="9" name="矩形 11">
            <a:extLst>
              <a:ext uri="{FF2B5EF4-FFF2-40B4-BE49-F238E27FC236}">
                <a16:creationId xmlns:a16="http://schemas.microsoft.com/office/drawing/2014/main" id="{D458EA3A-EC57-A4D3-E5FC-606D51CB141D}"/>
              </a:ext>
            </a:extLst>
          </p:cNvPr>
          <p:cNvSpPr/>
          <p:nvPr/>
        </p:nvSpPr>
        <p:spPr>
          <a:xfrm>
            <a:off x="8262257" y="6542809"/>
            <a:ext cx="3137741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TW" altLang="en-US" sz="14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資料來源：富邦投顧 2026.10.06製作</a:t>
            </a:r>
            <a:endParaRPr lang="zh-TW" altLang="en-US" sz="1400" dirty="0">
              <a:ea typeface="文鼎細圓" pitchFamily="49" charset="-120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5999" y="288000"/>
            <a:ext cx="10463999" cy="430887"/>
          </a:xfrm>
        </p:spPr>
        <p:txBody>
          <a:bodyPr>
            <a:noAutofit/>
          </a:bodyPr>
          <a:lstStyle/>
          <a:p>
            <a:r>
              <a:rPr lang="zh-TW" altLang="en-US" dirty="0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記憶體供給更趨吃緊 被動元件訂單出貨比創高</a:t>
            </a:r>
          </a:p>
        </p:txBody>
      </p:sp>
      <p:sp>
        <p:nvSpPr>
          <p:cNvPr id="4" name="文字方塊 14">
            <a:extLst>
              <a:ext uri="{FF2B5EF4-FFF2-40B4-BE49-F238E27FC236}">
                <a16:creationId xmlns:a16="http://schemas.microsoft.com/office/drawing/2014/main" id="{9C99D567-D09F-0FEC-56C5-3BB1DD958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1" y="900000"/>
            <a:ext cx="10463999" cy="1440000"/>
          </a:xfrm>
          <a:prstGeom prst="rect">
            <a:avLst/>
          </a:prstGeom>
          <a:noFill/>
          <a:ln>
            <a:noFill/>
          </a:ln>
        </p:spPr>
        <p:txBody>
          <a:bodyPr lIns="36000" rIns="36000"/>
          <a:lstStyle>
            <a:lvl1pPr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Doradani Lt" charset="0"/>
                <a:ea typeface="文鼎細圓" charset="-120"/>
              </a:defRPr>
            </a:lvl1pPr>
            <a:lvl2pPr marL="742950" indent="-285750">
              <a:spcBef>
                <a:spcPct val="30000"/>
              </a:spcBef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Doradani Lt" charset="0"/>
                <a:ea typeface="文鼎細圓" charset="-120"/>
              </a:defRPr>
            </a:lvl2pPr>
            <a:lvl3pPr marL="1143000" indent="-228600"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3pPr>
            <a:lvl4pPr marL="1600200" indent="-228600">
              <a:spcBef>
                <a:spcPct val="30000"/>
              </a:spcBef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4pPr>
            <a:lvl5pPr marL="2057400" indent="-228600">
              <a:lnSpc>
                <a:spcPct val="120000"/>
              </a:lnSpc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2027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DRAM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供需比預估降至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-4%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z="1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NAND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供需比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2027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年轉正，短缺逐漸緩解。</a:t>
            </a:r>
            <a:endParaRPr lang="en-US" altLang="zh-TW" dirty="0" sz="1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79232" y="2800000"/>
          <a:ext cx="5243000" cy="3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文字方塊 1">
            <a:extLst>
              <a:ext uri="{FF2B5EF4-FFF2-40B4-BE49-F238E27FC236}">
                <a16:creationId xmlns:a16="http://schemas.microsoft.com/office/drawing/2014/main" id="{86251B1F-8ACA-0C62-E227-25E855E1FB02}"/>
              </a:ext>
            </a:extLst>
          </p:cNvPr>
          <p:cNvSpPr txBox="1"/>
          <p:nvPr/>
        </p:nvSpPr>
        <p:spPr>
          <a:xfrm>
            <a:off x="1462828" y="2400000"/>
            <a:ext cx="3075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國際被動元件大廠BB ratio</a:t>
            </a:r>
            <a:endParaRPr lang="zh-TW" altLang="en-US" dirty="0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16753" y="2800000"/>
          <a:ext cx="5243000" cy="36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文字方塊 1">
            <a:extLst>
              <a:ext uri="{FF2B5EF4-FFF2-40B4-BE49-F238E27FC236}">
                <a16:creationId xmlns:a16="http://schemas.microsoft.com/office/drawing/2014/main" id="{86251B1F-8ACA-0C62-E227-25E855E1FB02}"/>
              </a:ext>
            </a:extLst>
          </p:cNvPr>
          <p:cNvSpPr txBox="1"/>
          <p:nvPr/>
        </p:nvSpPr>
        <p:spPr>
          <a:xfrm>
            <a:off x="7428949" y="2400000"/>
            <a:ext cx="2618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DRAM與NAND供需比預估</a:t>
            </a:r>
            <a:endParaRPr lang="zh-TW" altLang="en-US" dirty="0"/>
          </a:p>
        </p:txBody>
      </p:sp>
      <p:sp>
        <p:nvSpPr>
          <p:cNvPr id="9" name="矩形 11">
            <a:extLst>
              <a:ext uri="{FF2B5EF4-FFF2-40B4-BE49-F238E27FC236}">
                <a16:creationId xmlns:a16="http://schemas.microsoft.com/office/drawing/2014/main" id="{D458EA3A-EC57-A4D3-E5FC-606D51CB141D}"/>
              </a:ext>
            </a:extLst>
          </p:cNvPr>
          <p:cNvSpPr/>
          <p:nvPr/>
        </p:nvSpPr>
        <p:spPr>
          <a:xfrm>
            <a:off x="8262257" y="6542809"/>
            <a:ext cx="3137741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TW" altLang="en-US" sz="14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資料來源：富邦投顧 2026.10.06製作</a:t>
            </a:r>
            <a:endParaRPr lang="zh-TW" altLang="en-US" sz="1400" dirty="0">
              <a:ea typeface="文鼎細圓" pitchFamily="49" charset="-120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5999" y="288000"/>
            <a:ext cx="10463999" cy="430887"/>
          </a:xfrm>
        </p:spPr>
        <p:txBody>
          <a:bodyPr>
            <a:noAutofit/>
          </a:bodyPr>
          <a:lstStyle/>
          <a:p>
            <a:r>
              <a:rPr lang="zh-TW" altLang="en-US" dirty="0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零組件投資焦點 由漲價轉向規格升級</a:t>
            </a:r>
          </a:p>
        </p:txBody>
      </p:sp>
      <p:sp>
        <p:nvSpPr>
          <p:cNvPr id="4" name="文字方塊 14">
            <a:extLst>
              <a:ext uri="{FF2B5EF4-FFF2-40B4-BE49-F238E27FC236}">
                <a16:creationId xmlns:a16="http://schemas.microsoft.com/office/drawing/2014/main" id="{9C99D567-D09F-0FEC-56C5-3BB1DD958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1" y="900000"/>
            <a:ext cx="10463999" cy="1440000"/>
          </a:xfrm>
          <a:prstGeom prst="rect">
            <a:avLst/>
          </a:prstGeom>
          <a:noFill/>
          <a:ln>
            <a:noFill/>
          </a:ln>
        </p:spPr>
        <p:txBody>
          <a:bodyPr lIns="36000" rIns="36000"/>
          <a:lstStyle>
            <a:lvl1pPr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Doradani Lt" charset="0"/>
                <a:ea typeface="文鼎細圓" charset="-120"/>
              </a:defRPr>
            </a:lvl1pPr>
            <a:lvl2pPr marL="742950" indent="-285750">
              <a:spcBef>
                <a:spcPct val="30000"/>
              </a:spcBef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Doradani Lt" charset="0"/>
                <a:ea typeface="文鼎細圓" charset="-120"/>
              </a:defRPr>
            </a:lvl2pPr>
            <a:lvl3pPr marL="1143000" indent="-228600"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3pPr>
            <a:lvl4pPr marL="1600200" indent="-228600">
              <a:spcBef>
                <a:spcPct val="30000"/>
              </a:spcBef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4pPr>
            <a:lvl5pPr marL="2057400" indent="-228600">
              <a:lnSpc>
                <a:spcPct val="120000"/>
              </a:lnSpc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4Q26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起留意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CCL M8/M9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與高電壓電容升級。</a:t>
            </a:r>
            <a:endParaRPr lang="en-US" altLang="zh-TW" dirty="0" sz="1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單顆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PSU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功率由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5.5kW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提升至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18kW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以上。</a:t>
            </a:r>
            <a:endParaRPr lang="en-US" altLang="zh-TW" dirty="0" sz="1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79232" y="2800000"/>
          <a:ext cx="5243000" cy="3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文字方塊 1">
            <a:extLst>
              <a:ext uri="{FF2B5EF4-FFF2-40B4-BE49-F238E27FC236}">
                <a16:creationId xmlns:a16="http://schemas.microsoft.com/office/drawing/2014/main" id="{86251B1F-8ACA-0C62-E227-25E855E1FB02}"/>
              </a:ext>
            </a:extLst>
          </p:cNvPr>
          <p:cNvSpPr txBox="1"/>
          <p:nvPr/>
        </p:nvSpPr>
        <p:spPr>
          <a:xfrm>
            <a:off x="1526836" y="2400000"/>
            <a:ext cx="2947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4Q26 M7以上產品比重預估</a:t>
            </a:r>
            <a:endParaRPr lang="zh-TW" altLang="en-US" dirty="0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16753" y="2800000"/>
          <a:ext cx="5243000" cy="36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文字方塊 1">
            <a:extLst>
              <a:ext uri="{FF2B5EF4-FFF2-40B4-BE49-F238E27FC236}">
                <a16:creationId xmlns:a16="http://schemas.microsoft.com/office/drawing/2014/main" id="{86251B1F-8ACA-0C62-E227-25E855E1FB02}"/>
              </a:ext>
            </a:extLst>
          </p:cNvPr>
          <p:cNvSpPr txBox="1"/>
          <p:nvPr/>
        </p:nvSpPr>
        <p:spPr>
          <a:xfrm>
            <a:off x="7977589" y="2400000"/>
            <a:ext cx="152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單顆PSU功率</a:t>
            </a:r>
            <a:endParaRPr lang="zh-TW" altLang="en-US" dirty="0"/>
          </a:p>
        </p:txBody>
      </p:sp>
      <p:sp>
        <p:nvSpPr>
          <p:cNvPr id="9" name="矩形 11">
            <a:extLst>
              <a:ext uri="{FF2B5EF4-FFF2-40B4-BE49-F238E27FC236}">
                <a16:creationId xmlns:a16="http://schemas.microsoft.com/office/drawing/2014/main" id="{D458EA3A-EC57-A4D3-E5FC-606D51CB141D}"/>
              </a:ext>
            </a:extLst>
          </p:cNvPr>
          <p:cNvSpPr/>
          <p:nvPr/>
        </p:nvSpPr>
        <p:spPr>
          <a:xfrm>
            <a:off x="8262257" y="6542809"/>
            <a:ext cx="3137741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TW" altLang="en-US" sz="14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資料來源：富邦投顧 2026.10.06製作</a:t>
            </a:r>
            <a:endParaRPr lang="zh-TW" altLang="en-US" sz="1400" dirty="0">
              <a:ea typeface="文鼎細圓" pitchFamily="49" charset="-120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5999" y="288000"/>
            <a:ext cx="10463999" cy="430887"/>
          </a:xfrm>
        </p:spPr>
        <p:txBody>
          <a:bodyPr>
            <a:noAutofit/>
          </a:bodyPr>
          <a:lstStyle/>
          <a:p>
            <a:r>
              <a:rPr lang="zh-TW" altLang="en-US" dirty="0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電網升級需求強勁 變壓器供需長期失衡</a:t>
            </a:r>
          </a:p>
        </p:txBody>
      </p:sp>
      <p:sp>
        <p:nvSpPr>
          <p:cNvPr id="4" name="文字方塊 14">
            <a:extLst>
              <a:ext uri="{FF2B5EF4-FFF2-40B4-BE49-F238E27FC236}">
                <a16:creationId xmlns:a16="http://schemas.microsoft.com/office/drawing/2014/main" id="{9C99D567-D09F-0FEC-56C5-3BB1DD958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1" y="900000"/>
            <a:ext cx="10463999" cy="1440000"/>
          </a:xfrm>
          <a:prstGeom prst="rect">
            <a:avLst/>
          </a:prstGeom>
          <a:noFill/>
          <a:ln>
            <a:noFill/>
          </a:ln>
        </p:spPr>
        <p:txBody>
          <a:bodyPr lIns="36000" rIns="36000"/>
          <a:lstStyle>
            <a:lvl1pPr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Doradani Lt" charset="0"/>
                <a:ea typeface="文鼎細圓" charset="-120"/>
              </a:defRPr>
            </a:lvl1pPr>
            <a:lvl2pPr marL="742950" indent="-285750">
              <a:spcBef>
                <a:spcPct val="30000"/>
              </a:spcBef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Doradani Lt" charset="0"/>
                <a:ea typeface="文鼎細圓" charset="-120"/>
              </a:defRPr>
            </a:lvl2pPr>
            <a:lvl3pPr marL="1143000" indent="-228600"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3pPr>
            <a:lvl4pPr marL="1600200" indent="-228600">
              <a:spcBef>
                <a:spcPct val="30000"/>
              </a:spcBef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4pPr>
            <a:lvl5pPr marL="2057400" indent="-228600">
              <a:lnSpc>
                <a:spcPct val="120000"/>
              </a:lnSpc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變壓器價格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2021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年至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2026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月上漲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81%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z="1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變壓器交期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150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至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200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週，疫情前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40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至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50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週。</a:t>
            </a:r>
            <a:endParaRPr lang="en-US" altLang="zh-TW" dirty="0" sz="1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79232" y="2800000"/>
          <a:ext cx="5243000" cy="3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文字方塊 1">
            <a:extLst>
              <a:ext uri="{FF2B5EF4-FFF2-40B4-BE49-F238E27FC236}">
                <a16:creationId xmlns:a16="http://schemas.microsoft.com/office/drawing/2014/main" id="{86251B1F-8ACA-0C62-E227-25E855E1FB02}"/>
              </a:ext>
            </a:extLst>
          </p:cNvPr>
          <p:cNvSpPr txBox="1"/>
          <p:nvPr/>
        </p:nvSpPr>
        <p:spPr>
          <a:xfrm>
            <a:off x="1033060" y="2400000"/>
            <a:ext cx="3935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2019年至今美國變壓器需求累積成長</a:t>
            </a:r>
            <a:endParaRPr lang="zh-TW" altLang="en-US" dirty="0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16753" y="2800000"/>
          <a:ext cx="5243000" cy="36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文字方塊 1">
            <a:extLst>
              <a:ext uri="{FF2B5EF4-FFF2-40B4-BE49-F238E27FC236}">
                <a16:creationId xmlns:a16="http://schemas.microsoft.com/office/drawing/2014/main" id="{86251B1F-8ACA-0C62-E227-25E855E1FB02}"/>
              </a:ext>
            </a:extLst>
          </p:cNvPr>
          <p:cNvSpPr txBox="1"/>
          <p:nvPr/>
        </p:nvSpPr>
        <p:spPr>
          <a:xfrm>
            <a:off x="7140913" y="2400000"/>
            <a:ext cx="3194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資料中心耗電占全球用電比重</a:t>
            </a:r>
            <a:endParaRPr lang="zh-TW" altLang="en-US" dirty="0"/>
          </a:p>
        </p:txBody>
      </p:sp>
      <p:sp>
        <p:nvSpPr>
          <p:cNvPr id="9" name="矩形 11">
            <a:extLst>
              <a:ext uri="{FF2B5EF4-FFF2-40B4-BE49-F238E27FC236}">
                <a16:creationId xmlns:a16="http://schemas.microsoft.com/office/drawing/2014/main" id="{D458EA3A-EC57-A4D3-E5FC-606D51CB141D}"/>
              </a:ext>
            </a:extLst>
          </p:cNvPr>
          <p:cNvSpPr/>
          <p:nvPr/>
        </p:nvSpPr>
        <p:spPr>
          <a:xfrm>
            <a:off x="8262257" y="6542809"/>
            <a:ext cx="3137741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TW" altLang="en-US" sz="14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資料來源：富邦投顧 2026.10.06製作</a:t>
            </a:r>
            <a:endParaRPr lang="zh-TW" altLang="en-US" sz="1400" dirty="0">
              <a:ea typeface="文鼎細圓" pitchFamily="49" charset="-120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5999" y="288000"/>
            <a:ext cx="10463999" cy="430887"/>
          </a:xfrm>
        </p:spPr>
        <p:txBody>
          <a:bodyPr>
            <a:noAutofit/>
          </a:bodyPr>
          <a:lstStyle/>
          <a:p>
            <a:r>
              <a:rPr lang="zh-TW" altLang="en-US" dirty="0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傳產旺季 鋼鐵利差可望擴大 散裝需求結構好轉</a:t>
            </a:r>
          </a:p>
        </p:txBody>
      </p:sp>
      <p:sp>
        <p:nvSpPr>
          <p:cNvPr id="4" name="文字方塊 14">
            <a:extLst>
              <a:ext uri="{FF2B5EF4-FFF2-40B4-BE49-F238E27FC236}">
                <a16:creationId xmlns:a16="http://schemas.microsoft.com/office/drawing/2014/main" id="{9C99D567-D09F-0FEC-56C5-3BB1DD958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1" y="900000"/>
            <a:ext cx="10463999" cy="1440000"/>
          </a:xfrm>
          <a:prstGeom prst="rect">
            <a:avLst/>
          </a:prstGeom>
          <a:noFill/>
          <a:ln>
            <a:noFill/>
          </a:ln>
        </p:spPr>
        <p:txBody>
          <a:bodyPr lIns="36000" rIns="36000"/>
          <a:lstStyle>
            <a:lvl1pPr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Doradani Lt" charset="0"/>
                <a:ea typeface="文鼎細圓" charset="-120"/>
              </a:defRPr>
            </a:lvl1pPr>
            <a:lvl2pPr marL="742950" indent="-285750">
              <a:spcBef>
                <a:spcPct val="30000"/>
              </a:spcBef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Doradani Lt" charset="0"/>
                <a:ea typeface="文鼎細圓" charset="-120"/>
              </a:defRPr>
            </a:lvl2pPr>
            <a:lvl3pPr marL="1143000" indent="-228600"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3pPr>
            <a:lvl4pPr marL="1600200" indent="-228600">
              <a:spcBef>
                <a:spcPct val="30000"/>
              </a:spcBef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4pPr>
            <a:lvl5pPr marL="2057400" indent="-228600">
              <a:lnSpc>
                <a:spcPct val="120000"/>
              </a:lnSpc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中鋼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月營業利益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7.9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億元，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MoM+227%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z="1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預估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11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月盤價調漲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500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至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1000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噸。</a:t>
            </a:r>
            <a:endParaRPr lang="en-US" altLang="zh-TW" dirty="0" sz="1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79232" y="2800000"/>
          <a:ext cx="5243000" cy="3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文字方塊 1">
            <a:extLst>
              <a:ext uri="{FF2B5EF4-FFF2-40B4-BE49-F238E27FC236}">
                <a16:creationId xmlns:a16="http://schemas.microsoft.com/office/drawing/2014/main" id="{86251B1F-8ACA-0C62-E227-25E855E1FB02}"/>
              </a:ext>
            </a:extLst>
          </p:cNvPr>
          <p:cNvSpPr txBox="1"/>
          <p:nvPr/>
        </p:nvSpPr>
        <p:spPr>
          <a:xfrm>
            <a:off x="1375960" y="2400000"/>
            <a:ext cx="3249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2026年散裝航運需求成長預估</a:t>
            </a:r>
            <a:endParaRPr lang="zh-TW" altLang="en-US" dirty="0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16753" y="2800000"/>
          <a:ext cx="5243000" cy="36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文字方塊 1">
            <a:extLst>
              <a:ext uri="{FF2B5EF4-FFF2-40B4-BE49-F238E27FC236}">
                <a16:creationId xmlns:a16="http://schemas.microsoft.com/office/drawing/2014/main" id="{86251B1F-8ACA-0C62-E227-25E855E1FB02}"/>
              </a:ext>
            </a:extLst>
          </p:cNvPr>
          <p:cNvSpPr txBox="1"/>
          <p:nvPr/>
        </p:nvSpPr>
        <p:spPr>
          <a:xfrm>
            <a:off x="7826713" y="2400000"/>
            <a:ext cx="1823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中鋼營業利潤率</a:t>
            </a:r>
            <a:endParaRPr lang="zh-TW" altLang="en-US" dirty="0"/>
          </a:p>
        </p:txBody>
      </p:sp>
      <p:sp>
        <p:nvSpPr>
          <p:cNvPr id="9" name="矩形 11">
            <a:extLst>
              <a:ext uri="{FF2B5EF4-FFF2-40B4-BE49-F238E27FC236}">
                <a16:creationId xmlns:a16="http://schemas.microsoft.com/office/drawing/2014/main" id="{D458EA3A-EC57-A4D3-E5FC-606D51CB141D}"/>
              </a:ext>
            </a:extLst>
          </p:cNvPr>
          <p:cNvSpPr/>
          <p:nvPr/>
        </p:nvSpPr>
        <p:spPr>
          <a:xfrm>
            <a:off x="8262257" y="6542809"/>
            <a:ext cx="3137741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TW" altLang="en-US" sz="14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資料來源：富邦投顧 2026.10.06製作</a:t>
            </a:r>
            <a:endParaRPr lang="zh-TW" altLang="en-US" sz="1400" dirty="0">
              <a:ea typeface="文鼎細圓" pitchFamily="49" charset="-120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5999" y="288000"/>
            <a:ext cx="10463999" cy="430887"/>
          </a:xfrm>
        </p:spPr>
        <p:txBody>
          <a:bodyPr>
            <a:noAutofit/>
          </a:bodyPr>
          <a:lstStyle/>
          <a:p>
            <a:r>
              <a:rPr lang="zh-TW" altLang="en-US" dirty="0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工控接單暢旺 貨櫃運價進入淡季</a:t>
            </a:r>
          </a:p>
        </p:txBody>
      </p:sp>
      <p:sp>
        <p:nvSpPr>
          <p:cNvPr id="4" name="文字方塊 14">
            <a:extLst>
              <a:ext uri="{FF2B5EF4-FFF2-40B4-BE49-F238E27FC236}">
                <a16:creationId xmlns:a16="http://schemas.microsoft.com/office/drawing/2014/main" id="{9C99D567-D09F-0FEC-56C5-3BB1DD958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1" y="900000"/>
            <a:ext cx="10463999" cy="1440000"/>
          </a:xfrm>
          <a:prstGeom prst="rect">
            <a:avLst/>
          </a:prstGeom>
          <a:noFill/>
          <a:ln>
            <a:noFill/>
          </a:ln>
        </p:spPr>
        <p:txBody>
          <a:bodyPr lIns="36000" rIns="36000"/>
          <a:lstStyle>
            <a:lvl1pPr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Doradani Lt" charset="0"/>
                <a:ea typeface="文鼎細圓" charset="-120"/>
              </a:defRPr>
            </a:lvl1pPr>
            <a:lvl2pPr marL="742950" indent="-285750">
              <a:spcBef>
                <a:spcPct val="30000"/>
              </a:spcBef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Doradani Lt" charset="0"/>
                <a:ea typeface="文鼎細圓" charset="-120"/>
              </a:defRPr>
            </a:lvl2pPr>
            <a:lvl3pPr marL="1143000" indent="-228600"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3pPr>
            <a:lvl4pPr marL="1600200" indent="-228600">
              <a:spcBef>
                <a:spcPct val="30000"/>
              </a:spcBef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4pPr>
            <a:lvl5pPr marL="2057400" indent="-228600">
              <a:lnSpc>
                <a:spcPct val="120000"/>
              </a:lnSpc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研華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2Q26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接單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YoY+92.4%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，續創新高。</a:t>
            </a:r>
            <a:endParaRPr lang="en-US" altLang="zh-TW" dirty="0" sz="1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預估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月中旬貨櫃運價下跌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10%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左右。</a:t>
            </a:r>
            <a:endParaRPr lang="en-US" altLang="zh-TW" dirty="0" sz="1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79232" y="2800000"/>
          <a:ext cx="5243000" cy="3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文字方塊 1">
            <a:extLst>
              <a:ext uri="{FF2B5EF4-FFF2-40B4-BE49-F238E27FC236}">
                <a16:creationId xmlns:a16="http://schemas.microsoft.com/office/drawing/2014/main" id="{86251B1F-8ACA-0C62-E227-25E855E1FB02}"/>
              </a:ext>
            </a:extLst>
          </p:cNvPr>
          <p:cNvSpPr txBox="1"/>
          <p:nvPr/>
        </p:nvSpPr>
        <p:spPr>
          <a:xfrm>
            <a:off x="2148628" y="2400000"/>
            <a:ext cx="1704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研華BB ratio</a:t>
            </a:r>
            <a:endParaRPr lang="zh-TW" altLang="en-US" dirty="0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16753" y="2800000"/>
          <a:ext cx="5243000" cy="36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文字方塊 1">
            <a:extLst>
              <a:ext uri="{FF2B5EF4-FFF2-40B4-BE49-F238E27FC236}">
                <a16:creationId xmlns:a16="http://schemas.microsoft.com/office/drawing/2014/main" id="{86251B1F-8ACA-0C62-E227-25E855E1FB02}"/>
              </a:ext>
            </a:extLst>
          </p:cNvPr>
          <p:cNvSpPr txBox="1"/>
          <p:nvPr/>
        </p:nvSpPr>
        <p:spPr>
          <a:xfrm>
            <a:off x="7378657" y="2400000"/>
            <a:ext cx="2719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SCFI指數9月24日漲跌幅</a:t>
            </a:r>
            <a:endParaRPr lang="zh-TW" altLang="en-US" dirty="0"/>
          </a:p>
        </p:txBody>
      </p:sp>
      <p:sp>
        <p:nvSpPr>
          <p:cNvPr id="9" name="矩形 11">
            <a:extLst>
              <a:ext uri="{FF2B5EF4-FFF2-40B4-BE49-F238E27FC236}">
                <a16:creationId xmlns:a16="http://schemas.microsoft.com/office/drawing/2014/main" id="{D458EA3A-EC57-A4D3-E5FC-606D51CB141D}"/>
              </a:ext>
            </a:extLst>
          </p:cNvPr>
          <p:cNvSpPr/>
          <p:nvPr/>
        </p:nvSpPr>
        <p:spPr>
          <a:xfrm>
            <a:off x="8262257" y="6542809"/>
            <a:ext cx="3137741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TW" altLang="en-US" sz="14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資料來源：富邦投顧 2026.10.06製作</a:t>
            </a:r>
            <a:endParaRPr lang="zh-TW" altLang="en-US" sz="1400" dirty="0">
              <a:ea typeface="文鼎細圓" pitchFamily="49" charset="-120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5999" y="288000"/>
            <a:ext cx="10463999" cy="430887"/>
          </a:xfrm>
        </p:spPr>
        <p:txBody>
          <a:bodyPr>
            <a:noAutofit/>
          </a:bodyPr>
          <a:lstStyle/>
          <a:p>
            <a:r>
              <a:rPr lang="zh-TW" altLang="en-US" dirty="0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金控三大業務高成長 提前布局2027除息行情</a:t>
            </a:r>
          </a:p>
        </p:txBody>
      </p:sp>
      <p:sp>
        <p:nvSpPr>
          <p:cNvPr id="4" name="文字方塊 14">
            <a:extLst>
              <a:ext uri="{FF2B5EF4-FFF2-40B4-BE49-F238E27FC236}">
                <a16:creationId xmlns:a16="http://schemas.microsoft.com/office/drawing/2014/main" id="{9C99D567-D09F-0FEC-56C5-3BB1DD958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1" y="900000"/>
            <a:ext cx="10463999" cy="1440000"/>
          </a:xfrm>
          <a:prstGeom prst="rect">
            <a:avLst/>
          </a:prstGeom>
          <a:noFill/>
          <a:ln>
            <a:noFill/>
          </a:ln>
        </p:spPr>
        <p:txBody>
          <a:bodyPr lIns="36000" rIns="36000"/>
          <a:lstStyle>
            <a:lvl1pPr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Doradani Lt" charset="0"/>
                <a:ea typeface="文鼎細圓" charset="-120"/>
              </a:defRPr>
            </a:lvl1pPr>
            <a:lvl2pPr marL="742950" indent="-285750">
              <a:spcBef>
                <a:spcPct val="30000"/>
              </a:spcBef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Doradani Lt" charset="0"/>
                <a:ea typeface="文鼎細圓" charset="-120"/>
              </a:defRPr>
            </a:lvl2pPr>
            <a:lvl3pPr marL="1143000" indent="-228600"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3pPr>
            <a:lvl4pPr marL="1600200" indent="-228600">
              <a:spcBef>
                <a:spcPct val="30000"/>
              </a:spcBef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4pPr>
            <a:lvl5pPr marL="2057400" indent="-228600">
              <a:lnSpc>
                <a:spcPct val="120000"/>
              </a:lnSpc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金控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8M26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獲利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5,789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億，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YoY+59.1%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z="1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銀行業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2026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年放款上看雙位數成長。</a:t>
            </a:r>
            <a:endParaRPr lang="en-US" altLang="zh-TW" dirty="0" sz="1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79232" y="2800000"/>
          <a:ext cx="5243000" cy="3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文字方塊 1">
            <a:extLst>
              <a:ext uri="{FF2B5EF4-FFF2-40B4-BE49-F238E27FC236}">
                <a16:creationId xmlns:a16="http://schemas.microsoft.com/office/drawing/2014/main" id="{86251B1F-8ACA-0C62-E227-25E855E1FB02}"/>
              </a:ext>
            </a:extLst>
          </p:cNvPr>
          <p:cNvSpPr txBox="1"/>
          <p:nvPr/>
        </p:nvSpPr>
        <p:spPr>
          <a:xfrm>
            <a:off x="1668568" y="2400000"/>
            <a:ext cx="2664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金融類股EPS成長率預估</a:t>
            </a:r>
            <a:endParaRPr lang="zh-TW" altLang="en-US" dirty="0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16753" y="2800000"/>
          <a:ext cx="5243000" cy="36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文字方塊 1">
            <a:extLst>
              <a:ext uri="{FF2B5EF4-FFF2-40B4-BE49-F238E27FC236}">
                <a16:creationId xmlns:a16="http://schemas.microsoft.com/office/drawing/2014/main" id="{86251B1F-8ACA-0C62-E227-25E855E1FB02}"/>
              </a:ext>
            </a:extLst>
          </p:cNvPr>
          <p:cNvSpPr txBox="1"/>
          <p:nvPr/>
        </p:nvSpPr>
        <p:spPr>
          <a:xfrm>
            <a:off x="7748989" y="2400000"/>
            <a:ext cx="19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金融類股ROE預估</a:t>
            </a:r>
            <a:endParaRPr lang="zh-TW" altLang="en-US" dirty="0"/>
          </a:p>
        </p:txBody>
      </p:sp>
      <p:sp>
        <p:nvSpPr>
          <p:cNvPr id="9" name="矩形 11">
            <a:extLst>
              <a:ext uri="{FF2B5EF4-FFF2-40B4-BE49-F238E27FC236}">
                <a16:creationId xmlns:a16="http://schemas.microsoft.com/office/drawing/2014/main" id="{D458EA3A-EC57-A4D3-E5FC-606D51CB141D}"/>
              </a:ext>
            </a:extLst>
          </p:cNvPr>
          <p:cNvSpPr/>
          <p:nvPr/>
        </p:nvSpPr>
        <p:spPr>
          <a:xfrm>
            <a:off x="8262257" y="6542809"/>
            <a:ext cx="3137741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TW" altLang="en-US" sz="14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資料來源：富邦投顧 2026.10.06製作</a:t>
            </a:r>
            <a:endParaRPr lang="zh-TW" altLang="en-US" sz="1400" dirty="0">
              <a:ea typeface="文鼎細圓" pitchFamily="49" charset="-120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5999" y="288000"/>
            <a:ext cx="10463999" cy="430887"/>
          </a:xfrm>
        </p:spPr>
        <p:txBody>
          <a:bodyPr>
            <a:noAutofit/>
          </a:bodyPr>
          <a:lstStyle/>
          <a:p>
            <a:r>
              <a:rPr lang="zh-TW" altLang="en-US" dirty="0" sz="28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投資組合偏重科技股 台積電權重28%</a:t>
            </a:r>
          </a:p>
        </p:txBody>
      </p:sp>
      <p:sp>
        <p:nvSpPr>
          <p:cNvPr id="4" name="文字方塊 14">
            <a:extLst>
              <a:ext uri="{FF2B5EF4-FFF2-40B4-BE49-F238E27FC236}">
                <a16:creationId xmlns:a16="http://schemas.microsoft.com/office/drawing/2014/main" id="{9C99D567-D09F-0FEC-56C5-3BB1DD958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001" y="900000"/>
            <a:ext cx="10463999" cy="1440000"/>
          </a:xfrm>
          <a:prstGeom prst="rect">
            <a:avLst/>
          </a:prstGeom>
          <a:noFill/>
          <a:ln>
            <a:noFill/>
          </a:ln>
        </p:spPr>
        <p:txBody>
          <a:bodyPr lIns="36000" rIns="36000"/>
          <a:lstStyle>
            <a:lvl1pPr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 sz="2600">
                <a:solidFill>
                  <a:schemeClr val="tx1"/>
                </a:solidFill>
                <a:latin typeface="Doradani Lt" charset="0"/>
                <a:ea typeface="文鼎細圓" charset="-120"/>
              </a:defRPr>
            </a:lvl1pPr>
            <a:lvl2pPr marL="742950" indent="-285750">
              <a:spcBef>
                <a:spcPct val="30000"/>
              </a:spcBef>
              <a:buSzPct val="70000"/>
              <a:buFont typeface="Wingdings" panose="05000000000000000000" pitchFamily="2" charset="2"/>
              <a:buChar char="l"/>
              <a:defRPr kumimoji="1" sz="2200">
                <a:solidFill>
                  <a:schemeClr val="tx1"/>
                </a:solidFill>
                <a:latin typeface="Doradani Lt" charset="0"/>
                <a:ea typeface="文鼎細圓" charset="-120"/>
              </a:defRPr>
            </a:lvl2pPr>
            <a:lvl3pPr marL="1143000" indent="-228600">
              <a:spcBef>
                <a:spcPct val="30000"/>
              </a:spcBef>
              <a:buClr>
                <a:srgbClr val="00829B"/>
              </a:buClr>
              <a:buSzPct val="7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3pPr>
            <a:lvl4pPr marL="1600200" indent="-228600">
              <a:spcBef>
                <a:spcPct val="30000"/>
              </a:spcBef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Doradani Lt" charset="0"/>
                <a:ea typeface="文鼎細圓" charset="-120"/>
              </a:defRPr>
            </a:lvl4pPr>
            <a:lvl5pPr marL="2057400" indent="-228600">
              <a:lnSpc>
                <a:spcPct val="120000"/>
              </a:lnSpc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華康細圓體(P)" pitchFamily="34" charset="-12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科技股占投資組合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82%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，市場權重</a:t>
            </a:r>
            <a:r>
              <a:rPr lang="en-US" altLang="zh-TW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80.6%</a:t>
            </a: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dirty="0" sz="1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 sz="1800">
                <a:latin typeface="微軟正黑體" panose="020B0604030504040204" pitchFamily="34" charset="-120"/>
                <a:ea typeface="微軟正黑體" panose="020B0604030504040204" pitchFamily="34" charset="-120"/>
              </a:rPr>
              <a:t>本期新增華城、華通、致茂、南亞科。</a:t>
            </a:r>
            <a:endParaRPr lang="en-US" altLang="zh-TW" dirty="0" sz="1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379232" y="2800000"/>
          <a:ext cx="5243000" cy="3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文字方塊 1">
            <a:extLst>
              <a:ext uri="{FF2B5EF4-FFF2-40B4-BE49-F238E27FC236}">
                <a16:creationId xmlns:a16="http://schemas.microsoft.com/office/drawing/2014/main" id="{86251B1F-8ACA-0C62-E227-25E855E1FB02}"/>
              </a:ext>
            </a:extLst>
          </p:cNvPr>
          <p:cNvSpPr txBox="1"/>
          <p:nvPr/>
        </p:nvSpPr>
        <p:spPr>
          <a:xfrm>
            <a:off x="1860592" y="2400000"/>
            <a:ext cx="2280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投資組合與市場權重</a:t>
            </a:r>
            <a:endParaRPr lang="zh-TW" altLang="en-US" dirty="0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16753" y="2800000"/>
          <a:ext cx="5243000" cy="36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文字方塊 1">
            <a:extLst>
              <a:ext uri="{FF2B5EF4-FFF2-40B4-BE49-F238E27FC236}">
                <a16:creationId xmlns:a16="http://schemas.microsoft.com/office/drawing/2014/main" id="{86251B1F-8ACA-0C62-E227-25E855E1FB02}"/>
              </a:ext>
            </a:extLst>
          </p:cNvPr>
          <p:cNvSpPr txBox="1"/>
          <p:nvPr/>
        </p:nvSpPr>
        <p:spPr>
          <a:xfrm>
            <a:off x="7712413" y="2400000"/>
            <a:ext cx="2051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Calibri" panose="020F0502020204030204" pitchFamily="34" charset="0"/>
              </a:rPr>
              <a:t>各產業本益比預估</a:t>
            </a:r>
            <a:endParaRPr lang="zh-TW" altLang="en-US" dirty="0"/>
          </a:p>
        </p:txBody>
      </p:sp>
      <p:sp>
        <p:nvSpPr>
          <p:cNvPr id="9" name="矩形 11">
            <a:extLst>
              <a:ext uri="{FF2B5EF4-FFF2-40B4-BE49-F238E27FC236}">
                <a16:creationId xmlns:a16="http://schemas.microsoft.com/office/drawing/2014/main" id="{D458EA3A-EC57-A4D3-E5FC-606D51CB141D}"/>
              </a:ext>
            </a:extLst>
          </p:cNvPr>
          <p:cNvSpPr/>
          <p:nvPr/>
        </p:nvSpPr>
        <p:spPr>
          <a:xfrm>
            <a:off x="8262257" y="6542809"/>
            <a:ext cx="3137741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TW" altLang="en-US" sz="14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資料來源：富邦投顧 2026.10.06製作</a:t>
            </a:r>
            <a:endParaRPr lang="zh-TW" altLang="en-US" sz="1400" dirty="0">
              <a:ea typeface="文鼎細圓" pitchFamily="49" charset="-120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CDA2BE62921FA742ADA0DADE08321945" ma:contentTypeVersion="5" ma:contentTypeDescription="建立新的文件。" ma:contentTypeScope="" ma:versionID="8ea0477f4d9cc60e73b20821975a2002">
  <xsd:schema xmlns:xsd="http://www.w3.org/2001/XMLSchema" xmlns:xs="http://www.w3.org/2001/XMLSchema" xmlns:p="http://schemas.microsoft.com/office/2006/metadata/properties" xmlns:ns3="7a210efe-e13b-48d0-82b5-9db509c5c34f" targetNamespace="http://schemas.microsoft.com/office/2006/metadata/properties" ma:root="true" ma:fieldsID="d69d457693119ddc26b28fe05a827531" ns3:_="">
    <xsd:import namespace="7a210efe-e13b-48d0-82b5-9db509c5c34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10efe-e13b-48d0-82b5-9db509c5c34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a210efe-e13b-48d0-82b5-9db509c5c34f" xsi:nil="true"/>
  </documentManagement>
</p:properties>
</file>

<file path=customXml/itemProps1.xml><?xml version="1.0" encoding="utf-8"?>
<ds:datastoreItem xmlns:ds="http://schemas.openxmlformats.org/officeDocument/2006/customXml" ds:itemID="{0D76C915-45E9-423C-B85E-FD41D790CCA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75D1F7C-0AFA-4463-810D-481204E1E7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210efe-e13b-48d0-82b5-9db509c5c3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E7C95F-047A-4BD1-9959-0CED22F39785}">
  <ds:schemaRefs>
    <ds:schemaRef ds:uri="7a210efe-e13b-48d0-82b5-9db509c5c34f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2579</TotalTime>
  <Words>110</Words>
  <Application>Microsoft Office PowerPoint</Application>
  <PresentationFormat>寬螢幕</PresentationFormat>
  <Paragraphs>14</Paragraphs>
  <Slides>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文鼎細圓</vt:lpstr>
      <vt:lpstr>微軟正黑體</vt:lpstr>
      <vt:lpstr>Aptos</vt:lpstr>
      <vt:lpstr>Aptos Display</vt:lpstr>
      <vt:lpstr>Arial</vt:lpstr>
      <vt:lpstr>Office 佈景主題</vt:lpstr>
      <vt:lpstr>PowerPoint 簡報</vt:lpstr>
      <vt:lpstr>經濟展望佳 股市創新高 成交量倍數放大 </vt:lpstr>
      <vt:lpstr>簡報完畢  敬請指教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黃大仁</dc:creator>
  <cp:lastModifiedBy>黃大仁</cp:lastModifiedBy>
  <cp:revision>64</cp:revision>
  <dcterms:created xsi:type="dcterms:W3CDTF">2026-03-30T08:00:42Z</dcterms:created>
  <dcterms:modified xsi:type="dcterms:W3CDTF">2026-09-30T08:07:34Z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0x010100CDA2BE62921FA742ADA0DADE08321945</vt:lpwstr>
  </property>
</Properties>
</file>