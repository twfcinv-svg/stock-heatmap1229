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_0_Image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28800" y="2148840"/>
            <a:ext cx="85340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07BB8"/>
                </a:solidFill>
              </a:rPr>
              <a:t>10月台股產業投資策略</a:t>
            </a:r>
          </a:p>
        </p:txBody>
      </p:sp>
      <p:sp>
        <p:nvSpPr>
          <p:cNvPr id="4" name="Rectangle 3"/>
          <p:cNvSpPr/>
          <p:nvPr/>
        </p:nvSpPr>
        <p:spPr>
          <a:xfrm>
            <a:off x="3968496" y="2926080"/>
            <a:ext cx="4251960" cy="18288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3154680"/>
            <a:ext cx="85340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000000"/>
                </a:solidFill>
              </a:rPr>
              <a:t>富邦投顧 廖顯毅、劉立中、黃大仁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3364992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007BB8"/>
                </a:solidFill>
              </a:rPr>
              <a:t>2026.09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6556248"/>
            <a:ext cx="5486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>
                <a:solidFill>
                  <a:srgbClr val="FFFFFF"/>
                </a:solidFill>
                <a:latin typeface="Noto Sans CJK TC"/>
              </a:rPr>
              <a:t>本文內容僅供參考之用，本公司已審慎研究並提供合理依據，恕不負任何法律責任亦不作任何保證。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56248"/>
            <a:ext cx="36576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50" b="1">
                <a:solidFill>
                  <a:srgbClr val="1E293B"/>
                </a:solidFill>
                <a:latin typeface="Noto Sans CJK TC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0" y="6547104"/>
            <a:ext cx="36576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50" b="1">
                <a:solidFill>
                  <a:srgbClr val="007BB8"/>
                </a:solidFill>
                <a:latin typeface="Noto Sans CJK TC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2_0_Image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p2_1_Image4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01168"/>
            <a:ext cx="521207" cy="53035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87552" y="228600"/>
            <a:ext cx="1078992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>
                <a:solidFill>
                  <a:srgbClr val="007BB8"/>
                </a:solidFill>
                <a:latin typeface="Noto Sans CJK TC"/>
              </a:rPr>
              <a:t>挑戰五萬大關 Fed再次升息 預期Q3財報強勁可抵消不利因素</a:t>
            </a:r>
          </a:p>
        </p:txBody>
      </p:sp>
      <p:sp>
        <p:nvSpPr>
          <p:cNvPr id="5" name="Rectangle 4"/>
          <p:cNvSpPr/>
          <p:nvPr/>
        </p:nvSpPr>
        <p:spPr>
          <a:xfrm>
            <a:off x="987552" y="685800"/>
            <a:ext cx="10863072" cy="18288"/>
          </a:xfrm>
          <a:prstGeom prst="rect">
            <a:avLst/>
          </a:prstGeom>
          <a:solidFill>
            <a:srgbClr val="008B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868680"/>
            <a:ext cx="1097280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007BB8"/>
                </a:solidFill>
                <a:latin typeface="Noto Sans CJK TC"/>
              </a:rPr>
              <a:t>• </a:t>
            </a:r>
            <a:r>
              <a:rPr sz="1150" b="0">
                <a:solidFill>
                  <a:srgbClr val="1E293B"/>
                </a:solidFill>
                <a:latin typeface="Noto Sans CJK TC"/>
              </a:rPr>
              <a:t>預期Google、Meta等自研方案將尋求如Intel、聯電等非台積電體系產能支援，並帶動相關設備與材料需求，此類供應鏈的關鍵技術環節自主性更高，一旦外溢需求化為實質業績動能，獲利成長性將更強勁，預期可望為台灣AI供應鏈帶來另一個推升景氣的強力動能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" y="2176272"/>
            <a:ext cx="5532120" cy="4187952"/>
          </a:xfrm>
          <a:prstGeom prst="roundRect">
            <a:avLst/>
          </a:prstGeom>
          <a:solidFill>
            <a:srgbClr val="FFFFFF"/>
          </a:solidFill>
          <a:ln>
            <a:solidFill>
              <a:srgbClr val="CC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hart_s2_portfoli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2240280"/>
            <a:ext cx="5394960" cy="4059936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217920" y="2176272"/>
            <a:ext cx="5532120" cy="4187952"/>
          </a:xfrm>
          <a:prstGeom prst="roundRect">
            <a:avLst/>
          </a:prstGeom>
          <a:solidFill>
            <a:srgbClr val="FFFFFF"/>
          </a:solidFill>
          <a:ln>
            <a:solidFill>
              <a:srgbClr val="CC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hart_s2_ep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1928" y="2240280"/>
            <a:ext cx="5394960" cy="405993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468880" y="6556248"/>
            <a:ext cx="5486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>
                <a:solidFill>
                  <a:srgbClr val="FFFFFF"/>
                </a:solidFill>
                <a:latin typeface="Noto Sans CJK TC"/>
              </a:rPr>
              <a:t>本文內容僅供參考之用，本公司已審慎研究並提供合理依據，恕不負任何法律責任亦不作任何保證。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6556248"/>
            <a:ext cx="36576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50" b="1">
                <a:solidFill>
                  <a:srgbClr val="1E293B"/>
                </a:solidFill>
                <a:latin typeface="Noto Sans CJK TC"/>
              </a:rPr>
              <a:t>資料來源：富邦投顧，2026.9.30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04320" y="6547104"/>
            <a:ext cx="36576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50" b="1">
                <a:solidFill>
                  <a:srgbClr val="007BB8"/>
                </a:solidFill>
                <a:latin typeface="Noto Sans CJK TC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2_0_Image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p2_1_Image4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01168"/>
            <a:ext cx="521207" cy="53035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87552" y="228600"/>
            <a:ext cx="1078992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>
                <a:solidFill>
                  <a:srgbClr val="007BB8"/>
                </a:solidFill>
                <a:latin typeface="Noto Sans CJK TC"/>
              </a:rPr>
              <a:t>證券、銀行與壽險三大業務均維持高成長態勢</a:t>
            </a:r>
          </a:p>
        </p:txBody>
      </p:sp>
      <p:sp>
        <p:nvSpPr>
          <p:cNvPr id="5" name="Rectangle 4"/>
          <p:cNvSpPr/>
          <p:nvPr/>
        </p:nvSpPr>
        <p:spPr>
          <a:xfrm>
            <a:off x="987552" y="685800"/>
            <a:ext cx="10863072" cy="18288"/>
          </a:xfrm>
          <a:prstGeom prst="rect">
            <a:avLst/>
          </a:prstGeom>
          <a:solidFill>
            <a:srgbClr val="008B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868680"/>
            <a:ext cx="1097280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007BB8"/>
                </a:solidFill>
                <a:latin typeface="Noto Sans CJK TC"/>
              </a:rPr>
              <a:t>• </a:t>
            </a:r>
            <a:r>
              <a:rPr sz="1150" b="0">
                <a:solidFill>
                  <a:srgbClr val="1E293B"/>
                </a:solidFill>
                <a:latin typeface="Noto Sans CJK TC"/>
              </a:rPr>
              <a:t>10月推薦標的：聚焦台積電訂單外溢效益、AI基建、零組件升規與能源四大議題。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007BB8"/>
                </a:solidFill>
                <a:latin typeface="Noto Sans CJK TC"/>
              </a:rPr>
              <a:t>• </a:t>
            </a:r>
            <a:r>
              <a:rPr sz="1150" b="0">
                <a:solidFill>
                  <a:srgbClr val="1E293B"/>
                </a:solidFill>
                <a:latin typeface="Noto Sans CJK TC"/>
              </a:rPr>
              <a:t>國內大型金控在證券、銀行與壽險三大業務維持高成長態勢之下，有利於2026~2027年現金股利發放水準連續性上揚，對長期穩健投資者帶來極具吸引力之長期報酬預期。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" y="2176272"/>
            <a:ext cx="5532120" cy="4187952"/>
          </a:xfrm>
          <a:prstGeom prst="roundRect">
            <a:avLst/>
          </a:prstGeom>
          <a:solidFill>
            <a:srgbClr val="FFFFFF"/>
          </a:solidFill>
          <a:ln>
            <a:solidFill>
              <a:srgbClr val="CC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hart_s3_growt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2240280"/>
            <a:ext cx="5394960" cy="4059936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217920" y="2176272"/>
            <a:ext cx="5532120" cy="4187952"/>
          </a:xfrm>
          <a:prstGeom prst="roundRect">
            <a:avLst/>
          </a:prstGeom>
          <a:solidFill>
            <a:srgbClr val="FFFFFF"/>
          </a:solidFill>
          <a:ln>
            <a:solidFill>
              <a:srgbClr val="CC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hart_s3_holding_ep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1928" y="2240280"/>
            <a:ext cx="5394960" cy="405993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468880" y="6556248"/>
            <a:ext cx="5486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>
                <a:solidFill>
                  <a:srgbClr val="FFFFFF"/>
                </a:solidFill>
                <a:latin typeface="Noto Sans CJK TC"/>
              </a:rPr>
              <a:t>本文內容僅供參考之用，本公司已審慎研究並提供合理依據，恕不負任何法律責任亦不作任何保證。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6556248"/>
            <a:ext cx="36576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50" b="1">
                <a:solidFill>
                  <a:srgbClr val="1E293B"/>
                </a:solidFill>
                <a:latin typeface="Noto Sans CJK TC"/>
              </a:rPr>
              <a:t>資料來源：富邦投顧，2026.9.30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04320" y="6547104"/>
            <a:ext cx="36576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50" b="1">
                <a:solidFill>
                  <a:srgbClr val="007BB8"/>
                </a:solidFill>
                <a:latin typeface="Noto Sans CJK TC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2_0_Image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p2_1_Image4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01168"/>
            <a:ext cx="521207" cy="53035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87552" y="228600"/>
            <a:ext cx="1078992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>
                <a:solidFill>
                  <a:srgbClr val="007BB8"/>
                </a:solidFill>
                <a:latin typeface="Noto Sans CJK TC"/>
              </a:rPr>
              <a:t>被動元件</a:t>
            </a:r>
          </a:p>
        </p:txBody>
      </p:sp>
      <p:sp>
        <p:nvSpPr>
          <p:cNvPr id="5" name="Rectangle 4"/>
          <p:cNvSpPr/>
          <p:nvPr/>
        </p:nvSpPr>
        <p:spPr>
          <a:xfrm>
            <a:off x="987552" y="685800"/>
            <a:ext cx="10863072" cy="18288"/>
          </a:xfrm>
          <a:prstGeom prst="rect">
            <a:avLst/>
          </a:prstGeom>
          <a:solidFill>
            <a:srgbClr val="008B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868680"/>
            <a:ext cx="1097280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007BB8"/>
                </a:solidFill>
                <a:latin typeface="Noto Sans CJK TC"/>
              </a:rPr>
              <a:t>• </a:t>
            </a:r>
            <a:r>
              <a:rPr sz="1150" b="0">
                <a:solidFill>
                  <a:srgbClr val="1E293B"/>
                </a:solidFill>
                <a:latin typeface="Noto Sans CJK TC"/>
              </a:rPr>
              <a:t>被動元件：根據國際被動元件各大廠最新法說，可看到BB ratio紛紛攀升至歷史高點，村田已經回升至1.34超過2018的水準，太陽誘電也提升至1.72，國巨更在二季底來到2.2的驚人數字。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007BB8"/>
                </a:solidFill>
                <a:latin typeface="Noto Sans CJK TC"/>
              </a:rPr>
              <a:t>• </a:t>
            </a:r>
            <a:r>
              <a:rPr sz="1150" b="0">
                <a:solidFill>
                  <a:srgbClr val="1E293B"/>
                </a:solidFill>
                <a:latin typeface="Noto Sans CJK TC"/>
              </a:rPr>
              <a:t>記憶體：加上HBM等晶圓消耗面積遠高於傳統DRAM，因此TrendForce預估2027年DRAM供需比將從2026年的 -1%進一步下滑至-4%，供給反而更加吃緊。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" y="2176272"/>
            <a:ext cx="5532120" cy="4187952"/>
          </a:xfrm>
          <a:prstGeom prst="roundRect">
            <a:avLst/>
          </a:prstGeom>
          <a:solidFill>
            <a:srgbClr val="FFFFFF"/>
          </a:solidFill>
          <a:ln>
            <a:solidFill>
              <a:srgbClr val="CC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286000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E293B"/>
                </a:solidFill>
              </a:rPr>
              <a:t>記憶體 看法與說明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94360" y="2697480"/>
          <a:ext cx="521208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12080"/>
              </a:tblGrid>
              <a:tr h="822960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007BB8"/>
                          </a:solidFill>
                        </a:rPr>
                        <a:t>記憶體 看法 ↗</a:t>
                      </a:r>
                    </a:p>
                  </a:txBody>
                  <a:tcPr>
                    <a:solidFill>
                      <a:srgbClr val="EBF5F8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1E293B"/>
                          </a:solidFill>
                        </a:rPr>
                        <a:t>原廠擴產項目Wafer inputs貢獻高度集中在2H27，而4-6個月的製造週期將使，實質位元產出要到2028年才會顯現。加上HBM等晶圓消耗面積遠高於傳統DRAM，因此TrendForce預估2027年DRAM供需比將從2026年的 -1%進一步下滑至-4%，供給反而更加吃緊。</a:t>
                      </a:r>
                    </a:p>
                  </a:txBody>
                  <a:tcPr/>
                </a:tc>
              </a:tr>
              <a:tr h="822960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1E293B"/>
                          </a:solidFill>
                        </a:rPr>
                        <a:t>2027年NAND產能的陸續釋放將導致整體市場供需平衡發生結構性逆轉，供需比將從2026年的-4.4%轉向 +3.6%，市場短缺將逐漸緩解，隨後在2027年下半年可能面臨價格修正壓力。</a:t>
                      </a:r>
                    </a:p>
                  </a:txBody>
                  <a:tcPr/>
                </a:tc>
              </a:tr>
              <a:tr h="822960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1E293B"/>
                          </a:solidFill>
                        </a:rPr>
                        <a:t>由於逾半DRAM供給已被LTA覆蓋，因此未來四個季度HBM4將捨棄12/16Hi而被迫以8Hi為主流規格，DDR5 RDIMM模組亦多放棄128GB，而被迫大量採用64或32GB方案。至於3C及IPC產品採用低規格DRAM也將成為常態。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217920" y="2176272"/>
            <a:ext cx="5532120" cy="4187952"/>
          </a:xfrm>
          <a:prstGeom prst="roundRect">
            <a:avLst/>
          </a:prstGeom>
          <a:solidFill>
            <a:srgbClr val="FFFFFF"/>
          </a:solidFill>
          <a:ln>
            <a:solidFill>
              <a:srgbClr val="CC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82512" y="2286000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E293B"/>
                </a:solidFill>
              </a:rPr>
              <a:t>Agent AI及AI基礎建設個股 殖利率（%）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82512" y="2834640"/>
          <a:ext cx="52120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1554480"/>
                <a:gridCol w="1554480"/>
              </a:tblGrid>
              <a:tr h="512064">
                <a:tc>
                  <a:txBody>
                    <a:bodyPr/>
                    <a:lstStyle/>
                    <a:p>
                      <a:pPr algn="l"/>
                      <a:r>
                        <a:rPr b="1" sz="1100">
                          <a:solidFill>
                            <a:srgbClr val="007BB8"/>
                          </a:solidFill>
                        </a:rPr>
                        <a:t>類別</a:t>
                      </a:r>
                    </a:p>
                  </a:txBody>
                  <a:tcPr>
                    <a:solidFill>
                      <a:srgbClr val="EB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007BB8"/>
                          </a:solidFill>
                        </a:rPr>
                        <a:t>FY26</a:t>
                      </a:r>
                    </a:p>
                  </a:txBody>
                  <a:tcPr>
                    <a:solidFill>
                      <a:srgbClr val="EB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007BB8"/>
                          </a:solidFill>
                        </a:rPr>
                        <a:t>FY27</a:t>
                      </a:r>
                    </a:p>
                  </a:txBody>
                  <a:tcPr>
                    <a:solidFill>
                      <a:srgbClr val="EBF5F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E293B"/>
                          </a:solidFill>
                        </a:rPr>
                        <a:t>台積電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E293B"/>
                          </a:solidFill>
                        </a:rPr>
                        <a:t>1.01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E293B"/>
                          </a:solidFill>
                        </a:rPr>
                        <a:t>1.17</a:t>
                      </a:r>
                    </a:p>
                  </a:txBody>
                  <a:tcPr/>
                </a:tc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E293B"/>
                          </a:solidFill>
                        </a:rPr>
                        <a:t>欣興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E293B"/>
                          </a:solidFill>
                        </a:rPr>
                        <a:t>0.99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E293B"/>
                          </a:solidFill>
                        </a:rPr>
                        <a:t>1.58</a:t>
                      </a:r>
                    </a:p>
                  </a:txBody>
                  <a:tcPr/>
                </a:tc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E293B"/>
                          </a:solidFill>
                        </a:rPr>
                        <a:t>昇陽半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E293B"/>
                          </a:solidFill>
                        </a:rPr>
                        <a:t>1.71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E293B"/>
                          </a:solidFill>
                        </a:rPr>
                        <a:t>2.55</a:t>
                      </a:r>
                    </a:p>
                  </a:txBody>
                  <a:tcPr/>
                </a:tc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E293B"/>
                          </a:solidFill>
                        </a:rPr>
                        <a:t>創意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E293B"/>
                          </a:solidFill>
                        </a:rPr>
                        <a:t>0.16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E293B"/>
                          </a:solidFill>
                        </a:rPr>
                        <a:t>0.16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2468880" y="6556248"/>
            <a:ext cx="5486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>
                <a:solidFill>
                  <a:srgbClr val="FFFFFF"/>
                </a:solidFill>
                <a:latin typeface="Noto Sans CJK TC"/>
              </a:rPr>
              <a:t>本文內容僅供參考之用，本公司已審慎研究並提供合理依據，恕不負任何法律責任亦不作任何保證。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6556248"/>
            <a:ext cx="36576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50" b="1">
                <a:solidFill>
                  <a:srgbClr val="1E293B"/>
                </a:solidFill>
                <a:latin typeface="Noto Sans CJK TC"/>
              </a:rPr>
              <a:t>資料來源：富邦投顧，2026.9.30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704320" y="6547104"/>
            <a:ext cx="36576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50" b="1">
                <a:solidFill>
                  <a:srgbClr val="007BB8"/>
                </a:solidFill>
                <a:latin typeface="Noto Sans CJK TC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2_0_Image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p2_1_Image4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01168"/>
            <a:ext cx="521207" cy="53035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87552" y="228600"/>
            <a:ext cx="1078992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>
                <a:solidFill>
                  <a:srgbClr val="007BB8"/>
                </a:solidFill>
                <a:latin typeface="Noto Sans CJK TC"/>
              </a:rPr>
              <a:t>水泥</a:t>
            </a:r>
          </a:p>
        </p:txBody>
      </p:sp>
      <p:sp>
        <p:nvSpPr>
          <p:cNvPr id="5" name="Rectangle 4"/>
          <p:cNvSpPr/>
          <p:nvPr/>
        </p:nvSpPr>
        <p:spPr>
          <a:xfrm>
            <a:off x="987552" y="685800"/>
            <a:ext cx="10863072" cy="18288"/>
          </a:xfrm>
          <a:prstGeom prst="rect">
            <a:avLst/>
          </a:prstGeom>
          <a:solidFill>
            <a:srgbClr val="008B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868680"/>
            <a:ext cx="1097280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007BB8"/>
                </a:solidFill>
                <a:latin typeface="Noto Sans CJK TC"/>
              </a:rPr>
              <a:t>• </a:t>
            </a:r>
            <a:r>
              <a:rPr sz="1150" b="0">
                <a:solidFill>
                  <a:srgbClr val="1E293B"/>
                </a:solidFill>
                <a:latin typeface="Noto Sans CJK TC"/>
              </a:rPr>
              <a:t>水泥：8月份中國水泥產量1.297億噸，YoY-11.7%，累計1-8月產量9.89億噸，YoY9%，產量為近18年以來新低。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007BB8"/>
                </a:solidFill>
                <a:latin typeface="Noto Sans CJK TC"/>
              </a:rPr>
              <a:t>• </a:t>
            </a:r>
            <a:r>
              <a:rPr sz="1150" b="0">
                <a:solidFill>
                  <a:srgbClr val="1E293B"/>
                </a:solidFill>
                <a:latin typeface="Noto Sans CJK TC"/>
              </a:rPr>
              <a:t>特化：2H26台積電2奈米進入關鍵放量階段，隨產能利用率攀升，加上先進製程節點持續擴產，相關具備台積電特化材料股較受市場親睞，近期資金關注的個股包括中華化和上品。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" y="2176272"/>
            <a:ext cx="5532120" cy="4187952"/>
          </a:xfrm>
          <a:prstGeom prst="roundRect">
            <a:avLst/>
          </a:prstGeom>
          <a:solidFill>
            <a:srgbClr val="FFFFFF"/>
          </a:solidFill>
          <a:ln>
            <a:solidFill>
              <a:srgbClr val="CC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286000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E293B"/>
                </a:solidFill>
              </a:rPr>
              <a:t>富邦次產業趨勢看法-傳產&amp;融股一覽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94360" y="2834640"/>
          <a:ext cx="52120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914400"/>
                <a:gridCol w="1645920"/>
                <a:gridCol w="1005840"/>
              </a:tblGrid>
              <a:tr h="512064">
                <a:tc>
                  <a:txBody>
                    <a:bodyPr/>
                    <a:lstStyle/>
                    <a:p>
                      <a:pPr algn="l"/>
                      <a:r>
                        <a:rPr b="1" sz="1100">
                          <a:solidFill>
                            <a:srgbClr val="007BB8"/>
                          </a:solidFill>
                        </a:rPr>
                        <a:t>次產業</a:t>
                      </a:r>
                    </a:p>
                  </a:txBody>
                  <a:tcPr>
                    <a:solidFill>
                      <a:srgbClr val="EB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007BB8"/>
                          </a:solidFill>
                        </a:rPr>
                        <a:t>看法</a:t>
                      </a:r>
                    </a:p>
                  </a:txBody>
                  <a:tcPr>
                    <a:solidFill>
                      <a:srgbClr val="EB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00">
                          <a:solidFill>
                            <a:srgbClr val="007BB8"/>
                          </a:solidFill>
                        </a:rPr>
                        <a:t>次產業</a:t>
                      </a:r>
                    </a:p>
                  </a:txBody>
                  <a:tcPr>
                    <a:solidFill>
                      <a:srgbClr val="EB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007BB8"/>
                          </a:solidFill>
                        </a:rPr>
                        <a:t>看法</a:t>
                      </a:r>
                    </a:p>
                  </a:txBody>
                  <a:tcPr>
                    <a:solidFill>
                      <a:srgbClr val="EBF5F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E293B"/>
                          </a:solidFill>
                        </a:rPr>
                        <a:t>水泥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E293B"/>
                          </a:solidFill>
                        </a:rPr>
                        <a:t>→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E293B"/>
                          </a:solidFill>
                        </a:rPr>
                        <a:t>塑化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E293B"/>
                          </a:solidFill>
                        </a:rPr>
                        <a:t>→</a:t>
                      </a:r>
                    </a:p>
                  </a:txBody>
                  <a:tcPr/>
                </a:tc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E293B"/>
                          </a:solidFill>
                        </a:rPr>
                        <a:t>重電新能源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D9534F"/>
                          </a:solidFill>
                        </a:rPr>
                        <a:t>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E293B"/>
                          </a:solidFill>
                        </a:rPr>
                        <a:t>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E293B"/>
                          </a:solidFill>
                        </a:rPr>
                        <a:t>→</a:t>
                      </a:r>
                    </a:p>
                  </a:txBody>
                  <a:tcPr/>
                </a:tc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E293B"/>
                          </a:solidFill>
                        </a:rPr>
                        <a:t>特化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D9534F"/>
                          </a:solidFill>
                        </a:rPr>
                        <a:t>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E293B"/>
                          </a:solidFill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E293B"/>
                          </a:solidFill>
                        </a:rPr>
                        <a:t>→</a:t>
                      </a:r>
                    </a:p>
                  </a:txBody>
                  <a:tcPr/>
                </a:tc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E293B"/>
                          </a:solidFill>
                        </a:rPr>
                        <a:t>貨櫃航運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E293B"/>
                          </a:solidFill>
                        </a:rPr>
                        <a:t>→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E293B"/>
                          </a:solidFill>
                        </a:rPr>
                        <a:t>鋼鐵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E293B"/>
                          </a:solidFill>
                        </a:rPr>
                        <a:t>→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217920" y="2176272"/>
            <a:ext cx="5532120" cy="4187952"/>
          </a:xfrm>
          <a:prstGeom prst="roundRect">
            <a:avLst/>
          </a:prstGeom>
          <a:solidFill>
            <a:srgbClr val="FFFFFF"/>
          </a:solidFill>
          <a:ln>
            <a:solidFill>
              <a:srgbClr val="CC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chart_s2_portfoli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1928" y="2240280"/>
            <a:ext cx="5394960" cy="405993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468880" y="6556248"/>
            <a:ext cx="5486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>
                <a:solidFill>
                  <a:srgbClr val="FFFFFF"/>
                </a:solidFill>
                <a:latin typeface="Noto Sans CJK TC"/>
              </a:rPr>
              <a:t>本文內容僅供參考之用，本公司已審慎研究並提供合理依據，恕不負任何法律責任亦不作任何保證。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6556248"/>
            <a:ext cx="36576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50" b="1">
                <a:solidFill>
                  <a:srgbClr val="1E293B"/>
                </a:solidFill>
                <a:latin typeface="Noto Sans CJK TC"/>
              </a:rPr>
              <a:t>資料來源：富邦投顧，2026.9.30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704320" y="6547104"/>
            <a:ext cx="36576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50" b="1">
                <a:solidFill>
                  <a:srgbClr val="007BB8"/>
                </a:solidFill>
                <a:latin typeface="Noto Sans CJK TC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_0_Image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28800" y="2194560"/>
            <a:ext cx="85340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007BB8"/>
                </a:solidFill>
              </a:rPr>
              <a:t>簡報完畢 敬請指教</a:t>
            </a:r>
          </a:p>
        </p:txBody>
      </p:sp>
      <p:sp>
        <p:nvSpPr>
          <p:cNvPr id="4" name="Rectangle 3"/>
          <p:cNvSpPr/>
          <p:nvPr/>
        </p:nvSpPr>
        <p:spPr>
          <a:xfrm>
            <a:off x="3968496" y="2971800"/>
            <a:ext cx="4251960" cy="18288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468880" y="6556248"/>
            <a:ext cx="5486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>
                <a:solidFill>
                  <a:srgbClr val="FFFFFF"/>
                </a:solidFill>
                <a:latin typeface="Noto Sans CJK TC"/>
              </a:rPr>
              <a:t>本文內容僅供參考之用，本公司已審慎研究並提供合理依據，恕不負任何法律責任亦不作任何保證。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556248"/>
            <a:ext cx="36576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50" b="1">
                <a:solidFill>
                  <a:srgbClr val="1E293B"/>
                </a:solidFill>
                <a:latin typeface="Noto Sans CJK TC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04320" y="6547104"/>
            <a:ext cx="36576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50" b="1">
                <a:solidFill>
                  <a:srgbClr val="007BB8"/>
                </a:solidFill>
                <a:latin typeface="Noto Sans CJK TC"/>
              </a:rPr>
              <a:t>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