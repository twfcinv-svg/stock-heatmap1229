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876605122c4078" /><Relationship Type="http://schemas.openxmlformats.org/officeDocument/2006/relationships/extended-properties" Target="/docProps/app.xml" Id="Rb35884df788f4c60" /><Relationship Type="http://schemas.openxmlformats.org/officeDocument/2006/relationships/officeDocument" Target="/ppt/presentation.xml" Id="Ra1e2576ce63045fc" /></Relationships>
</file>

<file path=ppt/presentation.xml><?xml version="1.0" encoding="utf-8"?>
<p:presentation xmlns:p="http://schemas.openxmlformats.org/presentationml/2006/main">
  <p:sldMasterIdLst>
    <p:sldMasterId xmlns:r="http://schemas.openxmlformats.org/officeDocument/2006/relationships" id="2147483648" r:id="R464333b7150441fb"/>
  </p:sldMasterIdLst>
  <p:notesMasterIdLst>
    <p:notesMasterId xmlns:r="http://schemas.openxmlformats.org/officeDocument/2006/relationships" r:id="Rb29bc47c1a3b4946"/>
  </p:notesMasterIdLst>
  <p:sldIdLst>
    <p:sldId xmlns:r="http://schemas.openxmlformats.org/officeDocument/2006/relationships" id="256" r:id="R589a0208e484422c"/>
    <p:sldId xmlns:r="http://schemas.openxmlformats.org/officeDocument/2006/relationships" id="257" r:id="Rf2b77f1b60c94f68"/>
    <p:sldId xmlns:r="http://schemas.openxmlformats.org/officeDocument/2006/relationships" id="258" r:id="R1110c6f6ad9b4fb6"/>
    <p:sldId xmlns:r="http://schemas.openxmlformats.org/officeDocument/2006/relationships" id="259" r:id="Re6dc48cfc1364efa"/>
    <p:sldId xmlns:r="http://schemas.openxmlformats.org/officeDocument/2006/relationships" id="260" r:id="R3c9a172c81ff4e33"/>
    <p:sldId xmlns:r="http://schemas.openxmlformats.org/officeDocument/2006/relationships" id="261" r:id="R9a990b542ce5483d"/>
    <p:sldId xmlns:r="http://schemas.openxmlformats.org/officeDocument/2006/relationships" id="262" r:id="R2674cde1ab764e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9891bde9874442c" /><Relationship Type="http://schemas.openxmlformats.org/officeDocument/2006/relationships/slideMaster" Target="/ppt/slideMasters/slideMaster1.xml" Id="R464333b7150441fb" /><Relationship Type="http://schemas.openxmlformats.org/officeDocument/2006/relationships/notesMaster" Target="/ppt/notesMasters/notesMaster1.xml" Id="Rb29bc47c1a3b4946" /><Relationship Type="http://schemas.openxmlformats.org/officeDocument/2006/relationships/presProps" Target="/ppt/presProps.xml" Id="Rc090af8bbc6b4c11" /><Relationship Type="http://schemas.openxmlformats.org/officeDocument/2006/relationships/viewProps" Target="/ppt/viewProps.xml" Id="R46ceb92c59ed4863" /><Relationship Type="http://schemas.openxmlformats.org/officeDocument/2006/relationships/tableStyles" Target="/ppt/tableStyles.xml" Id="R7172a62b89bd4afd" /><Relationship Type="http://schemas.openxmlformats.org/officeDocument/2006/relationships/slide" Target="/ppt/slides/slide1.xml" Id="R589a0208e484422c" /><Relationship Type="http://schemas.openxmlformats.org/officeDocument/2006/relationships/slide" Target="/ppt/slides/slide2.xml" Id="Rf2b77f1b60c94f68" /><Relationship Type="http://schemas.openxmlformats.org/officeDocument/2006/relationships/slide" Target="/ppt/slides/slide3.xml" Id="R1110c6f6ad9b4fb6" /><Relationship Type="http://schemas.openxmlformats.org/officeDocument/2006/relationships/slide" Target="/ppt/slides/slide4.xml" Id="Re6dc48cfc1364efa" /><Relationship Type="http://schemas.openxmlformats.org/officeDocument/2006/relationships/slide" Target="/ppt/slides/slide5.xml" Id="R3c9a172c81ff4e33" /><Relationship Type="http://schemas.openxmlformats.org/officeDocument/2006/relationships/slide" Target="/ppt/slides/slide6.xml" Id="R9a990b542ce5483d" /><Relationship Type="http://schemas.openxmlformats.org/officeDocument/2006/relationships/slide" Target="/ppt/slides/slide7.xml" Id="R2674cde1ab764e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8c2c597ac144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e82759acab4671" /><Relationship Type="http://schemas.openxmlformats.org/officeDocument/2006/relationships/notesMaster" Target="/ppt/notesMasters/notesMaster1.xml" Id="Rd44bfe0f2c294c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ccd8fbbec04034" /><Relationship Type="http://schemas.openxmlformats.org/officeDocument/2006/relationships/notesMaster" Target="/ppt/notesMasters/notesMaster1.xml" Id="R7611e7ad05bf43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0892a88fcc414f" /><Relationship Type="http://schemas.openxmlformats.org/officeDocument/2006/relationships/notesMaster" Target="/ppt/notesMasters/notesMaster1.xml" Id="R6f6053a2a19541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faa1b7dd304415" /><Relationship Type="http://schemas.openxmlformats.org/officeDocument/2006/relationships/notesMaster" Target="/ppt/notesMasters/notesMaster1.xml" Id="R8e7014c1f10e45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5ff917f10c42fe" /><Relationship Type="http://schemas.openxmlformats.org/officeDocument/2006/relationships/notesMaster" Target="/ppt/notesMasters/notesMaster1.xml" Id="Rb0f453da97694c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045c8f40114cba" /><Relationship Type="http://schemas.openxmlformats.org/officeDocument/2006/relationships/notesMaster" Target="/ppt/notesMasters/notesMaster1.xml" Id="R577ea69b72cb49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e6cc6487094038" /><Relationship Type="http://schemas.openxmlformats.org/officeDocument/2006/relationships/notesMaster" Target="/ppt/notesMasters/notesMaster1.xml" Id="R7958feb5f25145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依使用者提供《2026年10月產業投資策略》濃縮，資料日期2026年9月30日；觀點及預測不代表確定結果。</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Fubon Research</a:t>
            </a:r>
          </a:p>
          <a:p xmlns:a="http://schemas.openxmlformats.org/drawingml/2006/main">
            <a:r>
              <a:t>                          10 月台股產業投資策略</a:t>
            </a:r>
          </a:p>
          <a:p xmlns:a="http://schemas.openxmlformats.org/drawingml/2006/main">
            <a:r>
              <a:t>2026 年 9 月 30 日</a:t>
            </a:r>
          </a:p>
          <a:p xmlns:a="http://schemas.openxmlformats.org/drawingml/2006/main">
            <a:r>
              <a:t/>
            </a:r>
          </a:p>
          <a:p xmlns:a="http://schemas.openxmlformats.org/drawingml/2006/main">
            <a:r>
              <a:t>                          挑戰五萬大關</a:t>
            </a:r>
          </a:p>
          <a:p xmlns:a="http://schemas.openxmlformats.org/drawingml/2006/main">
            <a:r>
              <a:t/>
            </a:r>
          </a:p>
          <a:p xmlns:a="http://schemas.openxmlformats.org/drawingml/2006/main">
            <a:r>
              <a:t>                           1. 聯準會再次升息雖提高股市壓力，但預期第三季財報強勁可抵消不利因素。</a:t>
            </a:r>
          </a:p>
          <a:p xmlns:a="http://schemas.openxmlformats.org/drawingml/2006/main">
            <a:r>
              <a:t>                           2. 台積電訂單外溢效應將成為另一個 AI 供應鏈投資亮點。</a:t>
            </a:r>
          </a:p>
          <a:p xmlns:a="http://schemas.openxmlformats.org/drawingml/2006/main">
            <a:r>
              <a:t>                           3. 9 月選股策略：聚焦台積電訂單外溢效益、AI 基建、零組件升規與能源四大</a:t>
            </a:r>
          </a:p>
          <a:p xmlns:a="http://schemas.openxmlformats.org/drawingml/2006/main">
            <a:r>
              <a:t>                             議題。</a:t>
            </a:r>
          </a:p>
          <a:p xmlns:a="http://schemas.openxmlformats.org/drawingml/2006/main">
            <a:r>
              <a:t/>
            </a:r>
          </a:p>
          <a:p xmlns:a="http://schemas.openxmlformats.org/drawingml/2006/main">
            <a:r>
              <a:t>                          重點摘要</a:t>
            </a:r>
          </a:p>
          <a:p xmlns:a="http://schemas.openxmlformats.org/drawingml/2006/main">
            <a:r>
              <a:t/>
            </a:r>
          </a:p>
          <a:p xmlns:a="http://schemas.openxmlformats.org/drawingml/2006/main">
            <a:r>
              <a:t/>
            </a:r>
          </a:p>
          <a:p xmlns:a="http://schemas.openxmlformats.org/drawingml/2006/main">
            <a:r>
              <a:t>                          聯準會 9 月宣布升息一碼並宣布上修 2026、2027 年利率目標中值至 4.1%，雖對</a:t>
            </a:r>
          </a:p>
          <a:p xmlns:a="http://schemas.openxmlformats.org/drawingml/2006/main">
            <a:r>
              <a:t>                          股市帶來短暫壓抑力道，但隨著利率政策的不確性消失，產業即將迎來有史以來最</a:t>
            </a:r>
          </a:p>
          <a:p xmlns:a="http://schemas.openxmlformats.org/drawingml/2006/main">
            <a:r>
              <a:t>資料來源：工商時報。</a:t>
            </a:r>
          </a:p>
          <a:p xmlns:a="http://schemas.openxmlformats.org/drawingml/2006/main">
            <a:r>
              <a:t>                          強的旺季，並政策利多助攻之下，台股可望挑戰五萬大關。投資策略焦點雖仍是 AI，</a:t>
            </a:r>
          </a:p>
          <a:p xmlns:a="http://schemas.openxmlformats.org/drawingml/2006/main">
            <a:r>
              <a:t>                          但建議聚焦訂單外溢效益及下一世代 AI 平台之規格升級議題。</a:t>
            </a:r>
          </a:p>
          <a:p xmlns:a="http://schemas.openxmlformats.org/drawingml/2006/main">
            <a:r>
              <a:t/>
            </a:r>
          </a:p>
          <a:p xmlns:a="http://schemas.openxmlformats.org/drawingml/2006/main">
            <a:r>
              <a:t/>
            </a:r>
          </a:p>
          <a:p xmlns:a="http://schemas.openxmlformats.org/drawingml/2006/main">
            <a:r>
              <a:t>                          聯準會再次升息雖提高股市壓力，但預期第三季財報強勁可抵消不利因素</a:t>
            </a:r>
          </a:p>
          <a:p xmlns:a="http://schemas.openxmlformats.org/drawingml/2006/main">
            <a:r>
              <a:t>                          台灣 8 月外銷接單再創歷史新高，首次突破 1 千億美元，較去年同期大幅增長 71.4%，</a:t>
            </a:r>
          </a:p>
          <a:p xmlns:a="http://schemas.openxmlformats.org/drawingml/2006/main">
            <a:r>
              <a:t>                          前 8 月年增率高達 55%，因已進入外銷旺季，廠商仍看好後續接單與出口，全年接</a:t>
            </a:r>
          </a:p>
          <a:p xmlns:a="http://schemas.openxmlformats.org/drawingml/2006/main">
            <a:r>
              <a:t>                          單金額可望達到 1 兆美元；8 月景氣對策信號可望挑戰 2021 年連九紅記錄。9 月</a:t>
            </a:r>
          </a:p>
          <a:p xmlns:a="http://schemas.openxmlformats.org/drawingml/2006/main">
            <a:r>
              <a:t>廖顯毅                       16 日聯準會 12 位票委一致決議升息 1 碼至 3.75%-4%，為 2023/7 來首度升息，</a:t>
            </a:r>
          </a:p>
          <a:p xmlns:a="http://schemas.openxmlformats.org/drawingml/2006/main">
            <a:r>
              <a:t>(886-2) 2781-5995#37038</a:t>
            </a:r>
          </a:p>
          <a:p xmlns:a="http://schemas.openxmlformats.org/drawingml/2006/main">
            <a:r>
              <a:t>Arthur.liao@fubon.com     並且上修 2026、2027 年利率目標中值至 4.1%。主席華許堅守決策獨立性、秉持不</a:t>
            </a:r>
          </a:p>
          <a:p xmlns:a="http://schemas.openxmlformats.org/drawingml/2006/main">
            <a:r>
              <a:t>                          預判政策路徑原則。市場對年底前再升息 1-2 碼預期仍高，推升美 10 年債殖利率</a:t>
            </a:r>
          </a:p>
          <a:p xmlns:a="http://schemas.openxmlformats.org/drawingml/2006/main">
            <a:r>
              <a:t>劉立中</a:t>
            </a:r>
          </a:p>
          <a:p xmlns:a="http://schemas.openxmlformats.org/drawingml/2006/main">
            <a:r>
              <a:t>(886-2) 2781-5995#37126</a:t>
            </a:r>
          </a:p>
          <a:p xmlns:a="http://schemas.openxmlformats.org/drawingml/2006/main">
            <a:r>
              <a:t>                          至 5%以上，高利率對股市估值壓力將提高。10 月上市公司將陸續公布第三季財報，</a:t>
            </a:r>
          </a:p>
          <a:p xmlns:a="http://schemas.openxmlformats.org/drawingml/2006/main">
            <a:r>
              <a:t>lewis.liu@fubon.com       盈餘展望仍佳，LSEG 調查預估第三季標普 500 企業盈餘年增率將達 29.9%，占權</a:t>
            </a:r>
          </a:p>
          <a:p xmlns:a="http://schemas.openxmlformats.org/drawingml/2006/main">
            <a:r>
              <a:t>                          重最高的科技股成長展望更高達 64.9%，將對股價形成支撐。時序進入最後一季，</a:t>
            </a:r>
          </a:p>
          <a:p xmlns:a="http://schemas.openxmlformats.org/drawingml/2006/main">
            <a:r>
              <a:t>黃大仁</a:t>
            </a:r>
          </a:p>
          <a:p xmlns:a="http://schemas.openxmlformats.org/drawingml/2006/main">
            <a:r>
              <a:t>(886-2)2781-5995#37118    美國期中選舉進入選前最後一個月，選後政治不確定性淡化，而過去四十餘年美股</a:t>
            </a:r>
          </a:p>
          <a:p xmlns:a="http://schemas.openxmlformats.org/drawingml/2006/main">
            <a:r>
              <a:t>darren.huang@fubon.com</a:t>
            </a:r>
          </a:p>
          <a:p xmlns:a="http://schemas.openxmlformats.org/drawingml/2006/main">
            <a:r>
              <a:t>                          在國會選舉結果為分裂國會狀態下，平均漲幅最高，</a:t>
            </a:r>
          </a:p>
          <a:p xmlns:a="http://schemas.openxmlformats.org/drawingml/2006/main">
            <a:r>
              <a:t/>
            </a:r>
          </a:p>
          <a:p xmlns:a="http://schemas.openxmlformats.org/drawingml/2006/main">
            <a:r>
              <a:t/>
            </a:r>
          </a:p>
          <a:p xmlns:a="http://schemas.openxmlformats.org/drawingml/2006/main">
            <a:r>
              <a:t>                          台積電訂單外溢效應將成為另一個 AI 供應鏈投資亮點</a:t>
            </a:r>
          </a:p>
          <a:p xmlns:a="http://schemas.openxmlformats.org/drawingml/2006/main">
            <a:r>
              <a:t>                          台股多頭主軸仍聚焦 AI，但 AI 供應鏈投資邏輯將逐步由單純的 AI 晶片需求擴張，</a:t>
            </a:r>
          </a:p>
          <a:p xmlns:a="http://schemas.openxmlformats.org/drawingml/2006/main">
            <a:r>
              <a:t>                          轉向高階製程與先進封裝整合，尤其 AI ASIC、GPU 及 HBM 需求持續推升台積電</a:t>
            </a:r>
          </a:p>
          <a:p xmlns:a="http://schemas.openxmlformats.org/drawingml/2006/main">
            <a:r>
              <a:t>                          CoWoS 需求，台積電雖積極提升產能擴充幅度，但仍難以滿足 2028 年前之需求。</a:t>
            </a:r>
          </a:p>
          <a:p xmlns:a="http://schemas.openxmlformats.org/drawingml/2006/main">
            <a:r>
              <a:t>                          預期 Google、Meta 等自研方案將會尋求如 Intel、聯電等非台積電體系產能支援，</a:t>
            </a:r>
          </a:p>
          <a:p xmlns:a="http://schemas.openxmlformats.org/drawingml/2006/main">
            <a:r>
              <a:t>                          並帶動相關設備與材料需求，此類供應鏈的關鍵技術環節自主性更高，一旦外溢需</a:t>
            </a:r>
          </a:p>
          <a:p xmlns:a="http://schemas.openxmlformats.org/drawingml/2006/main">
            <a:r>
              <a:t>                          求化為實質業績動能，獲利成長性將更強勁，預期可望為台灣 AI 供應鏈帶來另一個</a:t>
            </a:r>
          </a:p>
          <a:p xmlns:a="http://schemas.openxmlformats.org/drawingml/2006/main">
            <a:r>
              <a:t>                          推升景氣的強力動能。</a:t>
            </a:r>
          </a:p>
          <a:p xmlns:a="http://schemas.openxmlformats.org/drawingml/2006/main">
            <a:r>
              <a:t/>
            </a:r>
          </a:p>
          <a:p xmlns:a="http://schemas.openxmlformats.org/drawingml/2006/main">
            <a:r>
              <a:t/>
            </a:r>
          </a:p>
          <a:p xmlns:a="http://schemas.openxmlformats.org/drawingml/2006/main">
            <a:r>
              <a:t>                          規格升級題材將逐步取代漲價議題成為零組件投資焦點</a:t>
            </a:r>
          </a:p>
          <a:p xmlns:a="http://schemas.openxmlformats.org/drawingml/2006/main">
            <a:r>
              <a:t>                          儘管記憶體、被動元件、CCL、載板等零組件持續因供給不平衡以及原物料成本上揚</a:t>
            </a:r>
          </a:p>
          <a:p xmlns:a="http://schemas.openxmlformats.org/drawingml/2006/main">
            <a:r>
              <a:t>                          而調漲價格，但這早已在投資市場預期之中。後續季報表現雖亮眼，但僅會對股價</a:t>
            </a:r>
          </a:p>
          <a:p xmlns:a="http://schemas.openxmlformats.org/drawingml/2006/main">
            <a:r>
              <a:t>                          帶來短暫火花。富邦認為 4Q26 起針對零組件供應鏈之投資策略，應逐漸留意規格</a:t>
            </a:r>
          </a:p>
          <a:p xmlns:a="http://schemas.openxmlformats.org/drawingml/2006/main">
            <a:r>
              <a:t>                          升級議題，尤其是升規的零組件將扮演下一世代的 AI 伺服器/機櫃能否順利量產之</a:t>
            </a:r>
          </a:p>
          <a:p xmlns:a="http://schemas.openxmlformats.org/drawingml/2006/main">
            <a:r>
              <a:t>                          關鍵，例如 CCL M8/M9 升級、適用於高電壓系統之電容等，能領先競爭同業規格</a:t>
            </a:r>
          </a:p>
          <a:p xmlns:a="http://schemas.openxmlformats.org/drawingml/2006/main">
            <a:r>
              <a:t>                          提升並量產之業者將是我們關注之焦點。</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1</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傳產聚焦產業旺季、低基期、防禦性等選擇主軸</a:t>
            </a:r>
          </a:p>
          <a:p xmlns:a="http://schemas.openxmlformats.org/drawingml/2006/main">
            <a:r>
              <a:t>             10 月傳產投資策略核心著重傳統消費旺季、年終備貨潮及防禦性等，建議以旺季效</a:t>
            </a:r>
          </a:p>
          <a:p xmlns:a="http://schemas.openxmlformats.org/drawingml/2006/main">
            <a:r>
              <a:t>             應、低基期反彈、高股息防禦為主要選股要點。(1)旺季效應概念，包括重電、散裝</a:t>
            </a:r>
          </a:p>
          <a:p xmlns:a="http://schemas.openxmlformats.org/drawingml/2006/main">
            <a:r>
              <a:t>             航運、及鋼鐵等基建、零售百貨：全球電網升級、台電強韌電網、以及 AI 資料中心、</a:t>
            </a:r>
          </a:p>
          <a:p xmlns:a="http://schemas.openxmlformats.org/drawingml/2006/main">
            <a:r>
              <a:t>             半導體科技廠擴廠等需求迫切，重電設備旺季入帳動能充沛；受惠於穀物與煤炭、</a:t>
            </a:r>
          </a:p>
          <a:p xmlns:a="http://schemas.openxmlformats.org/drawingml/2006/main">
            <a:r>
              <a:t>             鐵礦砂等原物料需求旺季，散裝運輸動能轉強； 4Q26 為營建工程及製造業復工旺</a:t>
            </a:r>
          </a:p>
          <a:p xmlns:a="http://schemas.openxmlformats.org/drawingml/2006/main">
            <a:r>
              <a:t>             季，推升鋼材需求明確；零售百貨進入周年慶及雙 11、12 備貨旺季，龍頭業者具備</a:t>
            </a:r>
          </a:p>
          <a:p xmlns:a="http://schemas.openxmlformats.org/drawingml/2006/main">
            <a:r>
              <a:t>             季節性利多。(2)低基期轉型類股，塑化類股受惠於國際油價上漲帶動，塑化原料行</a:t>
            </a:r>
          </a:p>
          <a:p xmlns:a="http://schemas.openxmlformats.org/drawingml/2006/main">
            <a:r>
              <a:t>             情再起，首選具產業鏈居上游、具一貫廠優勢的台塑四寶，在油價上漲階段有利成</a:t>
            </a:r>
          </a:p>
          <a:p xmlns:a="http://schemas.openxmlformats.org/drawingml/2006/main">
            <a:r>
              <a:t>             本轉嫁與維持供應韌性，且集團轉向佈局具潛力的特化與電子級化學品。(3)高股息</a:t>
            </a:r>
          </a:p>
          <a:p xmlns:a="http://schemas.openxmlformats.org/drawingml/2006/main">
            <a:r>
              <a:t>             防禦性，殖利率上升，經常型收益增加，且保單負債以市場利率評價，有利於壽險型</a:t>
            </a:r>
          </a:p>
          <a:p xmlns:a="http://schemas.openxmlformats.org/drawingml/2006/main">
            <a:r>
              <a:t>             金控淨值增加，且股市熱絡推升資本利得，明年配息能力正向。</a:t>
            </a:r>
          </a:p>
          <a:p xmlns:a="http://schemas.openxmlformats.org/drawingml/2006/main">
            <a:r>
              <a:t/>
            </a:r>
          </a:p>
          <a:p xmlns:a="http://schemas.openxmlformats.org/drawingml/2006/main">
            <a:r>
              <a:t/>
            </a:r>
          </a:p>
          <a:p xmlns:a="http://schemas.openxmlformats.org/drawingml/2006/main">
            <a:r>
              <a:t>             10 月推薦標的：聚焦台積電訂單外溢效益、AI 基建、零組件升規與能源四大議題，</a:t>
            </a:r>
          </a:p>
          <a:p xmlns:a="http://schemas.openxmlformats.org/drawingml/2006/main">
            <a:r>
              <a:t>             如下表：</a:t>
            </a:r>
          </a:p>
          <a:p xmlns:a="http://schemas.openxmlformats.org/drawingml/2006/main">
            <a:r>
              <a:t/>
            </a:r>
          </a:p>
          <a:p xmlns:a="http://schemas.openxmlformats.org/drawingml/2006/main">
            <a:r>
              <a:t>             圖表 1：10 月產業投資策略之推薦個股</a:t>
            </a:r>
          </a:p>
          <a:p xmlns:a="http://schemas.openxmlformats.org/drawingml/2006/main">
            <a:r>
              <a:t>                           看好議題                  推薦標的</a:t>
            </a:r>
          </a:p>
          <a:p xmlns:a="http://schemas.openxmlformats.org/drawingml/2006/main">
            <a:r>
              <a:t>             台積電訂單外溢效應              2454 聯發科</a:t>
            </a:r>
          </a:p>
          <a:p xmlns:a="http://schemas.openxmlformats.org/drawingml/2006/main">
            <a:r>
              <a:t>             ⚫    ASIC              2467 志聖</a:t>
            </a:r>
          </a:p>
          <a:p xmlns:a="http://schemas.openxmlformats.org/drawingml/2006/main">
            <a:r>
              <a:t>             ⚫    封裝、測試             2360 致茂</a:t>
            </a:r>
          </a:p>
          <a:p xmlns:a="http://schemas.openxmlformats.org/drawingml/2006/main">
            <a:r>
              <a:t>             ⚫    設備                6187 萬潤</a:t>
            </a:r>
          </a:p>
          <a:p xmlns:a="http://schemas.openxmlformats.org/drawingml/2006/main">
            <a:r>
              <a:t>             Agent AI 及 AI 基礎建設     2330 台積電</a:t>
            </a:r>
          </a:p>
          <a:p xmlns:a="http://schemas.openxmlformats.org/drawingml/2006/main">
            <a:r>
              <a:t>             ⚫    GPU/CPU           3037 欣興</a:t>
            </a:r>
          </a:p>
          <a:p xmlns:a="http://schemas.openxmlformats.org/drawingml/2006/main">
            <a:r>
              <a:t>             ⚫    高速傳輸/介面           8028 昇陽半</a:t>
            </a:r>
          </a:p>
          <a:p xmlns:a="http://schemas.openxmlformats.org/drawingml/2006/main">
            <a:r>
              <a:t>             ⚫    載板                3443 創意</a:t>
            </a:r>
          </a:p>
          <a:p xmlns:a="http://schemas.openxmlformats.org/drawingml/2006/main">
            <a:r>
              <a:t>             零組件規格升級                2059 川湖</a:t>
            </a:r>
          </a:p>
          <a:p xmlns:a="http://schemas.openxmlformats.org/drawingml/2006/main">
            <a:r>
              <a:t>             ⚫    伺服器滑軌、連接器線材       3017 奇鋐</a:t>
            </a:r>
          </a:p>
          <a:p xmlns:a="http://schemas.openxmlformats.org/drawingml/2006/main">
            <a:r>
              <a:t>             ⚫    光通訊雷射             2455 全新</a:t>
            </a:r>
          </a:p>
          <a:p xmlns:a="http://schemas.openxmlformats.org/drawingml/2006/main">
            <a:r>
              <a:t>             ⚫    散熱                3665 貿聯-KY</a:t>
            </a:r>
          </a:p>
          <a:p xmlns:a="http://schemas.openxmlformats.org/drawingml/2006/main">
            <a:r>
              <a:t>             能源、殖利率                 1519 華城</a:t>
            </a:r>
          </a:p>
          <a:p xmlns:a="http://schemas.openxmlformats.org/drawingml/2006/main">
            <a:r>
              <a:t>             ⚫    重電設備              1303 南亞</a:t>
            </a:r>
          </a:p>
          <a:p xmlns:a="http://schemas.openxmlformats.org/drawingml/2006/main">
            <a:r>
              <a:t>             ⚫    特化                4749 新應材</a:t>
            </a:r>
          </a:p>
          <a:p xmlns:a="http://schemas.openxmlformats.org/drawingml/2006/main">
            <a:r>
              <a:t>             ⚫    金控類股              2882 國泰金</a:t>
            </a:r>
          </a:p>
          <a:p xmlns:a="http://schemas.openxmlformats.org/drawingml/2006/main">
            <a:r>
              <a:t>             資料來源：富邦投顧整理。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2</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10月重要產業議題</a:t>
            </a:r>
          </a:p>
          <a:p xmlns:a="http://schemas.openxmlformats.org/drawingml/2006/main">
            <a:r>
              <a:t/>
            </a:r>
          </a:p>
          <a:p xmlns:a="http://schemas.openxmlformats.org/drawingml/2006/main">
            <a:r>
              <a:t/>
            </a:r>
          </a:p>
          <a:p xmlns:a="http://schemas.openxmlformats.org/drawingml/2006/main">
            <a:r>
              <a:t>             半導體垂直整合與策略聯盟優勢日趨重要，台廠市占率可望提升</a:t>
            </a:r>
          </a:p>
          <a:p xmlns:a="http://schemas.openxmlformats.org/drawingml/2006/main">
            <a:r>
              <a:t>             隨生成式 AI、雲端運算及高效能運算需求持續擴張，先進製程產能維持高稼動率，</a:t>
            </a:r>
          </a:p>
          <a:p xmlns:a="http://schemas.openxmlformats.org/drawingml/2006/main">
            <a:r>
              <a:t>             供給吃緊不僅支撐晶圓價格，也促使晶圓代工廠加快資本支出與新廠建置，帶動半</a:t>
            </a:r>
          </a:p>
          <a:p xmlns:a="http://schemas.openxmlformats.org/drawingml/2006/main">
            <a:r>
              <a:t>             導體設備與材料需求。不僅如此，AI 晶片持續朝更高運算效能與更大型機櫃架構發</a:t>
            </a:r>
          </a:p>
          <a:p xmlns:a="http://schemas.openxmlformats.org/drawingml/2006/main">
            <a:r>
              <a:t>             展，尤其競爭優勢來源由 GPU、記憶體配置進一步延伸至高速網通等互連相關領域</a:t>
            </a:r>
          </a:p>
          <a:p xmlns:a="http://schemas.openxmlformats.org/drawingml/2006/main">
            <a:r>
              <a:t>             (包含 CPO/NPO)，加上晶片尺寸、功耗與整合複雜度提升，進一步推升 CoWoS、</a:t>
            </a:r>
          </a:p>
          <a:p xmlns:a="http://schemas.openxmlformats.org/drawingml/2006/main">
            <a:r>
              <a:t>             CoPoS、SoIC 等先進封裝產能，以及晶圓測試、成品測試與相關設備需求。整體而</a:t>
            </a:r>
          </a:p>
          <a:p xmlns:a="http://schemas.openxmlformats.org/drawingml/2006/main">
            <a:r>
              <a:t>             言，AI 半導體成長動能正由單一 GPU 逐步擴散至晶圓代工與先進封裝整合，以及</a:t>
            </a:r>
          </a:p>
          <a:p xmlns:a="http://schemas.openxmlformats.org/drawingml/2006/main">
            <a:r>
              <a:t>             測試與設備等環節是否能跟上，這樣的發展趨勢更加深台灣半導體供應鏈的全球重</a:t>
            </a:r>
          </a:p>
          <a:p xmlns:a="http://schemas.openxmlformats.org/drawingml/2006/main">
            <a:r>
              <a:t>             要性，尤其看好接下來獨立封測廠、新切入半導體上游製程設備供應商之業績表現。</a:t>
            </a:r>
          </a:p>
          <a:p xmlns:a="http://schemas.openxmlformats.org/drawingml/2006/main">
            <a:r>
              <a:t/>
            </a:r>
          </a:p>
          <a:p xmlns:a="http://schemas.openxmlformats.org/drawingml/2006/main">
            <a:r>
              <a:t/>
            </a:r>
          </a:p>
          <a:p xmlns:a="http://schemas.openxmlformats.org/drawingml/2006/main">
            <a:r>
              <a:t>             台灣 CPO 供應鏈日趨完整</a:t>
            </a:r>
          </a:p>
          <a:p xmlns:a="http://schemas.openxmlformats.org/drawingml/2006/main">
            <a:r>
              <a:t>             隨著 AI 浪潮而來的網路流量爆炸性成長以及資料中心對高速與低功耗的需求增長，</a:t>
            </a:r>
          </a:p>
          <a:p xmlns:a="http://schemas.openxmlformats.org/drawingml/2006/main">
            <a:r>
              <a:t>             推升網通設備升級浪潮一波比一波強。尤其矽光子 SiPh 與 CPO 技術進入落地階段，</a:t>
            </a:r>
          </a:p>
          <a:p xmlns:a="http://schemas.openxmlformats.org/drawingml/2006/main">
            <a:r>
              <a:t>             尤其台積電緊湊型通用光子引擎 COUPE 可在性能、功耗和成本方面滿足廣泛的應</a:t>
            </a:r>
          </a:p>
          <a:p xmlns:a="http://schemas.openxmlformats.org/drawingml/2006/main">
            <a:r>
              <a:t>             用，未來整體功耗可望節省超過 10 倍，同時傳輸效率提升 20 倍，可望加速 CPO 滲</a:t>
            </a:r>
          </a:p>
          <a:p xmlns:a="http://schemas.openxmlformats.org/drawingml/2006/main">
            <a:r>
              <a:t>             透率提升速度。對此，富邦認為未來商機可以著眼於以下重點環節：（1）EIC、PIC</a:t>
            </a:r>
          </a:p>
          <a:p xmlns:a="http://schemas.openxmlformats.org/drawingml/2006/main">
            <a:r>
              <a:t>             晶片設計與製造（2）EIC、PIC 先進封裝（3）光電訊號量測、雷射、微透鏡、光耦</a:t>
            </a:r>
          </a:p>
          <a:p xmlns:a="http://schemas.openxmlformats.org/drawingml/2006/main">
            <a:r>
              <a:t>             合、FAU 設計、光學黏膠等。綜合前述，可預期未來將越來越多原本光通訊零組件</a:t>
            </a:r>
          </a:p>
          <a:p xmlns:a="http://schemas.openxmlformats.org/drawingml/2006/main">
            <a:r>
              <a:t>             或網通設備零組件業者切入 CPO 後段領域，產業逐漸從少數業者型態邁向百花齊放</a:t>
            </a:r>
          </a:p>
          <a:p xmlns:a="http://schemas.openxmlformats.org/drawingml/2006/main">
            <a:r>
              <a:t>             之熱絡情況，台系業者因長期耕耘光訊號傳輸零組件領域，並具 AI 上下游製造端絕</a:t>
            </a:r>
          </a:p>
          <a:p xmlns:a="http://schemas.openxmlformats.org/drawingml/2006/main">
            <a:r>
              <a:t>             對優勢，可望成為國際通訊大廠主要合作夥伴。</a:t>
            </a:r>
          </a:p>
          <a:p xmlns:a="http://schemas.openxmlformats.org/drawingml/2006/main">
            <a:r>
              <a:t/>
            </a:r>
          </a:p>
          <a:p xmlns:a="http://schemas.openxmlformats.org/drawingml/2006/main">
            <a:r>
              <a:t/>
            </a:r>
          </a:p>
          <a:p xmlns:a="http://schemas.openxmlformats.org/drawingml/2006/main">
            <a:r>
              <a:t>             證券、銀行與壽險三大業務均維持高成長態勢，提前布局 2027 除息行情</a:t>
            </a:r>
          </a:p>
          <a:p xmlns:a="http://schemas.openxmlformats.org/drawingml/2006/main">
            <a:r>
              <a:t>             受惠於企業投資需求強勁，台灣銀行業者2026年放款上看雙位數成長，外幣放款為</a:t>
            </a:r>
          </a:p>
          <a:p xmlns:a="http://schemas.openxmlformats.org/drawingml/2006/main">
            <a:r>
              <a:t>             主要成長動能。因企業投資動能可望延續，預估2027年放款仍將達高個位數成長。</a:t>
            </a:r>
          </a:p>
          <a:p xmlns:a="http://schemas.openxmlformats.org/drawingml/2006/main">
            <a:r>
              <a:t>             企業資金需求強勁有助於銀行業者優化放款結構，預估2H26放款收益率與淨利差均</a:t>
            </a:r>
          </a:p>
          <a:p xmlns:a="http://schemas.openxmlformats.org/drawingml/2006/main">
            <a:r>
              <a:t>             將較1H26佳，Fed升息亦有助於淨利差可望進一步擴大。壽險方面，國內業者多將</a:t>
            </a:r>
          </a:p>
          <a:p xmlns:a="http://schemas.openxmlformats.org/drawingml/2006/main">
            <a:r>
              <a:t>             股權投資部位認列為FVOCI，資本利得不再計入損益表，故財報獲利並未反映真實</a:t>
            </a:r>
          </a:p>
          <a:p xmlns:a="http://schemas.openxmlformats.org/drawingml/2006/main">
            <a:r>
              <a:t>             狀態，因金控將以調整後EPS為股利發放基礎，故2026年現金股息發放能力可期。</a:t>
            </a:r>
          </a:p>
          <a:p xmlns:a="http://schemas.openxmlformats.org/drawingml/2006/main">
            <a:r>
              <a:t>             此外，隨著保費收入成長，壽險業CSM攤銷至損益表之金額可望逐年增加，故未來</a:t>
            </a:r>
          </a:p>
          <a:p xmlns:a="http://schemas.openxmlformats.org/drawingml/2006/main">
            <a:r>
              <a:t>             損益表之保險服務結果將穩定成長；財務結果方面，因長天期債券殖利率位居高檔，</a:t>
            </a:r>
          </a:p>
          <a:p xmlns:a="http://schemas.openxmlformats.org/drawingml/2006/main">
            <a:r>
              <a:t>             預估今/明年避險前經常性收益率將維持在3.5%，且採用IFRS17後，保單負債成本已</a:t>
            </a:r>
          </a:p>
          <a:p xmlns:a="http://schemas.openxmlformats.org/drawingml/2006/main">
            <a:r>
              <a:t>             反映市場利率而下降，加上避險比重與成本降低，故未來將可維持利差益。另外，因</a:t>
            </a:r>
          </a:p>
          <a:p xmlns:a="http://schemas.openxmlformats.org/drawingml/2006/main">
            <a:r>
              <a:t>             保險負債對利率的敏感度較資產高，故殖利率攀升反將使壽險業者淨值提升。</a:t>
            </a:r>
          </a:p>
          <a:p xmlns:a="http://schemas.openxmlformats.org/drawingml/2006/main">
            <a:r>
              <a:t/>
            </a:r>
          </a:p>
          <a:p xmlns:a="http://schemas.openxmlformats.org/drawingml/2006/main">
            <a:r>
              <a:t/>
            </a:r>
          </a:p>
          <a:p xmlns:a="http://schemas.openxmlformats.org/drawingml/2006/main">
            <a:r>
              <a:t>             綜合上述，國內大型金控在證券、銀行與壽險三大業務維持高成長態勢之下，有利</a:t>
            </a:r>
          </a:p>
          <a:p xmlns:a="http://schemas.openxmlformats.org/drawingml/2006/main">
            <a:r>
              <a:t>             於2026~2027年現金股利發放水準連續性上揚，對長期穩健投資者帶來極具吸引力</a:t>
            </a:r>
          </a:p>
          <a:p xmlns:a="http://schemas.openxmlformats.org/drawingml/2006/main">
            <a:r>
              <a:t>             之長期報酬預期。</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依使用者提供《2026年10月產業投資策略》濃縮，資料日期2026年9月30日；觀點及預測不代表確定結果。</a:t>
            </a:r>
          </a:p>
          <a:p xmlns:a="http://schemas.openxmlformats.org/drawingml/2006/main">
            <a:r>
              <a:t>產業示意圖由AI生成，非真實設備配置或企業照片。</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Fubon Research</a:t>
            </a:r>
          </a:p>
          <a:p xmlns:a="http://schemas.openxmlformats.org/drawingml/2006/main">
            <a:r>
              <a:t>                          10 月台股產業投資策略</a:t>
            </a:r>
          </a:p>
          <a:p xmlns:a="http://schemas.openxmlformats.org/drawingml/2006/main">
            <a:r>
              <a:t>2026 年 9 月 30 日</a:t>
            </a:r>
          </a:p>
          <a:p xmlns:a="http://schemas.openxmlformats.org/drawingml/2006/main">
            <a:r>
              <a:t/>
            </a:r>
          </a:p>
          <a:p xmlns:a="http://schemas.openxmlformats.org/drawingml/2006/main">
            <a:r>
              <a:t>                          挑戰五萬大關</a:t>
            </a:r>
          </a:p>
          <a:p xmlns:a="http://schemas.openxmlformats.org/drawingml/2006/main">
            <a:r>
              <a:t/>
            </a:r>
          </a:p>
          <a:p xmlns:a="http://schemas.openxmlformats.org/drawingml/2006/main">
            <a:r>
              <a:t>                           1. 聯準會再次升息雖提高股市壓力，但預期第三季財報強勁可抵消不利因素。</a:t>
            </a:r>
          </a:p>
          <a:p xmlns:a="http://schemas.openxmlformats.org/drawingml/2006/main">
            <a:r>
              <a:t>                           2. 台積電訂單外溢效應將成為另一個 AI 供應鏈投資亮點。</a:t>
            </a:r>
          </a:p>
          <a:p xmlns:a="http://schemas.openxmlformats.org/drawingml/2006/main">
            <a:r>
              <a:t>                           3. 9 月選股策略：聚焦台積電訂單外溢效益、AI 基建、零組件升規與能源四大</a:t>
            </a:r>
          </a:p>
          <a:p xmlns:a="http://schemas.openxmlformats.org/drawingml/2006/main">
            <a:r>
              <a:t>                             議題。</a:t>
            </a:r>
          </a:p>
          <a:p xmlns:a="http://schemas.openxmlformats.org/drawingml/2006/main">
            <a:r>
              <a:t/>
            </a:r>
          </a:p>
          <a:p xmlns:a="http://schemas.openxmlformats.org/drawingml/2006/main">
            <a:r>
              <a:t>                          重點摘要</a:t>
            </a:r>
          </a:p>
          <a:p xmlns:a="http://schemas.openxmlformats.org/drawingml/2006/main">
            <a:r>
              <a:t/>
            </a:r>
          </a:p>
          <a:p xmlns:a="http://schemas.openxmlformats.org/drawingml/2006/main">
            <a:r>
              <a:t/>
            </a:r>
          </a:p>
          <a:p xmlns:a="http://schemas.openxmlformats.org/drawingml/2006/main">
            <a:r>
              <a:t>                          聯準會 9 月宣布升息一碼並宣布上修 2026、2027 年利率目標中值至 4.1%，雖對</a:t>
            </a:r>
          </a:p>
          <a:p xmlns:a="http://schemas.openxmlformats.org/drawingml/2006/main">
            <a:r>
              <a:t>                          股市帶來短暫壓抑力道，但隨著利率政策的不確性消失，產業即將迎來有史以來最</a:t>
            </a:r>
          </a:p>
          <a:p xmlns:a="http://schemas.openxmlformats.org/drawingml/2006/main">
            <a:r>
              <a:t>資料來源：工商時報。</a:t>
            </a:r>
          </a:p>
          <a:p xmlns:a="http://schemas.openxmlformats.org/drawingml/2006/main">
            <a:r>
              <a:t>                          強的旺季，並政策利多助攻之下，台股可望挑戰五萬大關。投資策略焦點雖仍是 AI，</a:t>
            </a:r>
          </a:p>
          <a:p xmlns:a="http://schemas.openxmlformats.org/drawingml/2006/main">
            <a:r>
              <a:t>                          但建議聚焦訂單外溢效益及下一世代 AI 平台之規格升級議題。</a:t>
            </a:r>
          </a:p>
          <a:p xmlns:a="http://schemas.openxmlformats.org/drawingml/2006/main">
            <a:r>
              <a:t/>
            </a:r>
          </a:p>
          <a:p xmlns:a="http://schemas.openxmlformats.org/drawingml/2006/main">
            <a:r>
              <a:t/>
            </a:r>
          </a:p>
          <a:p xmlns:a="http://schemas.openxmlformats.org/drawingml/2006/main">
            <a:r>
              <a:t>                          聯準會再次升息雖提高股市壓力，但預期第三季財報強勁可抵消不利因素</a:t>
            </a:r>
          </a:p>
          <a:p xmlns:a="http://schemas.openxmlformats.org/drawingml/2006/main">
            <a:r>
              <a:t>                          台灣 8 月外銷接單再創歷史新高，首次突破 1 千億美元，較去年同期大幅增長 71.4%，</a:t>
            </a:r>
          </a:p>
          <a:p xmlns:a="http://schemas.openxmlformats.org/drawingml/2006/main">
            <a:r>
              <a:t>                          前 8 月年增率高達 55%，因已進入外銷旺季，廠商仍看好後續接單與出口，全年接</a:t>
            </a:r>
          </a:p>
          <a:p xmlns:a="http://schemas.openxmlformats.org/drawingml/2006/main">
            <a:r>
              <a:t>                          單金額可望達到 1 兆美元；8 月景氣對策信號可望挑戰 2021 年連九紅記錄。9 月</a:t>
            </a:r>
          </a:p>
          <a:p xmlns:a="http://schemas.openxmlformats.org/drawingml/2006/main">
            <a:r>
              <a:t>廖顯毅                       16 日聯準會 12 位票委一致決議升息 1 碼至 3.75%-4%，為 2023/7 來首度升息，</a:t>
            </a:r>
          </a:p>
          <a:p xmlns:a="http://schemas.openxmlformats.org/drawingml/2006/main">
            <a:r>
              <a:t>(886-2) 2781-5995#37038</a:t>
            </a:r>
          </a:p>
          <a:p xmlns:a="http://schemas.openxmlformats.org/drawingml/2006/main">
            <a:r>
              <a:t>Arthur.liao@fubon.com     並且上修 2026、2027 年利率目標中值至 4.1%。主席華許堅守決策獨立性、秉持不</a:t>
            </a:r>
          </a:p>
          <a:p xmlns:a="http://schemas.openxmlformats.org/drawingml/2006/main">
            <a:r>
              <a:t>                          預判政策路徑原則。市場對年底前再升息 1-2 碼預期仍高，推升美 10 年債殖利率</a:t>
            </a:r>
          </a:p>
          <a:p xmlns:a="http://schemas.openxmlformats.org/drawingml/2006/main">
            <a:r>
              <a:t>劉立中</a:t>
            </a:r>
          </a:p>
          <a:p xmlns:a="http://schemas.openxmlformats.org/drawingml/2006/main">
            <a:r>
              <a:t>(886-2) 2781-5995#37126</a:t>
            </a:r>
          </a:p>
          <a:p xmlns:a="http://schemas.openxmlformats.org/drawingml/2006/main">
            <a:r>
              <a:t>                          至 5%以上，高利率對股市估值壓力將提高。10 月上市公司將陸續公布第三季財報，</a:t>
            </a:r>
          </a:p>
          <a:p xmlns:a="http://schemas.openxmlformats.org/drawingml/2006/main">
            <a:r>
              <a:t>lewis.liu@fubon.com       盈餘展望仍佳，LSEG 調查預估第三季標普 500 企業盈餘年增率將達 29.9%，占權</a:t>
            </a:r>
          </a:p>
          <a:p xmlns:a="http://schemas.openxmlformats.org/drawingml/2006/main">
            <a:r>
              <a:t>                          重最高的科技股成長展望更高達 64.9%，將對股價形成支撐。時序進入最後一季，</a:t>
            </a:r>
          </a:p>
          <a:p xmlns:a="http://schemas.openxmlformats.org/drawingml/2006/main">
            <a:r>
              <a:t>黃大仁</a:t>
            </a:r>
          </a:p>
          <a:p xmlns:a="http://schemas.openxmlformats.org/drawingml/2006/main">
            <a:r>
              <a:t>(886-2)2781-5995#37118    美國期中選舉進入選前最後一個月，選後政治不確定性淡化，而過去四十餘年美股</a:t>
            </a:r>
          </a:p>
          <a:p xmlns:a="http://schemas.openxmlformats.org/drawingml/2006/main">
            <a:r>
              <a:t>darren.huang@fubon.com</a:t>
            </a:r>
          </a:p>
          <a:p xmlns:a="http://schemas.openxmlformats.org/drawingml/2006/main">
            <a:r>
              <a:t>                          在國會選舉結果為分裂國會狀態下，平均漲幅最高，</a:t>
            </a:r>
          </a:p>
          <a:p xmlns:a="http://schemas.openxmlformats.org/drawingml/2006/main">
            <a:r>
              <a:t/>
            </a:r>
          </a:p>
          <a:p xmlns:a="http://schemas.openxmlformats.org/drawingml/2006/main">
            <a:r>
              <a:t/>
            </a:r>
          </a:p>
          <a:p xmlns:a="http://schemas.openxmlformats.org/drawingml/2006/main">
            <a:r>
              <a:t>                          台積電訂單外溢效應將成為另一個 AI 供應鏈投資亮點</a:t>
            </a:r>
          </a:p>
          <a:p xmlns:a="http://schemas.openxmlformats.org/drawingml/2006/main">
            <a:r>
              <a:t>                          台股多頭主軸仍聚焦 AI，但 AI 供應鏈投資邏輯將逐步由單純的 AI 晶片需求擴張，</a:t>
            </a:r>
          </a:p>
          <a:p xmlns:a="http://schemas.openxmlformats.org/drawingml/2006/main">
            <a:r>
              <a:t>                          轉向高階製程與先進封裝整合，尤其 AI ASIC、GPU 及 HBM 需求持續推升台積電</a:t>
            </a:r>
          </a:p>
          <a:p xmlns:a="http://schemas.openxmlformats.org/drawingml/2006/main">
            <a:r>
              <a:t>                          CoWoS 需求，台積電雖積極提升產能擴充幅度，但仍難以滿足 2028 年前之需求。</a:t>
            </a:r>
          </a:p>
          <a:p xmlns:a="http://schemas.openxmlformats.org/drawingml/2006/main">
            <a:r>
              <a:t>                          預期 Google、Meta 等自研方案將會尋求如 Intel、聯電等非台積電體系產能支援，</a:t>
            </a:r>
          </a:p>
          <a:p xmlns:a="http://schemas.openxmlformats.org/drawingml/2006/main">
            <a:r>
              <a:t>                          並帶動相關設備與材料需求，此類供應鏈的關鍵技術環節自主性更高，一旦外溢需</a:t>
            </a:r>
          </a:p>
          <a:p xmlns:a="http://schemas.openxmlformats.org/drawingml/2006/main">
            <a:r>
              <a:t>                          求化為實質業績動能，獲利成長性將更強勁，預期可望為台灣 AI 供應鏈帶來另一個</a:t>
            </a:r>
          </a:p>
          <a:p xmlns:a="http://schemas.openxmlformats.org/drawingml/2006/main">
            <a:r>
              <a:t>                          推升景氣的強力動能。</a:t>
            </a:r>
          </a:p>
          <a:p xmlns:a="http://schemas.openxmlformats.org/drawingml/2006/main">
            <a:r>
              <a:t/>
            </a:r>
          </a:p>
          <a:p xmlns:a="http://schemas.openxmlformats.org/drawingml/2006/main">
            <a:r>
              <a:t/>
            </a:r>
          </a:p>
          <a:p xmlns:a="http://schemas.openxmlformats.org/drawingml/2006/main">
            <a:r>
              <a:t>                          規格升級題材將逐步取代漲價議題成為零組件投資焦點</a:t>
            </a:r>
          </a:p>
          <a:p xmlns:a="http://schemas.openxmlformats.org/drawingml/2006/main">
            <a:r>
              <a:t>                          儘管記憶體、被動元件、CCL、載板等零組件持續因供給不平衡以及原物料成本上揚</a:t>
            </a:r>
          </a:p>
          <a:p xmlns:a="http://schemas.openxmlformats.org/drawingml/2006/main">
            <a:r>
              <a:t>                          而調漲價格，但這早已在投資市場預期之中。後續季報表現雖亮眼，但僅會對股價</a:t>
            </a:r>
          </a:p>
          <a:p xmlns:a="http://schemas.openxmlformats.org/drawingml/2006/main">
            <a:r>
              <a:t>                          帶來短暫火花。富邦認為 4Q26 起針對零組件供應鏈之投資策略，應逐漸留意規格</a:t>
            </a:r>
          </a:p>
          <a:p xmlns:a="http://schemas.openxmlformats.org/drawingml/2006/main">
            <a:r>
              <a:t>                          升級議題，尤其是升規的零組件將扮演下一世代的 AI 伺服器/機櫃能否順利量產之</a:t>
            </a:r>
          </a:p>
          <a:p xmlns:a="http://schemas.openxmlformats.org/drawingml/2006/main">
            <a:r>
              <a:t>                          關鍵，例如 CCL M8/M9 升級、適用於高電壓系統之電容等，能領先競爭同業規格</a:t>
            </a:r>
          </a:p>
          <a:p xmlns:a="http://schemas.openxmlformats.org/drawingml/2006/main">
            <a:r>
              <a:t>                          提升並量產之業者將是我們關注之焦點。</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1</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10月重要產業議題</a:t>
            </a:r>
          </a:p>
          <a:p xmlns:a="http://schemas.openxmlformats.org/drawingml/2006/main">
            <a:r>
              <a:t/>
            </a:r>
          </a:p>
          <a:p xmlns:a="http://schemas.openxmlformats.org/drawingml/2006/main">
            <a:r>
              <a:t/>
            </a:r>
          </a:p>
          <a:p xmlns:a="http://schemas.openxmlformats.org/drawingml/2006/main">
            <a:r>
              <a:t>             半導體垂直整合與策略聯盟優勢日趨重要，台廠市占率可望提升</a:t>
            </a:r>
          </a:p>
          <a:p xmlns:a="http://schemas.openxmlformats.org/drawingml/2006/main">
            <a:r>
              <a:t>             隨生成式 AI、雲端運算及高效能運算需求持續擴張，先進製程產能維持高稼動率，</a:t>
            </a:r>
          </a:p>
          <a:p xmlns:a="http://schemas.openxmlformats.org/drawingml/2006/main">
            <a:r>
              <a:t>             供給吃緊不僅支撐晶圓價格，也促使晶圓代工廠加快資本支出與新廠建置，帶動半</a:t>
            </a:r>
          </a:p>
          <a:p xmlns:a="http://schemas.openxmlformats.org/drawingml/2006/main">
            <a:r>
              <a:t>             導體設備與材料需求。不僅如此，AI 晶片持續朝更高運算效能與更大型機櫃架構發</a:t>
            </a:r>
          </a:p>
          <a:p xmlns:a="http://schemas.openxmlformats.org/drawingml/2006/main">
            <a:r>
              <a:t>             展，尤其競爭優勢來源由 GPU、記憶體配置進一步延伸至高速網通等互連相關領域</a:t>
            </a:r>
          </a:p>
          <a:p xmlns:a="http://schemas.openxmlformats.org/drawingml/2006/main">
            <a:r>
              <a:t>             (包含 CPO/NPO)，加上晶片尺寸、功耗與整合複雜度提升，進一步推升 CoWoS、</a:t>
            </a:r>
          </a:p>
          <a:p xmlns:a="http://schemas.openxmlformats.org/drawingml/2006/main">
            <a:r>
              <a:t>             CoPoS、SoIC 等先進封裝產能，以及晶圓測試、成品測試與相關設備需求。整體而</a:t>
            </a:r>
          </a:p>
          <a:p xmlns:a="http://schemas.openxmlformats.org/drawingml/2006/main">
            <a:r>
              <a:t>             言，AI 半導體成長動能正由單一 GPU 逐步擴散至晶圓代工與先進封裝整合，以及</a:t>
            </a:r>
          </a:p>
          <a:p xmlns:a="http://schemas.openxmlformats.org/drawingml/2006/main">
            <a:r>
              <a:t>             測試與設備等環節是否能跟上，這樣的發展趨勢更加深台灣半導體供應鏈的全球重</a:t>
            </a:r>
          </a:p>
          <a:p xmlns:a="http://schemas.openxmlformats.org/drawingml/2006/main">
            <a:r>
              <a:t>             要性，尤其看好接下來獨立封測廠、新切入半導體上游製程設備供應商之業績表現。</a:t>
            </a:r>
          </a:p>
          <a:p xmlns:a="http://schemas.openxmlformats.org/drawingml/2006/main">
            <a:r>
              <a:t/>
            </a:r>
          </a:p>
          <a:p xmlns:a="http://schemas.openxmlformats.org/drawingml/2006/main">
            <a:r>
              <a:t/>
            </a:r>
          </a:p>
          <a:p xmlns:a="http://schemas.openxmlformats.org/drawingml/2006/main">
            <a:r>
              <a:t>             台灣 CPO 供應鏈日趨完整</a:t>
            </a:r>
          </a:p>
          <a:p xmlns:a="http://schemas.openxmlformats.org/drawingml/2006/main">
            <a:r>
              <a:t>             隨著 AI 浪潮而來的網路流量爆炸性成長以及資料中心對高速與低功耗的需求增長，</a:t>
            </a:r>
          </a:p>
          <a:p xmlns:a="http://schemas.openxmlformats.org/drawingml/2006/main">
            <a:r>
              <a:t>             推升網通設備升級浪潮一波比一波強。尤其矽光子 SiPh 與 CPO 技術進入落地階段，</a:t>
            </a:r>
          </a:p>
          <a:p xmlns:a="http://schemas.openxmlformats.org/drawingml/2006/main">
            <a:r>
              <a:t>             尤其台積電緊湊型通用光子引擎 COUPE 可在性能、功耗和成本方面滿足廣泛的應</a:t>
            </a:r>
          </a:p>
          <a:p xmlns:a="http://schemas.openxmlformats.org/drawingml/2006/main">
            <a:r>
              <a:t>             用，未來整體功耗可望節省超過 10 倍，同時傳輸效率提升 20 倍，可望加速 CPO 滲</a:t>
            </a:r>
          </a:p>
          <a:p xmlns:a="http://schemas.openxmlformats.org/drawingml/2006/main">
            <a:r>
              <a:t>             透率提升速度。對此，富邦認為未來商機可以著眼於以下重點環節：（1）EIC、PIC</a:t>
            </a:r>
          </a:p>
          <a:p xmlns:a="http://schemas.openxmlformats.org/drawingml/2006/main">
            <a:r>
              <a:t>             晶片設計與製造（2）EIC、PIC 先進封裝（3）光電訊號量測、雷射、微透鏡、光耦</a:t>
            </a:r>
          </a:p>
          <a:p xmlns:a="http://schemas.openxmlformats.org/drawingml/2006/main">
            <a:r>
              <a:t>             合、FAU 設計、光學黏膠等。綜合前述，可預期未來將越來越多原本光通訊零組件</a:t>
            </a:r>
          </a:p>
          <a:p xmlns:a="http://schemas.openxmlformats.org/drawingml/2006/main">
            <a:r>
              <a:t>             或網通設備零組件業者切入 CPO 後段領域，產業逐漸從少數業者型態邁向百花齊放</a:t>
            </a:r>
          </a:p>
          <a:p xmlns:a="http://schemas.openxmlformats.org/drawingml/2006/main">
            <a:r>
              <a:t>             之熱絡情況，台系業者因長期耕耘光訊號傳輸零組件領域，並具 AI 上下游製造端絕</a:t>
            </a:r>
          </a:p>
          <a:p xmlns:a="http://schemas.openxmlformats.org/drawingml/2006/main">
            <a:r>
              <a:t>             對優勢，可望成為國際通訊大廠主要合作夥伴。</a:t>
            </a:r>
          </a:p>
          <a:p xmlns:a="http://schemas.openxmlformats.org/drawingml/2006/main">
            <a:r>
              <a:t/>
            </a:r>
          </a:p>
          <a:p xmlns:a="http://schemas.openxmlformats.org/drawingml/2006/main">
            <a:r>
              <a:t/>
            </a:r>
          </a:p>
          <a:p xmlns:a="http://schemas.openxmlformats.org/drawingml/2006/main">
            <a:r>
              <a:t>             證券、銀行與壽險三大業務均維持高成長態勢，提前布局 2027 除息行情</a:t>
            </a:r>
          </a:p>
          <a:p xmlns:a="http://schemas.openxmlformats.org/drawingml/2006/main">
            <a:r>
              <a:t>             受惠於企業投資需求強勁，台灣銀行業者2026年放款上看雙位數成長，外幣放款為</a:t>
            </a:r>
          </a:p>
          <a:p xmlns:a="http://schemas.openxmlformats.org/drawingml/2006/main">
            <a:r>
              <a:t>             主要成長動能。因企業投資動能可望延續，預估2027年放款仍將達高個位數成長。</a:t>
            </a:r>
          </a:p>
          <a:p xmlns:a="http://schemas.openxmlformats.org/drawingml/2006/main">
            <a:r>
              <a:t>             企業資金需求強勁有助於銀行業者優化放款結構，預估2H26放款收益率與淨利差均</a:t>
            </a:r>
          </a:p>
          <a:p xmlns:a="http://schemas.openxmlformats.org/drawingml/2006/main">
            <a:r>
              <a:t>             將較1H26佳，Fed升息亦有助於淨利差可望進一步擴大。壽險方面，國內業者多將</a:t>
            </a:r>
          </a:p>
          <a:p xmlns:a="http://schemas.openxmlformats.org/drawingml/2006/main">
            <a:r>
              <a:t>             股權投資部位認列為FVOCI，資本利得不再計入損益表，故財報獲利並未反映真實</a:t>
            </a:r>
          </a:p>
          <a:p xmlns:a="http://schemas.openxmlformats.org/drawingml/2006/main">
            <a:r>
              <a:t>             狀態，因金控將以調整後EPS為股利發放基礎，故2026年現金股息發放能力可期。</a:t>
            </a:r>
          </a:p>
          <a:p xmlns:a="http://schemas.openxmlformats.org/drawingml/2006/main">
            <a:r>
              <a:t>             此外，隨著保費收入成長，壽險業CSM攤銷至損益表之金額可望逐年增加，故未來</a:t>
            </a:r>
          </a:p>
          <a:p xmlns:a="http://schemas.openxmlformats.org/drawingml/2006/main">
            <a:r>
              <a:t>             損益表之保險服務結果將穩定成長；財務結果方面，因長天期債券殖利率位居高檔，</a:t>
            </a:r>
          </a:p>
          <a:p xmlns:a="http://schemas.openxmlformats.org/drawingml/2006/main">
            <a:r>
              <a:t>             預估今/明年避險前經常性收益率將維持在3.5%，且採用IFRS17後，保單負債成本已</a:t>
            </a:r>
          </a:p>
          <a:p xmlns:a="http://schemas.openxmlformats.org/drawingml/2006/main">
            <a:r>
              <a:t>             反映市場利率而下降，加上避險比重與成本降低，故未來將可維持利差益。另外，因</a:t>
            </a:r>
          </a:p>
          <a:p xmlns:a="http://schemas.openxmlformats.org/drawingml/2006/main">
            <a:r>
              <a:t>             保險負債對利率的敏感度較資產高，故殖利率攀升反將使壽險業者淨值提升。</a:t>
            </a:r>
          </a:p>
          <a:p xmlns:a="http://schemas.openxmlformats.org/drawingml/2006/main">
            <a:r>
              <a:t/>
            </a:r>
          </a:p>
          <a:p xmlns:a="http://schemas.openxmlformats.org/drawingml/2006/main">
            <a:r>
              <a:t/>
            </a:r>
          </a:p>
          <a:p xmlns:a="http://schemas.openxmlformats.org/drawingml/2006/main">
            <a:r>
              <a:t>             綜合上述，國內大型金控在證券、銀行與壽險三大業務維持高成長態勢之下，有利</a:t>
            </a:r>
          </a:p>
          <a:p xmlns:a="http://schemas.openxmlformats.org/drawingml/2006/main">
            <a:r>
              <a:t>             於2026~2027年現金股利發放水準連續性上揚，對長期穩健投資者帶來極具吸引力</a:t>
            </a:r>
          </a:p>
          <a:p xmlns:a="http://schemas.openxmlformats.org/drawingml/2006/main">
            <a:r>
              <a:t>             之長期報酬預期。</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3</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a:r>
          </a:p>
          <a:p xmlns:a="http://schemas.openxmlformats.org/drawingml/2006/main">
            <a:r>
              <a:t>富邦次產業趨勢看法-科技股</a:t>
            </a:r>
          </a:p>
          <a:p xmlns:a="http://schemas.openxmlformats.org/drawingml/2006/main">
            <a:r>
              <a:t/>
            </a:r>
          </a:p>
          <a:p xmlns:a="http://schemas.openxmlformats.org/drawingml/2006/main">
            <a:r>
              <a:t>  次產業        看法                                  說明</a:t>
            </a:r>
          </a:p>
          <a:p xmlns:a="http://schemas.openxmlformats.org/drawingml/2006/main">
            <a:r>
              <a:t>                  ⚫   台積電先進製程節點產能，包括 N2 與 N3，將於 2026 年及 2027 年持續吃緊，主要反映 2027 年</a:t>
            </a:r>
          </a:p>
          <a:p xmlns:a="http://schemas.openxmlformats.org/drawingml/2006/main">
            <a:r>
              <a:t>半導體/封測       ↗        伺服器 CPU 需求強勁，預估供需缺口將擴大至 15-20%。台積電未來 2027 年資本支出展望將是關</a:t>
            </a:r>
          </a:p>
          <a:p xmlns:a="http://schemas.openxmlformats.org/drawingml/2006/main">
            <a:r>
              <a:t>                      鍵指標，預估台積電 2027 年資本支出將維持高檔並進一步往 750-800 億美元區間上緣靠攏。</a:t>
            </a:r>
          </a:p>
          <a:p xmlns:a="http://schemas.openxmlformats.org/drawingml/2006/main">
            <a:r>
              <a:t>                  ⚫   ASIC 服務模式正在解構：客戶因成本考量自行擴編前端設計、自行 tape out（毛利率極低但營運</a:t>
            </a:r>
          </a:p>
          <a:p xmlns:a="http://schemas.openxmlformats.org/drawingml/2006/main">
            <a:r>
              <a:t>  IP 服務      ↗        槓桿高），或於不同 die 設計、封裝、後段分拆不同供應商，使設計服務商毛利率結構性下移，但</a:t>
            </a:r>
          </a:p>
          <a:p xmlns:a="http://schemas.openxmlformats.org/drawingml/2006/main">
            <a:r>
              <a:t>                      營收規模同步放大。目前供應瓶頸為晶圓、封裝、載板三者並存。</a:t>
            </a:r>
          </a:p>
          <a:p xmlns:a="http://schemas.openxmlformats.org/drawingml/2006/main">
            <a:r>
              <a:t>                  ⚫   隨著晶圓代工產能趨緊，IC 設計產業同步出現漲價訊號。根據供應鏈消息，瑞昱已針對部分成熟製</a:t>
            </a:r>
          </a:p>
          <a:p xmlns:a="http://schemas.openxmlformats.org/drawingml/2006/main">
            <a:r>
              <a:t>  IC 設計      ↗        程產品啟動價格調整，涵蓋網通、連接、消費性及部分特殊規格晶片，反映上游晶圓製造、封裝測</a:t>
            </a:r>
          </a:p>
          <a:p xmlns:a="http://schemas.openxmlformats.org/drawingml/2006/main">
            <a:r>
              <a:t>                      試及關鍵材料成本上升。</a:t>
            </a:r>
          </a:p>
          <a:p xmlns:a="http://schemas.openxmlformats.org/drawingml/2006/main">
            <a:r>
              <a:t>                  ⚫   南電宣布將投入 468 億元資本支出，用於建設大尺寸高層數高階 IC 載板智慧工廠，主要針對</a:t>
            </a:r>
          </a:p>
          <a:p xmlns:a="http://schemas.openxmlformats.org/drawingml/2006/main">
            <a:r>
              <a:t>                      CoPoS 載板，產能擴充預計於 FY28 完成。在新產能上線前，目前產能擴充主要來自瓶頸排除。</a:t>
            </a:r>
          </a:p>
          <a:p xmlns:a="http://schemas.openxmlformats.org/drawingml/2006/main">
            <a:r>
              <a:t>                      另外，昆山廠的產能利用率因地緣政治因素約為 50%。然而，一家主要客戶已增加在昆山廠的訂</a:t>
            </a:r>
          </a:p>
          <a:p xmlns:a="http://schemas.openxmlformats.org/drawingml/2006/main">
            <a:r>
              <a:t>   載板        ↗        單，預計將帶動 FY27 產能利用率提升。</a:t>
            </a:r>
          </a:p>
          <a:p xmlns:a="http://schemas.openxmlformats.org/drawingml/2006/main">
            <a:r>
              <a:t>                  ⚫   欣興（3037 TT）預估其整體 ABF 載板產能將於 2027 年提升 30%至 40%。光復二廠及楊梅二廠的</a:t>
            </a:r>
          </a:p>
          <a:p xmlns:a="http://schemas.openxmlformats.org/drawingml/2006/main">
            <a:r>
              <a:t>                      預付款已超過廠房建設所需資金。隨著光復二廠三期產能加速開出，並結合現有廠區瓶頸排除，以</a:t>
            </a:r>
          </a:p>
          <a:p xmlns:a="http://schemas.openxmlformats.org/drawingml/2006/main">
            <a:r>
              <a:t>                      及部分 BT 製程支援 ABF，2027 年將陸續釋出新產能。</a:t>
            </a:r>
          </a:p>
          <a:p xmlns:a="http://schemas.openxmlformats.org/drawingml/2006/main">
            <a:r>
              <a:t>                  ⚫   根據國際被動元件各大廠最新法說，可看到 BB ratio 紛紛攀升至歷史高點，村田已經回升至 1.34</a:t>
            </a:r>
          </a:p>
          <a:p xmlns:a="http://schemas.openxmlformats.org/drawingml/2006/main">
            <a:r>
              <a:t>                      超過 2018 的水準，太陽誘電也提升至 1.72，國巨更在二季底來到 2.2 的驚人數字。BB ratio 的突</a:t>
            </a:r>
          </a:p>
          <a:p xmlns:a="http://schemas.openxmlformats.org/drawingml/2006/main">
            <a:r>
              <a:t>                      增代表高階超高容值 MLCC 需求提升，主要為 22uF/47uF/100uF 料號，或是高壓 NPO 等特殊規</a:t>
            </a:r>
          </a:p>
          <a:p xmlns:a="http://schemas.openxmlformats.org/drawingml/2006/main">
            <a:r>
              <a:t> 被動元件        ↗        格；亦代表消費性規格在庫存回補、提前備貨之下驅動的搶貨狀況。</a:t>
            </a:r>
          </a:p>
          <a:p xmlns:a="http://schemas.openxmlformats.org/drawingml/2006/main">
            <a:r>
              <a:t>                  ⚫   3Q26 財報將較上半年反映漲價狀況，而 4Q26 也還會再對通路商以及直接客戶再度漲價，主要以</a:t>
            </a:r>
          </a:p>
          <a:p xmlns:a="http://schemas.openxmlformats.org/drawingml/2006/main">
            <a:r>
              <a:t>                      消費性規格為主之外，AI 料號也將有不同幅度的價格調升，下一波漲勢將由 4Q26 的漲價題材以及</a:t>
            </a:r>
          </a:p>
          <a:p xmlns:a="http://schemas.openxmlformats.org/drawingml/2006/main">
            <a:r>
              <a:t>                      毛利率的潛在上行空間所帶動。</a:t>
            </a:r>
          </a:p>
          <a:p xmlns:a="http://schemas.openxmlformats.org/drawingml/2006/main">
            <a:r>
              <a:t>                  ⚫   原廠擴產項目 Wafer inputs 貢獻高度集中在 2H27，而 4-6 個月的製造週期將使，實質位元產出要</a:t>
            </a:r>
          </a:p>
          <a:p xmlns:a="http://schemas.openxmlformats.org/drawingml/2006/main">
            <a:r>
              <a:t>                      到 2028 年才會顯現。加上 HBM 等晶圓消耗面積遠高於傳統 DRAM，因此 TrendForce 預估</a:t>
            </a:r>
          </a:p>
          <a:p xmlns:a="http://schemas.openxmlformats.org/drawingml/2006/main">
            <a:r>
              <a:t>                      2027 年 DRAM 供需比將從 2026 年的 -1% 進一步下滑至-4%，供給反而更加吃緊。</a:t>
            </a:r>
          </a:p>
          <a:p xmlns:a="http://schemas.openxmlformats.org/drawingml/2006/main">
            <a:r>
              <a:t>                  ⚫   2027 年 NAND 產能的陸續釋放將導致整體市場供需平衡發生結構性逆轉，供需比將從 2026 年的</a:t>
            </a:r>
          </a:p>
          <a:p xmlns:a="http://schemas.openxmlformats.org/drawingml/2006/main">
            <a:r>
              <a:t>  記憶體        ↗</a:t>
            </a:r>
          </a:p>
          <a:p xmlns:a="http://schemas.openxmlformats.org/drawingml/2006/main">
            <a:r>
              <a:t>                      -4.4% 轉向 +3.6%，市場短缺將逐漸緩解，隨後在 2027 年下半年可能面臨價格修正壓力。</a:t>
            </a:r>
          </a:p>
          <a:p xmlns:a="http://schemas.openxmlformats.org/drawingml/2006/main">
            <a:r>
              <a:t>                  ⚫   由於逾半 DRAM 供給已被 LTA 覆蓋，因此未來四個季度 HBM4 將捨棄 12/16Hi 而被迫以 8Hi 為主</a:t>
            </a:r>
          </a:p>
          <a:p xmlns:a="http://schemas.openxmlformats.org/drawingml/2006/main">
            <a:r>
              <a:t>                      流規格，DDR5 RDIMM 模組亦多放棄 128GB，而被迫大量採用 64 或 32GB 方案。至於 3C 及</a:t>
            </a:r>
          </a:p>
          <a:p xmlns:a="http://schemas.openxmlformats.org/drawingml/2006/main">
            <a:r>
              <a:t>                      IPC 產品採用低規格 DRAM 也將成為常態。</a:t>
            </a:r>
          </a:p>
          <a:p xmlns:a="http://schemas.openxmlformats.org/drawingml/2006/main">
            <a:r>
              <a:t>                  ⚫   隨著 NVIDIA GPU 與 CSP 的 ASIC 算力逐代提升，整個 AI 群集規模也上升，帶動網路串連需求增</a:t>
            </a:r>
          </a:p>
          <a:p xmlns:a="http://schemas.openxmlformats.org/drawingml/2006/main">
            <a:r>
              <a:t>                      加，估計 2027 年 800G 以上高速光收發模組出貨量將超過 1.4 億支。</a:t>
            </a:r>
          </a:p>
          <a:p xmlns:a="http://schemas.openxmlformats.org/drawingml/2006/main">
            <a:r>
              <a:t>                  ⚫   近期美國 Lumentum 執行長表示磷化銦擴產後仍然供不應求，出貨量仍比客戶需求缺少 30%以</a:t>
            </a:r>
          </a:p>
          <a:p xmlns:a="http://schemas.openxmlformats.org/drawingml/2006/main">
            <a:r>
              <a:t>   網通        ↗</a:t>
            </a:r>
          </a:p>
          <a:p xmlns:a="http://schemas.openxmlformats.org/drawingml/2006/main">
            <a:r>
              <a:t>                      上。有利於中國、美國、日本、台灣等上游雷射供應鏈營運動能。</a:t>
            </a:r>
          </a:p>
          <a:p xmlns:a="http://schemas.openxmlformats.org/drawingml/2006/main">
            <a:r>
              <a:t>                  ⚫   看好下一階段 CPO 導入 AI 資料中心 Scale up 網路，將帶動整體光通訊市場規模相比 Scale out 網</a:t>
            </a:r>
          </a:p>
          <a:p xmlns:a="http://schemas.openxmlformats.org/drawingml/2006/main">
            <a:r>
              <a:t>                      路再次大幅成長。</a:t>
            </a:r>
          </a:p>
          <a:p xmlns:a="http://schemas.openxmlformats.org/drawingml/2006/main">
            <a:r>
              <a:t>                  ⚫   在 AI 推論需求爆發下，通用型伺服器迎來強勁成長，將 2026 年通用型伺服器出貨量由 YoY+12%</a:t>
            </a:r>
          </a:p>
          <a:p xmlns:a="http://schemas.openxmlformats.org/drawingml/2006/main">
            <a:r>
              <a:t>                      上修至 YoY+26.5%，達 1,703 萬台；而 AI 伺服器出貨量則預估成長 64%，滲透率 16%。</a:t>
            </a:r>
          </a:p>
          <a:p xmlns:a="http://schemas.openxmlformats.org/drawingml/2006/main">
            <a:r>
              <a:t> PC/手機/伺          ⚫   四大 CSP 的資本支出在 2027 年持續增加，YoY 達 60~70%，顯示對 AI 資料中心的需求正持續上</a:t>
            </a:r>
          </a:p>
          <a:p xmlns:a="http://schemas.openxmlformats.org/drawingml/2006/main">
            <a:r>
              <a:t>             ↗</a:t>
            </a:r>
          </a:p>
          <a:p xmlns:a="http://schemas.openxmlformats.org/drawingml/2006/main">
            <a:r>
              <a:t>   服器                 修。根據最新預估，2026 年 Nvidia AI 機櫃出貨量將達 80k，包含 GB200 6k、GB300 70k、</a:t>
            </a:r>
          </a:p>
          <a:p xmlns:a="http://schemas.openxmlformats.org/drawingml/2006/main">
            <a:r>
              <a:t>                      VR200 4k，主要需求來自於 Oracle、Dell、微軟與 Meta。其中 VR200 預計於 4Q26 開始量產。</a:t>
            </a:r>
          </a:p>
          <a:p xmlns:a="http://schemas.openxmlformats.org/drawingml/2006/main">
            <a:r>
              <a:t>                  ⚫   VR200 和 ASIC 伺服器需求持續強勁，在生產良率提升下，AI 伺服器出貨將逐季攀升。</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依使用者提供《2026年10月產業投資策略》濃縮，資料日期2026年9月30日；觀點及預測不代表確定結果。</a:t>
            </a:r>
          </a:p>
          <a:p xmlns:a="http://schemas.openxmlformats.org/drawingml/2006/main">
            <a:r>
              <a:t>產業示意圖由AI生成，非真實設備配置或企業照片。</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Fubon Research</a:t>
            </a:r>
          </a:p>
          <a:p xmlns:a="http://schemas.openxmlformats.org/drawingml/2006/main">
            <a:r>
              <a:t>                          10 月台股產業投資策略</a:t>
            </a:r>
          </a:p>
          <a:p xmlns:a="http://schemas.openxmlformats.org/drawingml/2006/main">
            <a:r>
              <a:t>2026 年 9 月 30 日</a:t>
            </a:r>
          </a:p>
          <a:p xmlns:a="http://schemas.openxmlformats.org/drawingml/2006/main">
            <a:r>
              <a:t/>
            </a:r>
          </a:p>
          <a:p xmlns:a="http://schemas.openxmlformats.org/drawingml/2006/main">
            <a:r>
              <a:t>                          挑戰五萬大關</a:t>
            </a:r>
          </a:p>
          <a:p xmlns:a="http://schemas.openxmlformats.org/drawingml/2006/main">
            <a:r>
              <a:t/>
            </a:r>
          </a:p>
          <a:p xmlns:a="http://schemas.openxmlformats.org/drawingml/2006/main">
            <a:r>
              <a:t>                           1. 聯準會再次升息雖提高股市壓力，但預期第三季財報強勁可抵消不利因素。</a:t>
            </a:r>
          </a:p>
          <a:p xmlns:a="http://schemas.openxmlformats.org/drawingml/2006/main">
            <a:r>
              <a:t>                           2. 台積電訂單外溢效應將成為另一個 AI 供應鏈投資亮點。</a:t>
            </a:r>
          </a:p>
          <a:p xmlns:a="http://schemas.openxmlformats.org/drawingml/2006/main">
            <a:r>
              <a:t>                           3. 9 月選股策略：聚焦台積電訂單外溢效益、AI 基建、零組件升規與能源四大</a:t>
            </a:r>
          </a:p>
          <a:p xmlns:a="http://schemas.openxmlformats.org/drawingml/2006/main">
            <a:r>
              <a:t>                             議題。</a:t>
            </a:r>
          </a:p>
          <a:p xmlns:a="http://schemas.openxmlformats.org/drawingml/2006/main">
            <a:r>
              <a:t/>
            </a:r>
          </a:p>
          <a:p xmlns:a="http://schemas.openxmlformats.org/drawingml/2006/main">
            <a:r>
              <a:t>                          重點摘要</a:t>
            </a:r>
          </a:p>
          <a:p xmlns:a="http://schemas.openxmlformats.org/drawingml/2006/main">
            <a:r>
              <a:t/>
            </a:r>
          </a:p>
          <a:p xmlns:a="http://schemas.openxmlformats.org/drawingml/2006/main">
            <a:r>
              <a:t/>
            </a:r>
          </a:p>
          <a:p xmlns:a="http://schemas.openxmlformats.org/drawingml/2006/main">
            <a:r>
              <a:t>                          聯準會 9 月宣布升息一碼並宣布上修 2026、2027 年利率目標中值至 4.1%，雖對</a:t>
            </a:r>
          </a:p>
          <a:p xmlns:a="http://schemas.openxmlformats.org/drawingml/2006/main">
            <a:r>
              <a:t>                          股市帶來短暫壓抑力道，但隨著利率政策的不確性消失，產業即將迎來有史以來最</a:t>
            </a:r>
          </a:p>
          <a:p xmlns:a="http://schemas.openxmlformats.org/drawingml/2006/main">
            <a:r>
              <a:t>資料來源：工商時報。</a:t>
            </a:r>
          </a:p>
          <a:p xmlns:a="http://schemas.openxmlformats.org/drawingml/2006/main">
            <a:r>
              <a:t>                          強的旺季，並政策利多助攻之下，台股可望挑戰五萬大關。投資策略焦點雖仍是 AI，</a:t>
            </a:r>
          </a:p>
          <a:p xmlns:a="http://schemas.openxmlformats.org/drawingml/2006/main">
            <a:r>
              <a:t>                          但建議聚焦訂單外溢效益及下一世代 AI 平台之規格升級議題。</a:t>
            </a:r>
          </a:p>
          <a:p xmlns:a="http://schemas.openxmlformats.org/drawingml/2006/main">
            <a:r>
              <a:t/>
            </a:r>
          </a:p>
          <a:p xmlns:a="http://schemas.openxmlformats.org/drawingml/2006/main">
            <a:r>
              <a:t/>
            </a:r>
          </a:p>
          <a:p xmlns:a="http://schemas.openxmlformats.org/drawingml/2006/main">
            <a:r>
              <a:t>                          聯準會再次升息雖提高股市壓力，但預期第三季財報強勁可抵消不利因素</a:t>
            </a:r>
          </a:p>
          <a:p xmlns:a="http://schemas.openxmlformats.org/drawingml/2006/main">
            <a:r>
              <a:t>                          台灣 8 月外銷接單再創歷史新高，首次突破 1 千億美元，較去年同期大幅增長 71.4%，</a:t>
            </a:r>
          </a:p>
          <a:p xmlns:a="http://schemas.openxmlformats.org/drawingml/2006/main">
            <a:r>
              <a:t>                          前 8 月年增率高達 55%，因已進入外銷旺季，廠商仍看好後續接單與出口，全年接</a:t>
            </a:r>
          </a:p>
          <a:p xmlns:a="http://schemas.openxmlformats.org/drawingml/2006/main">
            <a:r>
              <a:t>                          單金額可望達到 1 兆美元；8 月景氣對策信號可望挑戰 2021 年連九紅記錄。9 月</a:t>
            </a:r>
          </a:p>
          <a:p xmlns:a="http://schemas.openxmlformats.org/drawingml/2006/main">
            <a:r>
              <a:t>廖顯毅                       16 日聯準會 12 位票委一致決議升息 1 碼至 3.75%-4%，為 2023/7 來首度升息，</a:t>
            </a:r>
          </a:p>
          <a:p xmlns:a="http://schemas.openxmlformats.org/drawingml/2006/main">
            <a:r>
              <a:t>(886-2) 2781-5995#37038</a:t>
            </a:r>
          </a:p>
          <a:p xmlns:a="http://schemas.openxmlformats.org/drawingml/2006/main">
            <a:r>
              <a:t>Arthur.liao@fubon.com     並且上修 2026、2027 年利率目標中值至 4.1%。主席華許堅守決策獨立性、秉持不</a:t>
            </a:r>
          </a:p>
          <a:p xmlns:a="http://schemas.openxmlformats.org/drawingml/2006/main">
            <a:r>
              <a:t>                          預判政策路徑原則。市場對年底前再升息 1-2 碼預期仍高，推升美 10 年債殖利率</a:t>
            </a:r>
          </a:p>
          <a:p xmlns:a="http://schemas.openxmlformats.org/drawingml/2006/main">
            <a:r>
              <a:t>劉立中</a:t>
            </a:r>
          </a:p>
          <a:p xmlns:a="http://schemas.openxmlformats.org/drawingml/2006/main">
            <a:r>
              <a:t>(886-2) 2781-5995#37126</a:t>
            </a:r>
          </a:p>
          <a:p xmlns:a="http://schemas.openxmlformats.org/drawingml/2006/main">
            <a:r>
              <a:t>                          至 5%以上，高利率對股市估值壓力將提高。10 月上市公司將陸續公布第三季財報，</a:t>
            </a:r>
          </a:p>
          <a:p xmlns:a="http://schemas.openxmlformats.org/drawingml/2006/main">
            <a:r>
              <a:t>lewis.liu@fubon.com       盈餘展望仍佳，LSEG 調查預估第三季標普 500 企業盈餘年增率將達 29.9%，占權</a:t>
            </a:r>
          </a:p>
          <a:p xmlns:a="http://schemas.openxmlformats.org/drawingml/2006/main">
            <a:r>
              <a:t>                          重最高的科技股成長展望更高達 64.9%，將對股價形成支撐。時序進入最後一季，</a:t>
            </a:r>
          </a:p>
          <a:p xmlns:a="http://schemas.openxmlformats.org/drawingml/2006/main">
            <a:r>
              <a:t>黃大仁</a:t>
            </a:r>
          </a:p>
          <a:p xmlns:a="http://schemas.openxmlformats.org/drawingml/2006/main">
            <a:r>
              <a:t>(886-2)2781-5995#37118    美國期中選舉進入選前最後一個月，選後政治不確定性淡化，而過去四十餘年美股</a:t>
            </a:r>
          </a:p>
          <a:p xmlns:a="http://schemas.openxmlformats.org/drawingml/2006/main">
            <a:r>
              <a:t>darren.huang@fubon.com</a:t>
            </a:r>
          </a:p>
          <a:p xmlns:a="http://schemas.openxmlformats.org/drawingml/2006/main">
            <a:r>
              <a:t>                          在國會選舉結果為分裂國會狀態下，平均漲幅最高，</a:t>
            </a:r>
          </a:p>
          <a:p xmlns:a="http://schemas.openxmlformats.org/drawingml/2006/main">
            <a:r>
              <a:t/>
            </a:r>
          </a:p>
          <a:p xmlns:a="http://schemas.openxmlformats.org/drawingml/2006/main">
            <a:r>
              <a:t/>
            </a:r>
          </a:p>
          <a:p xmlns:a="http://schemas.openxmlformats.org/drawingml/2006/main">
            <a:r>
              <a:t>                          台積電訂單外溢效應將成為另一個 AI 供應鏈投資亮點</a:t>
            </a:r>
          </a:p>
          <a:p xmlns:a="http://schemas.openxmlformats.org/drawingml/2006/main">
            <a:r>
              <a:t>                          台股多頭主軸仍聚焦 AI，但 AI 供應鏈投資邏輯將逐步由單純的 AI 晶片需求擴張，</a:t>
            </a:r>
          </a:p>
          <a:p xmlns:a="http://schemas.openxmlformats.org/drawingml/2006/main">
            <a:r>
              <a:t>                          轉向高階製程與先進封裝整合，尤其 AI ASIC、GPU 及 HBM 需求持續推升台積電</a:t>
            </a:r>
          </a:p>
          <a:p xmlns:a="http://schemas.openxmlformats.org/drawingml/2006/main">
            <a:r>
              <a:t>                          CoWoS 需求，台積電雖積極提升產能擴充幅度，但仍難以滿足 2028 年前之需求。</a:t>
            </a:r>
          </a:p>
          <a:p xmlns:a="http://schemas.openxmlformats.org/drawingml/2006/main">
            <a:r>
              <a:t>                          預期 Google、Meta 等自研方案將會尋求如 Intel、聯電等非台積電體系產能支援，</a:t>
            </a:r>
          </a:p>
          <a:p xmlns:a="http://schemas.openxmlformats.org/drawingml/2006/main">
            <a:r>
              <a:t>                          並帶動相關設備與材料需求，此類供應鏈的關鍵技術環節自主性更高，一旦外溢需</a:t>
            </a:r>
          </a:p>
          <a:p xmlns:a="http://schemas.openxmlformats.org/drawingml/2006/main">
            <a:r>
              <a:t>                          求化為實質業績動能，獲利成長性將更強勁，預期可望為台灣 AI 供應鏈帶來另一個</a:t>
            </a:r>
          </a:p>
          <a:p xmlns:a="http://schemas.openxmlformats.org/drawingml/2006/main">
            <a:r>
              <a:t>                          推升景氣的強力動能。</a:t>
            </a:r>
          </a:p>
          <a:p xmlns:a="http://schemas.openxmlformats.org/drawingml/2006/main">
            <a:r>
              <a:t/>
            </a:r>
          </a:p>
          <a:p xmlns:a="http://schemas.openxmlformats.org/drawingml/2006/main">
            <a:r>
              <a:t/>
            </a:r>
          </a:p>
          <a:p xmlns:a="http://schemas.openxmlformats.org/drawingml/2006/main">
            <a:r>
              <a:t>                          規格升級題材將逐步取代漲價議題成為零組件投資焦點</a:t>
            </a:r>
          </a:p>
          <a:p xmlns:a="http://schemas.openxmlformats.org/drawingml/2006/main">
            <a:r>
              <a:t>                          儘管記憶體、被動元件、CCL、載板等零組件持續因供給不平衡以及原物料成本上揚</a:t>
            </a:r>
          </a:p>
          <a:p xmlns:a="http://schemas.openxmlformats.org/drawingml/2006/main">
            <a:r>
              <a:t>                          而調漲價格，但這早已在投資市場預期之中。後續季報表現雖亮眼，但僅會對股價</a:t>
            </a:r>
          </a:p>
          <a:p xmlns:a="http://schemas.openxmlformats.org/drawingml/2006/main">
            <a:r>
              <a:t>                          帶來短暫火花。富邦認為 4Q26 起針對零組件供應鏈之投資策略，應逐漸留意規格</a:t>
            </a:r>
          </a:p>
          <a:p xmlns:a="http://schemas.openxmlformats.org/drawingml/2006/main">
            <a:r>
              <a:t>                          升級議題，尤其是升規的零組件將扮演下一世代的 AI 伺服器/機櫃能否順利量產之</a:t>
            </a:r>
          </a:p>
          <a:p xmlns:a="http://schemas.openxmlformats.org/drawingml/2006/main">
            <a:r>
              <a:t>                          關鍵，例如 CCL M8/M9 升級、適用於高電壓系統之電容等，能領先競爭同業規格</a:t>
            </a:r>
          </a:p>
          <a:p xmlns:a="http://schemas.openxmlformats.org/drawingml/2006/main">
            <a:r>
              <a:t>                          提升並量產之業者將是我們關注之焦點。</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1</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10月重要產業議題</a:t>
            </a:r>
          </a:p>
          <a:p xmlns:a="http://schemas.openxmlformats.org/drawingml/2006/main">
            <a:r>
              <a:t/>
            </a:r>
          </a:p>
          <a:p xmlns:a="http://schemas.openxmlformats.org/drawingml/2006/main">
            <a:r>
              <a:t/>
            </a:r>
          </a:p>
          <a:p xmlns:a="http://schemas.openxmlformats.org/drawingml/2006/main">
            <a:r>
              <a:t>             半導體垂直整合與策略聯盟優勢日趨重要，台廠市占率可望提升</a:t>
            </a:r>
          </a:p>
          <a:p xmlns:a="http://schemas.openxmlformats.org/drawingml/2006/main">
            <a:r>
              <a:t>             隨生成式 AI、雲端運算及高效能運算需求持續擴張，先進製程產能維持高稼動率，</a:t>
            </a:r>
          </a:p>
          <a:p xmlns:a="http://schemas.openxmlformats.org/drawingml/2006/main">
            <a:r>
              <a:t>             供給吃緊不僅支撐晶圓價格，也促使晶圓代工廠加快資本支出與新廠建置，帶動半</a:t>
            </a:r>
          </a:p>
          <a:p xmlns:a="http://schemas.openxmlformats.org/drawingml/2006/main">
            <a:r>
              <a:t>             導體設備與材料需求。不僅如此，AI 晶片持續朝更高運算效能與更大型機櫃架構發</a:t>
            </a:r>
          </a:p>
          <a:p xmlns:a="http://schemas.openxmlformats.org/drawingml/2006/main">
            <a:r>
              <a:t>             展，尤其競爭優勢來源由 GPU、記憶體配置進一步延伸至高速網通等互連相關領域</a:t>
            </a:r>
          </a:p>
          <a:p xmlns:a="http://schemas.openxmlformats.org/drawingml/2006/main">
            <a:r>
              <a:t>             (包含 CPO/NPO)，加上晶片尺寸、功耗與整合複雜度提升，進一步推升 CoWoS、</a:t>
            </a:r>
          </a:p>
          <a:p xmlns:a="http://schemas.openxmlformats.org/drawingml/2006/main">
            <a:r>
              <a:t>             CoPoS、SoIC 等先進封裝產能，以及晶圓測試、成品測試與相關設備需求。整體而</a:t>
            </a:r>
          </a:p>
          <a:p xmlns:a="http://schemas.openxmlformats.org/drawingml/2006/main">
            <a:r>
              <a:t>             言，AI 半導體成長動能正由單一 GPU 逐步擴散至晶圓代工與先進封裝整合，以及</a:t>
            </a:r>
          </a:p>
          <a:p xmlns:a="http://schemas.openxmlformats.org/drawingml/2006/main">
            <a:r>
              <a:t>             測試與設備等環節是否能跟上，這樣的發展趨勢更加深台灣半導體供應鏈的全球重</a:t>
            </a:r>
          </a:p>
          <a:p xmlns:a="http://schemas.openxmlformats.org/drawingml/2006/main">
            <a:r>
              <a:t>             要性，尤其看好接下來獨立封測廠、新切入半導體上游製程設備供應商之業績表現。</a:t>
            </a:r>
          </a:p>
          <a:p xmlns:a="http://schemas.openxmlformats.org/drawingml/2006/main">
            <a:r>
              <a:t/>
            </a:r>
          </a:p>
          <a:p xmlns:a="http://schemas.openxmlformats.org/drawingml/2006/main">
            <a:r>
              <a:t/>
            </a:r>
          </a:p>
          <a:p xmlns:a="http://schemas.openxmlformats.org/drawingml/2006/main">
            <a:r>
              <a:t>             台灣 CPO 供應鏈日趨完整</a:t>
            </a:r>
          </a:p>
          <a:p xmlns:a="http://schemas.openxmlformats.org/drawingml/2006/main">
            <a:r>
              <a:t>             隨著 AI 浪潮而來的網路流量爆炸性成長以及資料中心對高速與低功耗的需求增長，</a:t>
            </a:r>
          </a:p>
          <a:p xmlns:a="http://schemas.openxmlformats.org/drawingml/2006/main">
            <a:r>
              <a:t>             推升網通設備升級浪潮一波比一波強。尤其矽光子 SiPh 與 CPO 技術進入落地階段，</a:t>
            </a:r>
          </a:p>
          <a:p xmlns:a="http://schemas.openxmlformats.org/drawingml/2006/main">
            <a:r>
              <a:t>             尤其台積電緊湊型通用光子引擎 COUPE 可在性能、功耗和成本方面滿足廣泛的應</a:t>
            </a:r>
          </a:p>
          <a:p xmlns:a="http://schemas.openxmlformats.org/drawingml/2006/main">
            <a:r>
              <a:t>             用，未來整體功耗可望節省超過 10 倍，同時傳輸效率提升 20 倍，可望加速 CPO 滲</a:t>
            </a:r>
          </a:p>
          <a:p xmlns:a="http://schemas.openxmlformats.org/drawingml/2006/main">
            <a:r>
              <a:t>             透率提升速度。對此，富邦認為未來商機可以著眼於以下重點環節：（1）EIC、PIC</a:t>
            </a:r>
          </a:p>
          <a:p xmlns:a="http://schemas.openxmlformats.org/drawingml/2006/main">
            <a:r>
              <a:t>             晶片設計與製造（2）EIC、PIC 先進封裝（3）光電訊號量測、雷射、微透鏡、光耦</a:t>
            </a:r>
          </a:p>
          <a:p xmlns:a="http://schemas.openxmlformats.org/drawingml/2006/main">
            <a:r>
              <a:t>             合、FAU 設計、光學黏膠等。綜合前述，可預期未來將越來越多原本光通訊零組件</a:t>
            </a:r>
          </a:p>
          <a:p xmlns:a="http://schemas.openxmlformats.org/drawingml/2006/main">
            <a:r>
              <a:t>             或網通設備零組件業者切入 CPO 後段領域，產業逐漸從少數業者型態邁向百花齊放</a:t>
            </a:r>
          </a:p>
          <a:p xmlns:a="http://schemas.openxmlformats.org/drawingml/2006/main">
            <a:r>
              <a:t>             之熱絡情況，台系業者因長期耕耘光訊號傳輸零組件領域，並具 AI 上下游製造端絕</a:t>
            </a:r>
          </a:p>
          <a:p xmlns:a="http://schemas.openxmlformats.org/drawingml/2006/main">
            <a:r>
              <a:t>             對優勢，可望成為國際通訊大廠主要合作夥伴。</a:t>
            </a:r>
          </a:p>
          <a:p xmlns:a="http://schemas.openxmlformats.org/drawingml/2006/main">
            <a:r>
              <a:t/>
            </a:r>
          </a:p>
          <a:p xmlns:a="http://schemas.openxmlformats.org/drawingml/2006/main">
            <a:r>
              <a:t/>
            </a:r>
          </a:p>
          <a:p xmlns:a="http://schemas.openxmlformats.org/drawingml/2006/main">
            <a:r>
              <a:t>             證券、銀行與壽險三大業務均維持高成長態勢，提前布局 2027 除息行情</a:t>
            </a:r>
          </a:p>
          <a:p xmlns:a="http://schemas.openxmlformats.org/drawingml/2006/main">
            <a:r>
              <a:t>             受惠於企業投資需求強勁，台灣銀行業者2026年放款上看雙位數成長，外幣放款為</a:t>
            </a:r>
          </a:p>
          <a:p xmlns:a="http://schemas.openxmlformats.org/drawingml/2006/main">
            <a:r>
              <a:t>             主要成長動能。因企業投資動能可望延續，預估2027年放款仍將達高個位數成長。</a:t>
            </a:r>
          </a:p>
          <a:p xmlns:a="http://schemas.openxmlformats.org/drawingml/2006/main">
            <a:r>
              <a:t>             企業資金需求強勁有助於銀行業者優化放款結構，預估2H26放款收益率與淨利差均</a:t>
            </a:r>
          </a:p>
          <a:p xmlns:a="http://schemas.openxmlformats.org/drawingml/2006/main">
            <a:r>
              <a:t>             將較1H26佳，Fed升息亦有助於淨利差可望進一步擴大。壽險方面，國內業者多將</a:t>
            </a:r>
          </a:p>
          <a:p xmlns:a="http://schemas.openxmlformats.org/drawingml/2006/main">
            <a:r>
              <a:t>             股權投資部位認列為FVOCI，資本利得不再計入損益表，故財報獲利並未反映真實</a:t>
            </a:r>
          </a:p>
          <a:p xmlns:a="http://schemas.openxmlformats.org/drawingml/2006/main">
            <a:r>
              <a:t>             狀態，因金控將以調整後EPS為股利發放基礎，故2026年現金股息發放能力可期。</a:t>
            </a:r>
          </a:p>
          <a:p xmlns:a="http://schemas.openxmlformats.org/drawingml/2006/main">
            <a:r>
              <a:t>             此外，隨著保費收入成長，壽險業CSM攤銷至損益表之金額可望逐年增加，故未來</a:t>
            </a:r>
          </a:p>
          <a:p xmlns:a="http://schemas.openxmlformats.org/drawingml/2006/main">
            <a:r>
              <a:t>             損益表之保險服務結果將穩定成長；財務結果方面，因長天期債券殖利率位居高檔，</a:t>
            </a:r>
          </a:p>
          <a:p xmlns:a="http://schemas.openxmlformats.org/drawingml/2006/main">
            <a:r>
              <a:t>             預估今/明年避險前經常性收益率將維持在3.5%，且採用IFRS17後，保單負債成本已</a:t>
            </a:r>
          </a:p>
          <a:p xmlns:a="http://schemas.openxmlformats.org/drawingml/2006/main">
            <a:r>
              <a:t>             反映市場利率而下降，加上避險比重與成本降低，故未來將可維持利差益。另外，因</a:t>
            </a:r>
          </a:p>
          <a:p xmlns:a="http://schemas.openxmlformats.org/drawingml/2006/main">
            <a:r>
              <a:t>             保險負債對利率的敏感度較資產高，故殖利率攀升反將使壽險業者淨值提升。</a:t>
            </a:r>
          </a:p>
          <a:p xmlns:a="http://schemas.openxmlformats.org/drawingml/2006/main">
            <a:r>
              <a:t/>
            </a:r>
          </a:p>
          <a:p xmlns:a="http://schemas.openxmlformats.org/drawingml/2006/main">
            <a:r>
              <a:t/>
            </a:r>
          </a:p>
          <a:p xmlns:a="http://schemas.openxmlformats.org/drawingml/2006/main">
            <a:r>
              <a:t>             綜合上述，國內大型金控在證券、銀行與壽險三大業務維持高成長態勢之下，有利</a:t>
            </a:r>
          </a:p>
          <a:p xmlns:a="http://schemas.openxmlformats.org/drawingml/2006/main">
            <a:r>
              <a:t>             於2026~2027年現金股利發放水準連續性上揚，對長期穩健投資者帶來極具吸引力</a:t>
            </a:r>
          </a:p>
          <a:p xmlns:a="http://schemas.openxmlformats.org/drawingml/2006/main">
            <a:r>
              <a:t>             之長期報酬預期。</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3</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a:r>
          </a:p>
          <a:p xmlns:a="http://schemas.openxmlformats.org/drawingml/2006/main">
            <a:r>
              <a:t>富邦次產業趨勢看法-科技股</a:t>
            </a:r>
          </a:p>
          <a:p xmlns:a="http://schemas.openxmlformats.org/drawingml/2006/main">
            <a:r>
              <a:t/>
            </a:r>
          </a:p>
          <a:p xmlns:a="http://schemas.openxmlformats.org/drawingml/2006/main">
            <a:r>
              <a:t>  次產業        看法                                  說明</a:t>
            </a:r>
          </a:p>
          <a:p xmlns:a="http://schemas.openxmlformats.org/drawingml/2006/main">
            <a:r>
              <a:t>                  ⚫   台積電先進製程節點產能，包括 N2 與 N3，將於 2026 年及 2027 年持續吃緊，主要反映 2027 年</a:t>
            </a:r>
          </a:p>
          <a:p xmlns:a="http://schemas.openxmlformats.org/drawingml/2006/main">
            <a:r>
              <a:t>半導體/封測       ↗        伺服器 CPU 需求強勁，預估供需缺口將擴大至 15-20%。台積電未來 2027 年資本支出展望將是關</a:t>
            </a:r>
          </a:p>
          <a:p xmlns:a="http://schemas.openxmlformats.org/drawingml/2006/main">
            <a:r>
              <a:t>                      鍵指標，預估台積電 2027 年資本支出將維持高檔並進一步往 750-800 億美元區間上緣靠攏。</a:t>
            </a:r>
          </a:p>
          <a:p xmlns:a="http://schemas.openxmlformats.org/drawingml/2006/main">
            <a:r>
              <a:t>                  ⚫   ASIC 服務模式正在解構：客戶因成本考量自行擴編前端設計、自行 tape out（毛利率極低但營運</a:t>
            </a:r>
          </a:p>
          <a:p xmlns:a="http://schemas.openxmlformats.org/drawingml/2006/main">
            <a:r>
              <a:t>  IP 服務      ↗        槓桿高），或於不同 die 設計、封裝、後段分拆不同供應商，使設計服務商毛利率結構性下移，但</a:t>
            </a:r>
          </a:p>
          <a:p xmlns:a="http://schemas.openxmlformats.org/drawingml/2006/main">
            <a:r>
              <a:t>                      營收規模同步放大。目前供應瓶頸為晶圓、封裝、載板三者並存。</a:t>
            </a:r>
          </a:p>
          <a:p xmlns:a="http://schemas.openxmlformats.org/drawingml/2006/main">
            <a:r>
              <a:t>                  ⚫   隨著晶圓代工產能趨緊，IC 設計產業同步出現漲價訊號。根據供應鏈消息，瑞昱已針對部分成熟製</a:t>
            </a:r>
          </a:p>
          <a:p xmlns:a="http://schemas.openxmlformats.org/drawingml/2006/main">
            <a:r>
              <a:t>  IC 設計      ↗        程產品啟動價格調整，涵蓋網通、連接、消費性及部分特殊規格晶片，反映上游晶圓製造、封裝測</a:t>
            </a:r>
          </a:p>
          <a:p xmlns:a="http://schemas.openxmlformats.org/drawingml/2006/main">
            <a:r>
              <a:t>                      試及關鍵材料成本上升。</a:t>
            </a:r>
          </a:p>
          <a:p xmlns:a="http://schemas.openxmlformats.org/drawingml/2006/main">
            <a:r>
              <a:t>                  ⚫   南電宣布將投入 468 億元資本支出，用於建設大尺寸高層數高階 IC 載板智慧工廠，主要針對</a:t>
            </a:r>
          </a:p>
          <a:p xmlns:a="http://schemas.openxmlformats.org/drawingml/2006/main">
            <a:r>
              <a:t>                      CoPoS 載板，產能擴充預計於 FY28 完成。在新產能上線前，目前產能擴充主要來自瓶頸排除。</a:t>
            </a:r>
          </a:p>
          <a:p xmlns:a="http://schemas.openxmlformats.org/drawingml/2006/main">
            <a:r>
              <a:t>                      另外，昆山廠的產能利用率因地緣政治因素約為 50%。然而，一家主要客戶已增加在昆山廠的訂</a:t>
            </a:r>
          </a:p>
          <a:p xmlns:a="http://schemas.openxmlformats.org/drawingml/2006/main">
            <a:r>
              <a:t>   載板        ↗        單，預計將帶動 FY27 產能利用率提升。</a:t>
            </a:r>
          </a:p>
          <a:p xmlns:a="http://schemas.openxmlformats.org/drawingml/2006/main">
            <a:r>
              <a:t>                  ⚫   欣興（3037 TT）預估其整體 ABF 載板產能將於 2027 年提升 30%至 40%。光復二廠及楊梅二廠的</a:t>
            </a:r>
          </a:p>
          <a:p xmlns:a="http://schemas.openxmlformats.org/drawingml/2006/main">
            <a:r>
              <a:t>                      預付款已超過廠房建設所需資金。隨著光復二廠三期產能加速開出，並結合現有廠區瓶頸排除，以</a:t>
            </a:r>
          </a:p>
          <a:p xmlns:a="http://schemas.openxmlformats.org/drawingml/2006/main">
            <a:r>
              <a:t>                      及部分 BT 製程支援 ABF，2027 年將陸續釋出新產能。</a:t>
            </a:r>
          </a:p>
          <a:p xmlns:a="http://schemas.openxmlformats.org/drawingml/2006/main">
            <a:r>
              <a:t>                  ⚫   根據國際被動元件各大廠最新法說，可看到 BB ratio 紛紛攀升至歷史高點，村田已經回升至 1.34</a:t>
            </a:r>
          </a:p>
          <a:p xmlns:a="http://schemas.openxmlformats.org/drawingml/2006/main">
            <a:r>
              <a:t>                      超過 2018 的水準，太陽誘電也提升至 1.72，國巨更在二季底來到 2.2 的驚人數字。BB ratio 的突</a:t>
            </a:r>
          </a:p>
          <a:p xmlns:a="http://schemas.openxmlformats.org/drawingml/2006/main">
            <a:r>
              <a:t>                      增代表高階超高容值 MLCC 需求提升，主要為 22uF/47uF/100uF 料號，或是高壓 NPO 等特殊規</a:t>
            </a:r>
          </a:p>
          <a:p xmlns:a="http://schemas.openxmlformats.org/drawingml/2006/main">
            <a:r>
              <a:t> 被動元件        ↗        格；亦代表消費性規格在庫存回補、提前備貨之下驅動的搶貨狀況。</a:t>
            </a:r>
          </a:p>
          <a:p xmlns:a="http://schemas.openxmlformats.org/drawingml/2006/main">
            <a:r>
              <a:t>                  ⚫   3Q26 財報將較上半年反映漲價狀況，而 4Q26 也還會再對通路商以及直接客戶再度漲價，主要以</a:t>
            </a:r>
          </a:p>
          <a:p xmlns:a="http://schemas.openxmlformats.org/drawingml/2006/main">
            <a:r>
              <a:t>                      消費性規格為主之外，AI 料號也將有不同幅度的價格調升，下一波漲勢將由 4Q26 的漲價題材以及</a:t>
            </a:r>
          </a:p>
          <a:p xmlns:a="http://schemas.openxmlformats.org/drawingml/2006/main">
            <a:r>
              <a:t>                      毛利率的潛在上行空間所帶動。</a:t>
            </a:r>
          </a:p>
          <a:p xmlns:a="http://schemas.openxmlformats.org/drawingml/2006/main">
            <a:r>
              <a:t>                  ⚫   原廠擴產項目 Wafer inputs 貢獻高度集中在 2H27，而 4-6 個月的製造週期將使，實質位元產出要</a:t>
            </a:r>
          </a:p>
          <a:p xmlns:a="http://schemas.openxmlformats.org/drawingml/2006/main">
            <a:r>
              <a:t>                      到 2028 年才會顯現。加上 HBM 等晶圓消耗面積遠高於傳統 DRAM，因此 TrendForce 預估</a:t>
            </a:r>
          </a:p>
          <a:p xmlns:a="http://schemas.openxmlformats.org/drawingml/2006/main">
            <a:r>
              <a:t>                      2027 年 DRAM 供需比將從 2026 年的 -1% 進一步下滑至-4%，供給反而更加吃緊。</a:t>
            </a:r>
          </a:p>
          <a:p xmlns:a="http://schemas.openxmlformats.org/drawingml/2006/main">
            <a:r>
              <a:t>                  ⚫   2027 年 NAND 產能的陸續釋放將導致整體市場供需平衡發生結構性逆轉，供需比將從 2026 年的</a:t>
            </a:r>
          </a:p>
          <a:p xmlns:a="http://schemas.openxmlformats.org/drawingml/2006/main">
            <a:r>
              <a:t>  記憶體        ↗</a:t>
            </a:r>
          </a:p>
          <a:p xmlns:a="http://schemas.openxmlformats.org/drawingml/2006/main">
            <a:r>
              <a:t>                      -4.4% 轉向 +3.6%，市場短缺將逐漸緩解，隨後在 2027 年下半年可能面臨價格修正壓力。</a:t>
            </a:r>
          </a:p>
          <a:p xmlns:a="http://schemas.openxmlformats.org/drawingml/2006/main">
            <a:r>
              <a:t>                  ⚫   由於逾半 DRAM 供給已被 LTA 覆蓋，因此未來四個季度 HBM4 將捨棄 12/16Hi 而被迫以 8Hi 為主</a:t>
            </a:r>
          </a:p>
          <a:p xmlns:a="http://schemas.openxmlformats.org/drawingml/2006/main">
            <a:r>
              <a:t>                      流規格，DDR5 RDIMM 模組亦多放棄 128GB，而被迫大量採用 64 或 32GB 方案。至於 3C 及</a:t>
            </a:r>
          </a:p>
          <a:p xmlns:a="http://schemas.openxmlformats.org/drawingml/2006/main">
            <a:r>
              <a:t>                      IPC 產品採用低規格 DRAM 也將成為常態。</a:t>
            </a:r>
          </a:p>
          <a:p xmlns:a="http://schemas.openxmlformats.org/drawingml/2006/main">
            <a:r>
              <a:t>                  ⚫   隨著 NVIDIA GPU 與 CSP 的 ASIC 算力逐代提升，整個 AI 群集規模也上升，帶動網路串連需求增</a:t>
            </a:r>
          </a:p>
          <a:p xmlns:a="http://schemas.openxmlformats.org/drawingml/2006/main">
            <a:r>
              <a:t>                      加，估計 2027 年 800G 以上高速光收發模組出貨量將超過 1.4 億支。</a:t>
            </a:r>
          </a:p>
          <a:p xmlns:a="http://schemas.openxmlformats.org/drawingml/2006/main">
            <a:r>
              <a:t>                  ⚫   近期美國 Lumentum 執行長表示磷化銦擴產後仍然供不應求，出貨量仍比客戶需求缺少 30%以</a:t>
            </a:r>
          </a:p>
          <a:p xmlns:a="http://schemas.openxmlformats.org/drawingml/2006/main">
            <a:r>
              <a:t>   網通        ↗</a:t>
            </a:r>
          </a:p>
          <a:p xmlns:a="http://schemas.openxmlformats.org/drawingml/2006/main">
            <a:r>
              <a:t>                      上。有利於中國、美國、日本、台灣等上游雷射供應鏈營運動能。</a:t>
            </a:r>
          </a:p>
          <a:p xmlns:a="http://schemas.openxmlformats.org/drawingml/2006/main">
            <a:r>
              <a:t>                  ⚫   看好下一階段 CPO 導入 AI 資料中心 Scale up 網路，將帶動整體光通訊市場規模相比 Scale out 網</a:t>
            </a:r>
          </a:p>
          <a:p xmlns:a="http://schemas.openxmlformats.org/drawingml/2006/main">
            <a:r>
              <a:t>                      路再次大幅成長。</a:t>
            </a:r>
          </a:p>
          <a:p xmlns:a="http://schemas.openxmlformats.org/drawingml/2006/main">
            <a:r>
              <a:t>                  ⚫   在 AI 推論需求爆發下，通用型伺服器迎來強勁成長，將 2026 年通用型伺服器出貨量由 YoY+12%</a:t>
            </a:r>
          </a:p>
          <a:p xmlns:a="http://schemas.openxmlformats.org/drawingml/2006/main">
            <a:r>
              <a:t>                      上修至 YoY+26.5%，達 1,703 萬台；而 AI 伺服器出貨量則預估成長 64%，滲透率 16%。</a:t>
            </a:r>
          </a:p>
          <a:p xmlns:a="http://schemas.openxmlformats.org/drawingml/2006/main">
            <a:r>
              <a:t> PC/手機/伺          ⚫   四大 CSP 的資本支出在 2027 年持續增加，YoY 達 60~70%，顯示對 AI 資料中心的需求正持續上</a:t>
            </a:r>
          </a:p>
          <a:p xmlns:a="http://schemas.openxmlformats.org/drawingml/2006/main">
            <a:r>
              <a:t>             ↗</a:t>
            </a:r>
          </a:p>
          <a:p xmlns:a="http://schemas.openxmlformats.org/drawingml/2006/main">
            <a:r>
              <a:t>   服器                 修。根據最新預估，2026 年 Nvidia AI 機櫃出貨量將達 80k，包含 GB200 6k、GB300 70k、</a:t>
            </a:r>
          </a:p>
          <a:p xmlns:a="http://schemas.openxmlformats.org/drawingml/2006/main">
            <a:r>
              <a:t>                      VR200 4k，主要需求來自於 Oracle、Dell、微軟與 Meta。其中 VR200 預計於 4Q26 開始量產。</a:t>
            </a:r>
          </a:p>
          <a:p xmlns:a="http://schemas.openxmlformats.org/drawingml/2006/main">
            <a:r>
              <a:t>                  ⚫   VR200 和 ASIC 伺服器需求持續強勁，在生產良率提升下，AI 伺服器出貨將逐季攀升。</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5</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   工具機產業景氣延續循環向上格局，日本工具機協會訂單額 6 月創歷史新高、7~8 月維持高檔，近</a:t>
            </a:r>
          </a:p>
          <a:p xmlns:a="http://schemas.openxmlformats.org/drawingml/2006/main">
            <a:r>
              <a:t>                           三個月 YoY+53%、50%、65%，工具機產業景氣上升循環延長。研華 2Q26 接單金額達 11.9 億美</a:t>
            </a:r>
          </a:p>
          <a:p xmlns:a="http://schemas.openxmlformats.org/drawingml/2006/main">
            <a:r>
              <a:t>                           元，QoQ+4.6%、YoY+92.4%。續寫創新高，2Q26 BB Ratio 1.44，也遠優於歷史平均的 1.08，</a:t>
            </a:r>
          </a:p>
          <a:p xmlns:a="http://schemas.openxmlformats.org/drawingml/2006/main">
            <a:r>
              <a:t>                           顯示整體接單持續暢旺。</a:t>
            </a:r>
          </a:p>
          <a:p xmlns:a="http://schemas.openxmlformats.org/drawingml/2006/main">
            <a:r>
              <a:t> IPC/工具機        ↗</a:t>
            </a:r>
          </a:p>
          <a:p xmlns:a="http://schemas.openxmlformats.org/drawingml/2006/main">
            <a:r>
              <a:t>                       ⚫   台灣半導體產業受惠 AI 與高效能運算趨勢成長強勁，帶動半導體應用自動化需求激增，8 月自動化</a:t>
            </a:r>
          </a:p>
          <a:p xmlns:a="http://schemas.openxmlformats.org/drawingml/2006/main">
            <a:r>
              <a:t>                           展中傳動元件、工具機及 IPC 業者擴大半導體應用的高精度自動化設備、零件的開發與展出，展品</a:t>
            </a:r>
          </a:p>
          <a:p xmlns:a="http://schemas.openxmlformats.org/drawingml/2006/main">
            <a:r>
              <a:t>                           多集中在 AOI 檢測、定位、移載、搬運的零件到系統整合應用。其中多家傳動元件業者展出矽光子</a:t>
            </a:r>
          </a:p>
          <a:p xmlns:a="http://schemas.openxmlformats.org/drawingml/2006/main">
            <a:r>
              <a:t>                           (CPO)定位零件及平台。預期業者來自半導體貢獻加速成長。</a:t>
            </a:r>
          </a:p>
          <a:p xmlns:a="http://schemas.openxmlformats.org/drawingml/2006/main">
            <a:r>
              <a:t>                       ⚫   4Q26 Nvidia AI 伺服器將進入 Vera Rubin 世代出貨放量期，單櫃功耗超 200kW；單顆 PSU 功率</a:t>
            </a:r>
          </a:p>
          <a:p xmlns:a="http://schemas.openxmlformats.org/drawingml/2006/main">
            <a:r>
              <a:t>                           也由 5.5kW 提升至 18kW 以上，增添 CSP 導入 800VDC 電源櫃誘因。</a:t>
            </a:r>
          </a:p>
          <a:p xmlns:a="http://schemas.openxmlformats.org/drawingml/2006/main">
            <a:r>
              <a:t> 電源供應器          ↗      ⚫   台達電 800VDC、400VDC 電源櫃已於 3Q26 進入量產預計於 4Q26 開始小量出貨，預期 2027 年</a:t>
            </a:r>
          </a:p>
          <a:p xmlns:a="http://schemas.openxmlformats.org/drawingml/2006/main">
            <a:r>
              <a:t>                           將有顯著出貨量。光寶科 800VDC 電源櫃則於 8M26 試產，預計 11M26 開始量產，並於 1Q27</a:t>
            </a:r>
          </a:p>
          <a:p xmlns:a="http://schemas.openxmlformats.org/drawingml/2006/main">
            <a:r>
              <a:t>                           開始出貨 ASIC 客戶、2Q27 出貨 AI GPU 客戶、400VDC 則將於 4Q26 開始出貨。</a:t>
            </a:r>
          </a:p>
          <a:p xmlns:a="http://schemas.openxmlformats.org/drawingml/2006/main">
            <a:r>
              <a:t>                       ⚫   銅箔基板三雄持續受惠價格調漲及組合優化，累計前 8 月營收成長達 42%~97% ，尤其 8 月營收</a:t>
            </a:r>
          </a:p>
          <a:p xmlns:a="http://schemas.openxmlformats.org/drawingml/2006/main">
            <a:r>
              <a:t>                           皆繳出年、月雙增的亮眼成績單，並同步改寫歷史新高。其中，龍頭廠台光電單月營收首度突破</a:t>
            </a:r>
          </a:p>
          <a:p xmlns:a="http://schemas.openxmlformats.org/drawingml/2006/main">
            <a:r>
              <a:t>  PCB/CCL       ↗          200 億元、台燿逼近 60 億元、聯茂首度站上 50 億元。</a:t>
            </a:r>
          </a:p>
          <a:p xmlns:a="http://schemas.openxmlformats.org/drawingml/2006/main">
            <a:r>
              <a:t>                       ⚫   AI 規格升級方向明確，高階產能需求大增，台光、台燿持續朝高階產品發展，有利產品組合優化，</a:t>
            </a:r>
          </a:p>
          <a:p xmlns:a="http://schemas.openxmlformats.org/drawingml/2006/main">
            <a:r>
              <a:t>                           其中預期台光及台燿 4Q26 M7 以上產品比重將挑戰 80%及 45%，並推升未來一季營運再創新高。</a:t>
            </a:r>
          </a:p>
          <a:p xmlns:a="http://schemas.openxmlformats.org/drawingml/2006/main">
            <a:r>
              <a:t>資料來源：富邦投顧，2026.9.30。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依使用者提供《2026年10月產業投資策略》濃縮，資料日期2026年9月30日；觀點及預測不代表確定結果。</a:t>
            </a:r>
          </a:p>
          <a:p xmlns:a="http://schemas.openxmlformats.org/drawingml/2006/main">
            <a:r>
              <a:t>產業示意圖由AI生成，非真實設備配置或企業照片。</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傳產聚焦產業旺季、低基期、防禦性等選擇主軸</a:t>
            </a:r>
          </a:p>
          <a:p xmlns:a="http://schemas.openxmlformats.org/drawingml/2006/main">
            <a:r>
              <a:t>             10 月傳產投資策略核心著重傳統消費旺季、年終備貨潮及防禦性等，建議以旺季效</a:t>
            </a:r>
          </a:p>
          <a:p xmlns:a="http://schemas.openxmlformats.org/drawingml/2006/main">
            <a:r>
              <a:t>             應、低基期反彈、高股息防禦為主要選股要點。(1)旺季效應概念，包括重電、散裝</a:t>
            </a:r>
          </a:p>
          <a:p xmlns:a="http://schemas.openxmlformats.org/drawingml/2006/main">
            <a:r>
              <a:t>             航運、及鋼鐵等基建、零售百貨：全球電網升級、台電強韌電網、以及 AI 資料中心、</a:t>
            </a:r>
          </a:p>
          <a:p xmlns:a="http://schemas.openxmlformats.org/drawingml/2006/main">
            <a:r>
              <a:t>             半導體科技廠擴廠等需求迫切，重電設備旺季入帳動能充沛；受惠於穀物與煤炭、</a:t>
            </a:r>
          </a:p>
          <a:p xmlns:a="http://schemas.openxmlformats.org/drawingml/2006/main">
            <a:r>
              <a:t>             鐵礦砂等原物料需求旺季，散裝運輸動能轉強； 4Q26 為營建工程及製造業復工旺</a:t>
            </a:r>
          </a:p>
          <a:p xmlns:a="http://schemas.openxmlformats.org/drawingml/2006/main">
            <a:r>
              <a:t>             季，推升鋼材需求明確；零售百貨進入周年慶及雙 11、12 備貨旺季，龍頭業者具備</a:t>
            </a:r>
          </a:p>
          <a:p xmlns:a="http://schemas.openxmlformats.org/drawingml/2006/main">
            <a:r>
              <a:t>             季節性利多。(2)低基期轉型類股，塑化類股受惠於國際油價上漲帶動，塑化原料行</a:t>
            </a:r>
          </a:p>
          <a:p xmlns:a="http://schemas.openxmlformats.org/drawingml/2006/main">
            <a:r>
              <a:t>             情再起，首選具產業鏈居上游、具一貫廠優勢的台塑四寶，在油價上漲階段有利成</a:t>
            </a:r>
          </a:p>
          <a:p xmlns:a="http://schemas.openxmlformats.org/drawingml/2006/main">
            <a:r>
              <a:t>             本轉嫁與維持供應韌性，且集團轉向佈局具潛力的特化與電子級化學品。(3)高股息</a:t>
            </a:r>
          </a:p>
          <a:p xmlns:a="http://schemas.openxmlformats.org/drawingml/2006/main">
            <a:r>
              <a:t>             防禦性，殖利率上升，經常型收益增加，且保單負債以市場利率評價，有利於壽險型</a:t>
            </a:r>
          </a:p>
          <a:p xmlns:a="http://schemas.openxmlformats.org/drawingml/2006/main">
            <a:r>
              <a:t>             金控淨值增加，且股市熱絡推升資本利得，明年配息能力正向。</a:t>
            </a:r>
          </a:p>
          <a:p xmlns:a="http://schemas.openxmlformats.org/drawingml/2006/main">
            <a:r>
              <a:t/>
            </a:r>
          </a:p>
          <a:p xmlns:a="http://schemas.openxmlformats.org/drawingml/2006/main">
            <a:r>
              <a:t/>
            </a:r>
          </a:p>
          <a:p xmlns:a="http://schemas.openxmlformats.org/drawingml/2006/main">
            <a:r>
              <a:t>             10 月推薦標的：聚焦台積電訂單外溢效益、AI 基建、零組件升規與能源四大議題，</a:t>
            </a:r>
          </a:p>
          <a:p xmlns:a="http://schemas.openxmlformats.org/drawingml/2006/main">
            <a:r>
              <a:t>             如下表：</a:t>
            </a:r>
          </a:p>
          <a:p xmlns:a="http://schemas.openxmlformats.org/drawingml/2006/main">
            <a:r>
              <a:t/>
            </a:r>
          </a:p>
          <a:p xmlns:a="http://schemas.openxmlformats.org/drawingml/2006/main">
            <a:r>
              <a:t>             圖表 1：10 月產業投資策略之推薦個股</a:t>
            </a:r>
          </a:p>
          <a:p xmlns:a="http://schemas.openxmlformats.org/drawingml/2006/main">
            <a:r>
              <a:t>                           看好議題                  推薦標的</a:t>
            </a:r>
          </a:p>
          <a:p xmlns:a="http://schemas.openxmlformats.org/drawingml/2006/main">
            <a:r>
              <a:t>             台積電訂單外溢效應              2454 聯發科</a:t>
            </a:r>
          </a:p>
          <a:p xmlns:a="http://schemas.openxmlformats.org/drawingml/2006/main">
            <a:r>
              <a:t>             ⚫    ASIC              2467 志聖</a:t>
            </a:r>
          </a:p>
          <a:p xmlns:a="http://schemas.openxmlformats.org/drawingml/2006/main">
            <a:r>
              <a:t>             ⚫    封裝、測試             2360 致茂</a:t>
            </a:r>
          </a:p>
          <a:p xmlns:a="http://schemas.openxmlformats.org/drawingml/2006/main">
            <a:r>
              <a:t>             ⚫    設備                6187 萬潤</a:t>
            </a:r>
          </a:p>
          <a:p xmlns:a="http://schemas.openxmlformats.org/drawingml/2006/main">
            <a:r>
              <a:t>             Agent AI 及 AI 基礎建設     2330 台積電</a:t>
            </a:r>
          </a:p>
          <a:p xmlns:a="http://schemas.openxmlformats.org/drawingml/2006/main">
            <a:r>
              <a:t>             ⚫    GPU/CPU           3037 欣興</a:t>
            </a:r>
          </a:p>
          <a:p xmlns:a="http://schemas.openxmlformats.org/drawingml/2006/main">
            <a:r>
              <a:t>             ⚫    高速傳輸/介面           8028 昇陽半</a:t>
            </a:r>
          </a:p>
          <a:p xmlns:a="http://schemas.openxmlformats.org/drawingml/2006/main">
            <a:r>
              <a:t>             ⚫    載板                3443 創意</a:t>
            </a:r>
          </a:p>
          <a:p xmlns:a="http://schemas.openxmlformats.org/drawingml/2006/main">
            <a:r>
              <a:t>             零組件規格升級                2059 川湖</a:t>
            </a:r>
          </a:p>
          <a:p xmlns:a="http://schemas.openxmlformats.org/drawingml/2006/main">
            <a:r>
              <a:t>             ⚫    伺服器滑軌、連接器線材       3017 奇鋐</a:t>
            </a:r>
          </a:p>
          <a:p xmlns:a="http://schemas.openxmlformats.org/drawingml/2006/main">
            <a:r>
              <a:t>             ⚫    光通訊雷射             2455 全新</a:t>
            </a:r>
          </a:p>
          <a:p xmlns:a="http://schemas.openxmlformats.org/drawingml/2006/main">
            <a:r>
              <a:t>             ⚫    散熱                3665 貿聯-KY</a:t>
            </a:r>
          </a:p>
          <a:p xmlns:a="http://schemas.openxmlformats.org/drawingml/2006/main">
            <a:r>
              <a:t>             能源、殖利率                 1519 華城</a:t>
            </a:r>
          </a:p>
          <a:p xmlns:a="http://schemas.openxmlformats.org/drawingml/2006/main">
            <a:r>
              <a:t>             ⚫    重電設備              1303 南亞</a:t>
            </a:r>
          </a:p>
          <a:p xmlns:a="http://schemas.openxmlformats.org/drawingml/2006/main">
            <a:r>
              <a:t>             ⚫    特化                4749 新應材</a:t>
            </a:r>
          </a:p>
          <a:p xmlns:a="http://schemas.openxmlformats.org/drawingml/2006/main">
            <a:r>
              <a:t>             ⚫    金控類股              2882 國泰金</a:t>
            </a:r>
          </a:p>
          <a:p xmlns:a="http://schemas.openxmlformats.org/drawingml/2006/main">
            <a:r>
              <a:t>             資料來源：富邦投顧整理。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2</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10月重要產業議題</a:t>
            </a:r>
          </a:p>
          <a:p xmlns:a="http://schemas.openxmlformats.org/drawingml/2006/main">
            <a:r>
              <a:t/>
            </a:r>
          </a:p>
          <a:p xmlns:a="http://schemas.openxmlformats.org/drawingml/2006/main">
            <a:r>
              <a:t/>
            </a:r>
          </a:p>
          <a:p xmlns:a="http://schemas.openxmlformats.org/drawingml/2006/main">
            <a:r>
              <a:t>             半導體垂直整合與策略聯盟優勢日趨重要，台廠市占率可望提升</a:t>
            </a:r>
          </a:p>
          <a:p xmlns:a="http://schemas.openxmlformats.org/drawingml/2006/main">
            <a:r>
              <a:t>             隨生成式 AI、雲端運算及高效能運算需求持續擴張，先進製程產能維持高稼動率，</a:t>
            </a:r>
          </a:p>
          <a:p xmlns:a="http://schemas.openxmlformats.org/drawingml/2006/main">
            <a:r>
              <a:t>             供給吃緊不僅支撐晶圓價格，也促使晶圓代工廠加快資本支出與新廠建置，帶動半</a:t>
            </a:r>
          </a:p>
          <a:p xmlns:a="http://schemas.openxmlformats.org/drawingml/2006/main">
            <a:r>
              <a:t>             導體設備與材料需求。不僅如此，AI 晶片持續朝更高運算效能與更大型機櫃架構發</a:t>
            </a:r>
          </a:p>
          <a:p xmlns:a="http://schemas.openxmlformats.org/drawingml/2006/main">
            <a:r>
              <a:t>             展，尤其競爭優勢來源由 GPU、記憶體配置進一步延伸至高速網通等互連相關領域</a:t>
            </a:r>
          </a:p>
          <a:p xmlns:a="http://schemas.openxmlformats.org/drawingml/2006/main">
            <a:r>
              <a:t>             (包含 CPO/NPO)，加上晶片尺寸、功耗與整合複雜度提升，進一步推升 CoWoS、</a:t>
            </a:r>
          </a:p>
          <a:p xmlns:a="http://schemas.openxmlformats.org/drawingml/2006/main">
            <a:r>
              <a:t>             CoPoS、SoIC 等先進封裝產能，以及晶圓測試、成品測試與相關設備需求。整體而</a:t>
            </a:r>
          </a:p>
          <a:p xmlns:a="http://schemas.openxmlformats.org/drawingml/2006/main">
            <a:r>
              <a:t>             言，AI 半導體成長動能正由單一 GPU 逐步擴散至晶圓代工與先進封裝整合，以及</a:t>
            </a:r>
          </a:p>
          <a:p xmlns:a="http://schemas.openxmlformats.org/drawingml/2006/main">
            <a:r>
              <a:t>             測試與設備等環節是否能跟上，這樣的發展趨勢更加深台灣半導體供應鏈的全球重</a:t>
            </a:r>
          </a:p>
          <a:p xmlns:a="http://schemas.openxmlformats.org/drawingml/2006/main">
            <a:r>
              <a:t>             要性，尤其看好接下來獨立封測廠、新切入半導體上游製程設備供應商之業績表現。</a:t>
            </a:r>
          </a:p>
          <a:p xmlns:a="http://schemas.openxmlformats.org/drawingml/2006/main">
            <a:r>
              <a:t/>
            </a:r>
          </a:p>
          <a:p xmlns:a="http://schemas.openxmlformats.org/drawingml/2006/main">
            <a:r>
              <a:t/>
            </a:r>
          </a:p>
          <a:p xmlns:a="http://schemas.openxmlformats.org/drawingml/2006/main">
            <a:r>
              <a:t>             台灣 CPO 供應鏈日趨完整</a:t>
            </a:r>
          </a:p>
          <a:p xmlns:a="http://schemas.openxmlformats.org/drawingml/2006/main">
            <a:r>
              <a:t>             隨著 AI 浪潮而來的網路流量爆炸性成長以及資料中心對高速與低功耗的需求增長，</a:t>
            </a:r>
          </a:p>
          <a:p xmlns:a="http://schemas.openxmlformats.org/drawingml/2006/main">
            <a:r>
              <a:t>             推升網通設備升級浪潮一波比一波強。尤其矽光子 SiPh 與 CPO 技術進入落地階段，</a:t>
            </a:r>
          </a:p>
          <a:p xmlns:a="http://schemas.openxmlformats.org/drawingml/2006/main">
            <a:r>
              <a:t>             尤其台積電緊湊型通用光子引擎 COUPE 可在性能、功耗和成本方面滿足廣泛的應</a:t>
            </a:r>
          </a:p>
          <a:p xmlns:a="http://schemas.openxmlformats.org/drawingml/2006/main">
            <a:r>
              <a:t>             用，未來整體功耗可望節省超過 10 倍，同時傳輸效率提升 20 倍，可望加速 CPO 滲</a:t>
            </a:r>
          </a:p>
          <a:p xmlns:a="http://schemas.openxmlformats.org/drawingml/2006/main">
            <a:r>
              <a:t>             透率提升速度。對此，富邦認為未來商機可以著眼於以下重點環節：（1）EIC、PIC</a:t>
            </a:r>
          </a:p>
          <a:p xmlns:a="http://schemas.openxmlformats.org/drawingml/2006/main">
            <a:r>
              <a:t>             晶片設計與製造（2）EIC、PIC 先進封裝（3）光電訊號量測、雷射、微透鏡、光耦</a:t>
            </a:r>
          </a:p>
          <a:p xmlns:a="http://schemas.openxmlformats.org/drawingml/2006/main">
            <a:r>
              <a:t>             合、FAU 設計、光學黏膠等。綜合前述，可預期未來將越來越多原本光通訊零組件</a:t>
            </a:r>
          </a:p>
          <a:p xmlns:a="http://schemas.openxmlformats.org/drawingml/2006/main">
            <a:r>
              <a:t>             或網通設備零組件業者切入 CPO 後段領域，產業逐漸從少數業者型態邁向百花齊放</a:t>
            </a:r>
          </a:p>
          <a:p xmlns:a="http://schemas.openxmlformats.org/drawingml/2006/main">
            <a:r>
              <a:t>             之熱絡情況，台系業者因長期耕耘光訊號傳輸零組件領域，並具 AI 上下游製造端絕</a:t>
            </a:r>
          </a:p>
          <a:p xmlns:a="http://schemas.openxmlformats.org/drawingml/2006/main">
            <a:r>
              <a:t>             對優勢，可望成為國際通訊大廠主要合作夥伴。</a:t>
            </a:r>
          </a:p>
          <a:p xmlns:a="http://schemas.openxmlformats.org/drawingml/2006/main">
            <a:r>
              <a:t/>
            </a:r>
          </a:p>
          <a:p xmlns:a="http://schemas.openxmlformats.org/drawingml/2006/main">
            <a:r>
              <a:t/>
            </a:r>
          </a:p>
          <a:p xmlns:a="http://schemas.openxmlformats.org/drawingml/2006/main">
            <a:r>
              <a:t>             證券、銀行與壽險三大業務均維持高成長態勢，提前布局 2027 除息行情</a:t>
            </a:r>
          </a:p>
          <a:p xmlns:a="http://schemas.openxmlformats.org/drawingml/2006/main">
            <a:r>
              <a:t>             受惠於企業投資需求強勁，台灣銀行業者2026年放款上看雙位數成長，外幣放款為</a:t>
            </a:r>
          </a:p>
          <a:p xmlns:a="http://schemas.openxmlformats.org/drawingml/2006/main">
            <a:r>
              <a:t>             主要成長動能。因企業投資動能可望延續，預估2027年放款仍將達高個位數成長。</a:t>
            </a:r>
          </a:p>
          <a:p xmlns:a="http://schemas.openxmlformats.org/drawingml/2006/main">
            <a:r>
              <a:t>             企業資金需求強勁有助於銀行業者優化放款結構，預估2H26放款收益率與淨利差均</a:t>
            </a:r>
          </a:p>
          <a:p xmlns:a="http://schemas.openxmlformats.org/drawingml/2006/main">
            <a:r>
              <a:t>             將較1H26佳，Fed升息亦有助於淨利差可望進一步擴大。壽險方面，國內業者多將</a:t>
            </a:r>
          </a:p>
          <a:p xmlns:a="http://schemas.openxmlformats.org/drawingml/2006/main">
            <a:r>
              <a:t>             股權投資部位認列為FVOCI，資本利得不再計入損益表，故財報獲利並未反映真實</a:t>
            </a:r>
          </a:p>
          <a:p xmlns:a="http://schemas.openxmlformats.org/drawingml/2006/main">
            <a:r>
              <a:t>             狀態，因金控將以調整後EPS為股利發放基礎，故2026年現金股息發放能力可期。</a:t>
            </a:r>
          </a:p>
          <a:p xmlns:a="http://schemas.openxmlformats.org/drawingml/2006/main">
            <a:r>
              <a:t>             此外，隨著保費收入成長，壽險業CSM攤銷至損益表之金額可望逐年增加，故未來</a:t>
            </a:r>
          </a:p>
          <a:p xmlns:a="http://schemas.openxmlformats.org/drawingml/2006/main">
            <a:r>
              <a:t>             損益表之保險服務結果將穩定成長；財務結果方面，因長天期債券殖利率位居高檔，</a:t>
            </a:r>
          </a:p>
          <a:p xmlns:a="http://schemas.openxmlformats.org/drawingml/2006/main">
            <a:r>
              <a:t>             預估今/明年避險前經常性收益率將維持在3.5%，且採用IFRS17後，保單負債成本已</a:t>
            </a:r>
          </a:p>
          <a:p xmlns:a="http://schemas.openxmlformats.org/drawingml/2006/main">
            <a:r>
              <a:t>             反映市場利率而下降，加上避險比重與成本降低，故未來將可維持利差益。另外，因</a:t>
            </a:r>
          </a:p>
          <a:p xmlns:a="http://schemas.openxmlformats.org/drawingml/2006/main">
            <a:r>
              <a:t>             保險負債對利率的敏感度較資產高，故殖利率攀升反將使壽險業者淨值提升。</a:t>
            </a:r>
          </a:p>
          <a:p xmlns:a="http://schemas.openxmlformats.org/drawingml/2006/main">
            <a:r>
              <a:t/>
            </a:r>
          </a:p>
          <a:p xmlns:a="http://schemas.openxmlformats.org/drawingml/2006/main">
            <a:r>
              <a:t/>
            </a:r>
          </a:p>
          <a:p xmlns:a="http://schemas.openxmlformats.org/drawingml/2006/main">
            <a:r>
              <a:t>             綜合上述，國內大型金控在證券、銀行與壽險三大業務維持高成長態勢之下，有利</a:t>
            </a:r>
          </a:p>
          <a:p xmlns:a="http://schemas.openxmlformats.org/drawingml/2006/main">
            <a:r>
              <a:t>             於2026~2027年現金股利發放水準連續性上揚，對長期穩健投資者帶來極具吸引力</a:t>
            </a:r>
          </a:p>
          <a:p xmlns:a="http://schemas.openxmlformats.org/drawingml/2006/main">
            <a:r>
              <a:t>             之長期報酬預期。</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3</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富邦次產業趨勢看法-傳產&amp;金融股</a:t>
            </a:r>
          </a:p>
          <a:p xmlns:a="http://schemas.openxmlformats.org/drawingml/2006/main">
            <a:r>
              <a:t/>
            </a:r>
          </a:p>
          <a:p xmlns:a="http://schemas.openxmlformats.org/drawingml/2006/main">
            <a:r>
              <a:t>  次產業        看法                                  說明</a:t>
            </a:r>
          </a:p>
          <a:p xmlns:a="http://schemas.openxmlformats.org/drawingml/2006/main">
            <a:r>
              <a:t>                  ⚫   8 月份中國水泥產量 1.297 億噸，YoY-11.7%，累計 1-8 月產量 9.89 億噸，YoY9%，產量為近 18</a:t>
            </a:r>
          </a:p>
          <a:p xmlns:a="http://schemas.openxmlformats.org/drawingml/2006/main">
            <a:r>
              <a:t>                      年以來新低。中國水泥由於受房地產行業仍處深度調整和地方政府債務壓力制約影響，預期水泥市</a:t>
            </a:r>
          </a:p>
          <a:p xmlns:a="http://schemas.openxmlformats.org/drawingml/2006/main">
            <a:r>
              <a:t>                      場弱勢運行趨勢疆延續，市場預期全年產量衰退由年初中個位數調整至中高個位數。</a:t>
            </a:r>
          </a:p>
          <a:p xmlns:a="http://schemas.openxmlformats.org/drawingml/2006/main">
            <a:r>
              <a:t>   水泥        →</a:t>
            </a:r>
          </a:p>
          <a:p xmlns:a="http://schemas.openxmlformats.org/drawingml/2006/main">
            <a:r>
              <a:t>                  ⚫   台、亞泥部分分別透過歐非水泥及業外轉投資達到營運多角化，使整體營運逐步降低對水泥產業的</a:t>
            </a:r>
          </a:p>
          <a:p xmlns:a="http://schemas.openxmlformats.org/drawingml/2006/main">
            <a:r>
              <a:t>                      依賴。整體而言，中國水泥仍偏弱，台灣水泥在打防政策下水泥需求偏保守看待。對產業持中性看</a:t>
            </a:r>
          </a:p>
          <a:p xmlns:a="http://schemas.openxmlformats.org/drawingml/2006/main">
            <a:r>
              <a:t>                      待。</a:t>
            </a:r>
          </a:p>
          <a:p xmlns:a="http://schemas.openxmlformats.org/drawingml/2006/main">
            <a:r>
              <a:t>                  ⚫   IEA 預估 2025-2027 年全球電力消耗將以接近 4%的速度增長，高於長期平均 2-3%增速持續擴</a:t>
            </a:r>
          </a:p>
          <a:p xmlns:a="http://schemas.openxmlformats.org/drawingml/2006/main">
            <a:r>
              <a:t>                      張，其中資料中心為主要驅動力，2024 年 DC 耗電量占全球用電 1.5%，預期至 2030 年底占比提</a:t>
            </a:r>
          </a:p>
          <a:p xmlns:a="http://schemas.openxmlformats.org/drawingml/2006/main">
            <a:r>
              <a:t>                      升至全球的 3%。</a:t>
            </a:r>
          </a:p>
          <a:p xmlns:a="http://schemas.openxmlformats.org/drawingml/2006/main">
            <a:r>
              <a:t>                  ⚫   鑒於用電需求的快速增加，疊加多數重電設備屆臨汰舊換新，推升相關設備價格及交期，其中變壓</a:t>
            </a:r>
          </a:p>
          <a:p xmlns:a="http://schemas.openxmlformats.org/drawingml/2006/main">
            <a:r>
              <a:t> 重電新能源       ↗        器價格自 2021 年至 2026 年 7 月漲幅進一步增至 81%，價格因需求維持高檔。</a:t>
            </a:r>
          </a:p>
          <a:p xmlns:a="http://schemas.openxmlformats.org/drawingml/2006/main">
            <a:r>
              <a:t>                  ⚫   市調機構顯示 2019 年至今美國電力變壓器需求累積成長逾 119%，配電變壓器亦成長 34%。供給</a:t>
            </a:r>
          </a:p>
          <a:p xmlns:a="http://schemas.openxmlformats.org/drawingml/2006/main">
            <a:r>
              <a:t>                      端因電工鋼稀缺、專業技術勞工不足、及產能擴充週期長等，整體供應落後。大型電力變壓器與升</a:t>
            </a:r>
          </a:p>
          <a:p xmlns:a="http://schemas.openxmlformats.org/drawingml/2006/main">
            <a:r>
              <a:t>                      壓變壓器交期 150-200 週，高於疫情前的 40-50 週水準，顯示供需矛盾已由「短期短缺」轉為</a:t>
            </a:r>
          </a:p>
          <a:p xmlns:a="http://schemas.openxmlformats.org/drawingml/2006/main">
            <a:r>
              <a:t>                      「長期結構性失衡」</a:t>
            </a:r>
          </a:p>
          <a:p xmlns:a="http://schemas.openxmlformats.org/drawingml/2006/main">
            <a:r>
              <a:t>                              。</a:t>
            </a:r>
          </a:p>
          <a:p xmlns:a="http://schemas.openxmlformats.org/drawingml/2006/main">
            <a:r>
              <a:t>                  ⚫   不同特化公司受原料成本上漲影響程度不一，具體仍需看個別公司產品組合中，受石油原料影響的</a:t>
            </a:r>
          </a:p>
          <a:p xmlns:a="http://schemas.openxmlformats.org/drawingml/2006/main">
            <a:r>
              <a:t>                      程度和成本轉嫁能力。 特用化學屬於石化下游產業，普遍在油價高企階段使評價面承壓，評價面</a:t>
            </a:r>
          </a:p>
          <a:p xmlns:a="http://schemas.openxmlformats.org/drawingml/2006/main">
            <a:r>
              <a:t>                      的下修也壓抑股價表現。</a:t>
            </a:r>
          </a:p>
          <a:p xmlns:a="http://schemas.openxmlformats.org/drawingml/2006/main">
            <a:r>
              <a:t>                  ⚫   2H26 台積電 2 奈米進入關鍵放量階段，隨產能利用率攀升，加上先進製程節點持續擴產，相關具</a:t>
            </a:r>
          </a:p>
          <a:p xmlns:a="http://schemas.openxmlformats.org/drawingml/2006/main">
            <a:r>
              <a:t>   特化        ↗</a:t>
            </a:r>
          </a:p>
          <a:p xmlns:a="http://schemas.openxmlformats.org/drawingml/2006/main">
            <a:r>
              <a:t>                      備台積電特化材料股較受市場親睞，近期資金關注的個股包括中華化和上品。然而由於油價居高</a:t>
            </a:r>
          </a:p>
          <a:p xmlns:a="http://schemas.openxmlformats.org/drawingml/2006/main">
            <a:r>
              <a:t>                      位，市場資金短進短出的狀況增加，部分特化股股本較小，搭配題材面短打。</a:t>
            </a:r>
          </a:p>
          <a:p xmlns:a="http://schemas.openxmlformats.org/drawingml/2006/main">
            <a:r>
              <a:t>                  ⚫   特化中長線布局，仍首選台積電指標概念股為主，其中切入先進製程前段材料的新應材和台特化，</a:t>
            </a:r>
          </a:p>
          <a:p xmlns:a="http://schemas.openxmlformats.org/drawingml/2006/main">
            <a:r>
              <a:t>                      仍可待油價回檔逢低承接。</a:t>
            </a:r>
          </a:p>
          <a:p xmlns:a="http://schemas.openxmlformats.org/drawingml/2006/main">
            <a:r>
              <a:t>                  ⚫   SCFI 指數 9 月 24 日下跌 0.03%，其中歐洲航線下跌 4.6%，美西航線下跌 1.3%，美東航線下跌</a:t>
            </a:r>
          </a:p>
          <a:p xmlns:a="http://schemas.openxmlformats.org/drawingml/2006/main">
            <a:r>
              <a:t>                      0.8%。</a:t>
            </a:r>
          </a:p>
          <a:p xmlns:a="http://schemas.openxmlformats.org/drawingml/2006/main">
            <a:r>
              <a:t> 貨櫃航運        →</a:t>
            </a:r>
          </a:p>
          <a:p xmlns:a="http://schemas.openxmlformats.org/drawingml/2006/main">
            <a:r>
              <a:t>                  ⚫   進入中國十一長假貨櫃需求淡季，預估 10 月中旬，運價將呈現 10%左右下跌幅度。</a:t>
            </a:r>
          </a:p>
          <a:p xmlns:a="http://schemas.openxmlformats.org/drawingml/2006/main">
            <a:r>
              <a:t>                  ⚫   美中貿易談判順暢，美中停徵雙方船舶港口附加費一年，須持續觀察後續變化。</a:t>
            </a:r>
          </a:p>
          <a:p xmlns:a="http://schemas.openxmlformats.org/drawingml/2006/main">
            <a:r>
              <a:t>                  ⚫   市場對美伊衝突和緩的預期降低，Brent 重返 100 美元之上。儘管沙烏地阿拉伯恢復東西管線運</a:t>
            </a:r>
          </a:p>
          <a:p xmlns:a="http://schemas.openxmlformats.org/drawingml/2006/main">
            <a:r>
              <a:t>                      作，輸送量仍處於低水準，全面恢復或需數周。8 月烏克蘭攻擊俄羅斯共 22 處煉化設備，目前荷姆</a:t>
            </a:r>
          </a:p>
          <a:p xmlns:a="http://schemas.openxmlformats.org/drawingml/2006/main">
            <a:r>
              <a:t>                      茲海峽航運持續受限，且因巴拿馬運河水位降低，使美國低價石化原料減少，原料價格上揚使中國</a:t>
            </a:r>
          </a:p>
          <a:p xmlns:a="http://schemas.openxmlformats.org/drawingml/2006/main">
            <a:r>
              <a:t>                      自 7 月起石化產品價格持續攀升，支撐產品利差。</a:t>
            </a:r>
          </a:p>
          <a:p xmlns:a="http://schemas.openxmlformats.org/drawingml/2006/main">
            <a:r>
              <a:t>                  ⚫   IEA 預期 4Q26 全球原油供需可望逐步恢復平衡，然而基於 11 月美國期中選舉前後美伊能否和解仍</a:t>
            </a:r>
          </a:p>
          <a:p xmlns:a="http://schemas.openxmlformats.org/drawingml/2006/main">
            <a:r>
              <a:t>   塑化        →</a:t>
            </a:r>
          </a:p>
          <a:p xmlns:a="http://schemas.openxmlformats.org/drawingml/2006/main">
            <a:r>
              <a:t>                      充滿變數。塑化首選居產業鏈上游、具一貫廠優勢的台塑四寶，在油價上漲階段有利成本轉嫁與維</a:t>
            </a:r>
          </a:p>
          <a:p xmlns:a="http://schemas.openxmlformats.org/drawingml/2006/main">
            <a:r>
              <a:t>                      持供應韌性，此外集團領先塑膠同業積極轉型，其中又以轉型成效領先、產品組合較佳的個股為首</a:t>
            </a:r>
          </a:p>
          <a:p xmlns:a="http://schemas.openxmlformats.org/drawingml/2006/main">
            <a:r>
              <a:t>                      選。個股方面，南亞電子材料占比逼近 6 成，營運和獲利表現最佳；台塑 4Q26 進入中國金九銀十</a:t>
            </a:r>
          </a:p>
          <a:p xmlns:a="http://schemas.openxmlformats.org/drawingml/2006/main">
            <a:r>
              <a:t>                      旺季；台化受惠台苯退出市場使 SM 轉為營利；台塑化受惠柴油價格大漲，加上中東和俄羅斯煉化</a:t>
            </a:r>
          </a:p>
          <a:p xmlns:a="http://schemas.openxmlformats.org/drawingml/2006/main">
            <a:r>
              <a:t>                      設備受損，可望支撐營運表現。</a:t>
            </a:r>
          </a:p>
          <a:p xmlns:a="http://schemas.openxmlformats.org/drawingml/2006/main">
            <a:r>
              <a:t>                  ⚫   近期 BDI 指數呈現區間震盪走勢，區間大致在 3,000-3,500 點。</a:t>
            </a:r>
          </a:p>
          <a:p xmlns:a="http://schemas.openxmlformats.org/drawingml/2006/main">
            <a:r>
              <a:t>                  ⚫   鐵礦砂為散裝航運重要運載原物料，觀察鐵礦砂新增產能，西非西芒杜新增產能已於 4Q25 開出，</a:t>
            </a:r>
          </a:p>
          <a:p xmlns:a="http://schemas.openxmlformats.org/drawingml/2006/main">
            <a:r>
              <a:t> 散裝航運        →        目前年產能達到 1,500-1,600 萬噸，相當於每個月需 6-7 艘大型 Capesize 船舶運載，隨著產能陸</a:t>
            </a:r>
          </a:p>
          <a:p xmlns:a="http://schemas.openxmlformats.org/drawingml/2006/main">
            <a:r>
              <a:t>                      續開出，預計至 2028 年後，產能可達 1.2 億噸，形成 2026 年後散裝航運運價成長重要動能之</a:t>
            </a:r>
          </a:p>
          <a:p xmlns:a="http://schemas.openxmlformats.org/drawingml/2006/main">
            <a:r>
              <a:t>                      一。</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7</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   由於西非原物料運載至中國之海上距離，為澳洲運載至中國距離的 3 倍，新增鐵礦砂及鋁礬土礦區</a:t>
            </a:r>
          </a:p>
          <a:p xmlns:a="http://schemas.openxmlformats.org/drawingml/2006/main">
            <a:r>
              <a:t>                          均位於西非，在航程增加下，預估 2026 年散裝航運延噸需求達到 2.5%，優於需求量的成長性</a:t>
            </a:r>
          </a:p>
          <a:p xmlns:a="http://schemas.openxmlformats.org/drawingml/2006/main">
            <a:r>
              <a:t>                          1.3%，散裝需求結構好轉，有利於運價攀升</a:t>
            </a:r>
          </a:p>
          <a:p xmlns:a="http://schemas.openxmlformats.org/drawingml/2006/main">
            <a:r>
              <a:t>                      ⚫   金控 8M26 自結稅後淨利為 5,789 億元，YoY+59.1%，其中除了銀行業者核心營運動能強勁之</a:t>
            </a:r>
          </a:p>
          <a:p xmlns:a="http://schemas.openxmlformats.org/drawingml/2006/main">
            <a:r>
              <a:t>                          外，資本市場交投熱絡帶動證券業獲利多達倍數成長，且壽險業 CSM 穩定釋放、恆常性收益持續</a:t>
            </a:r>
          </a:p>
          <a:p xmlns:a="http://schemas.openxmlformats.org/drawingml/2006/main">
            <a:r>
              <a:t>                          成長與金融資產評價利益提升帶動獲利大幅提升亦是金控獲利大幅成長主因。</a:t>
            </a:r>
          </a:p>
          <a:p xmlns:a="http://schemas.openxmlformats.org/drawingml/2006/main">
            <a:r>
              <a:t>    金融          →     ⚫   壽險 FVOCI 股權投資之資本利得豐厚，調整後獲利已創歷史新高，故壽險型金控明年現金股息發放</a:t>
            </a:r>
          </a:p>
          <a:p xmlns:a="http://schemas.openxmlformats.org/drawingml/2006/main">
            <a:r>
              <a:t>                          量能將優於其他金融業者。</a:t>
            </a:r>
          </a:p>
          <a:p xmlns:a="http://schemas.openxmlformats.org/drawingml/2006/main">
            <a:r>
              <a:t>                      ⚫   銀行業今年放款將達雙位數成長，4Q26 利差可望隨著放款組合優化而擴大。</a:t>
            </a:r>
          </a:p>
          <a:p xmlns:a="http://schemas.openxmlformats.org/drawingml/2006/main">
            <a:r>
              <a:t>                      ⚫   現金股息收入旺季已過，接近年底銀行業呆帳提存將較多。</a:t>
            </a:r>
          </a:p>
          <a:p xmlns:a="http://schemas.openxmlformats.org/drawingml/2006/main">
            <a:r>
              <a:t>                      ⚫   中鋼公告 8 月營業利益為 7.9 億元，MoM+227%，MoM 大幅成長主要係因 7 月有認列跌價損失</a:t>
            </a:r>
          </a:p>
          <a:p xmlns:a="http://schemas.openxmlformats.org/drawingml/2006/main">
            <a:r>
              <a:t>                          所致，8 月營業利潤率為 2.8%，較 7 月的 0.81%明顯上升。8 月自結稅前盈餘為 7.2 億元，</a:t>
            </a:r>
          </a:p>
          <a:p xmlns:a="http://schemas.openxmlformats.org/drawingml/2006/main">
            <a:r>
              <a:t>                          MoM+10.4%，稅前盈餘成長低於營業利益成長主要係因 7 月業外現金股息收入較高所致。</a:t>
            </a:r>
          </a:p>
          <a:p xmlns:a="http://schemas.openxmlformats.org/drawingml/2006/main">
            <a:r>
              <a:t>                      ⚫   時序進入傳統旺季，考量 1)8 月雨季部分出口鋼品遞延至 10 月出貨、2)下游客戶暑休結束，需求</a:t>
            </a:r>
          </a:p>
          <a:p xmlns:a="http://schemas.openxmlformats.org/drawingml/2006/main">
            <a:r>
              <a:t>    鋼鐵          →</a:t>
            </a:r>
          </a:p>
          <a:p xmlns:a="http://schemas.openxmlformats.org/drawingml/2006/main">
            <a:r>
              <a:t>                          增加、3) 近期台灣單軋廠有接到美國詢單，產業趨勢好轉，預估中鋼+中龍預估出貨量將達 275-</a:t>
            </a:r>
          </a:p>
          <a:p xmlns:a="http://schemas.openxmlformats.org/drawingml/2006/main">
            <a:r>
              <a:t>                          285 萬噸，呈現季增。</a:t>
            </a:r>
          </a:p>
          <a:p xmlns:a="http://schemas.openxmlformats.org/drawingml/2006/main">
            <a:r>
              <a:t>                      ⚫   近日冶金煤價格已創兩年半新高，研究部預估鋼鐵需求回溫與國際鋼價走升將有助於中鋼反映原料</a:t>
            </a:r>
          </a:p>
          <a:p xmlns:a="http://schemas.openxmlformats.org/drawingml/2006/main">
            <a:r>
              <a:t>                          成本的走升，並預估 11 月盤價將可望調漲 500~1000 元/噸，煉鋼利差可望擴大。</a:t>
            </a:r>
          </a:p>
          <a:p xmlns:a="http://schemas.openxmlformats.org/drawingml/2006/main">
            <a:r>
              <a:t>資料來源：富邦投顧，2026.9.30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依使用者提供《2026年10月產業投資策略》濃縮，資料日期2026年9月30日；觀點及預測不代表確定結果。</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傳產聚焦產業旺季、低基期、防禦性等選擇主軸</a:t>
            </a:r>
          </a:p>
          <a:p xmlns:a="http://schemas.openxmlformats.org/drawingml/2006/main">
            <a:r>
              <a:t>             10 月傳產投資策略核心著重傳統消費旺季、年終備貨潮及防禦性等，建議以旺季效</a:t>
            </a:r>
          </a:p>
          <a:p xmlns:a="http://schemas.openxmlformats.org/drawingml/2006/main">
            <a:r>
              <a:t>             應、低基期反彈、高股息防禦為主要選股要點。(1)旺季效應概念，包括重電、散裝</a:t>
            </a:r>
          </a:p>
          <a:p xmlns:a="http://schemas.openxmlformats.org/drawingml/2006/main">
            <a:r>
              <a:t>             航運、及鋼鐵等基建、零售百貨：全球電網升級、台電強韌電網、以及 AI 資料中心、</a:t>
            </a:r>
          </a:p>
          <a:p xmlns:a="http://schemas.openxmlformats.org/drawingml/2006/main">
            <a:r>
              <a:t>             半導體科技廠擴廠等需求迫切，重電設備旺季入帳動能充沛；受惠於穀物與煤炭、</a:t>
            </a:r>
          </a:p>
          <a:p xmlns:a="http://schemas.openxmlformats.org/drawingml/2006/main">
            <a:r>
              <a:t>             鐵礦砂等原物料需求旺季，散裝運輸動能轉強； 4Q26 為營建工程及製造業復工旺</a:t>
            </a:r>
          </a:p>
          <a:p xmlns:a="http://schemas.openxmlformats.org/drawingml/2006/main">
            <a:r>
              <a:t>             季，推升鋼材需求明確；零售百貨進入周年慶及雙 11、12 備貨旺季，龍頭業者具備</a:t>
            </a:r>
          </a:p>
          <a:p xmlns:a="http://schemas.openxmlformats.org/drawingml/2006/main">
            <a:r>
              <a:t>             季節性利多。(2)低基期轉型類股，塑化類股受惠於國際油價上漲帶動，塑化原料行</a:t>
            </a:r>
          </a:p>
          <a:p xmlns:a="http://schemas.openxmlformats.org/drawingml/2006/main">
            <a:r>
              <a:t>             情再起，首選具產業鏈居上游、具一貫廠優勢的台塑四寶，在油價上漲階段有利成</a:t>
            </a:r>
          </a:p>
          <a:p xmlns:a="http://schemas.openxmlformats.org/drawingml/2006/main">
            <a:r>
              <a:t>             本轉嫁與維持供應韌性，且集團轉向佈局具潛力的特化與電子級化學品。(3)高股息</a:t>
            </a:r>
          </a:p>
          <a:p xmlns:a="http://schemas.openxmlformats.org/drawingml/2006/main">
            <a:r>
              <a:t>             防禦性，殖利率上升，經常型收益增加，且保單負債以市場利率評價，有利於壽險型</a:t>
            </a:r>
          </a:p>
          <a:p xmlns:a="http://schemas.openxmlformats.org/drawingml/2006/main">
            <a:r>
              <a:t>             金控淨值增加，且股市熱絡推升資本利得，明年配息能力正向。</a:t>
            </a:r>
          </a:p>
          <a:p xmlns:a="http://schemas.openxmlformats.org/drawingml/2006/main">
            <a:r>
              <a:t/>
            </a:r>
          </a:p>
          <a:p xmlns:a="http://schemas.openxmlformats.org/drawingml/2006/main">
            <a:r>
              <a:t/>
            </a:r>
          </a:p>
          <a:p xmlns:a="http://schemas.openxmlformats.org/drawingml/2006/main">
            <a:r>
              <a:t>             10 月推薦標的：聚焦台積電訂單外溢效益、AI 基建、零組件升規與能源四大議題，</a:t>
            </a:r>
          </a:p>
          <a:p xmlns:a="http://schemas.openxmlformats.org/drawingml/2006/main">
            <a:r>
              <a:t>             如下表：</a:t>
            </a:r>
          </a:p>
          <a:p xmlns:a="http://schemas.openxmlformats.org/drawingml/2006/main">
            <a:r>
              <a:t/>
            </a:r>
          </a:p>
          <a:p xmlns:a="http://schemas.openxmlformats.org/drawingml/2006/main">
            <a:r>
              <a:t>             圖表 1：10 月產業投資策略之推薦個股</a:t>
            </a:r>
          </a:p>
          <a:p xmlns:a="http://schemas.openxmlformats.org/drawingml/2006/main">
            <a:r>
              <a:t>                           看好議題                  推薦標的</a:t>
            </a:r>
          </a:p>
          <a:p xmlns:a="http://schemas.openxmlformats.org/drawingml/2006/main">
            <a:r>
              <a:t>             台積電訂單外溢效應              2454 聯發科</a:t>
            </a:r>
          </a:p>
          <a:p xmlns:a="http://schemas.openxmlformats.org/drawingml/2006/main">
            <a:r>
              <a:t>             ⚫    ASIC              2467 志聖</a:t>
            </a:r>
          </a:p>
          <a:p xmlns:a="http://schemas.openxmlformats.org/drawingml/2006/main">
            <a:r>
              <a:t>             ⚫    封裝、測試             2360 致茂</a:t>
            </a:r>
          </a:p>
          <a:p xmlns:a="http://schemas.openxmlformats.org/drawingml/2006/main">
            <a:r>
              <a:t>             ⚫    設備                6187 萬潤</a:t>
            </a:r>
          </a:p>
          <a:p xmlns:a="http://schemas.openxmlformats.org/drawingml/2006/main">
            <a:r>
              <a:t>             Agent AI 及 AI 基礎建設     2330 台積電</a:t>
            </a:r>
          </a:p>
          <a:p xmlns:a="http://schemas.openxmlformats.org/drawingml/2006/main">
            <a:r>
              <a:t>             ⚫    GPU/CPU           3037 欣興</a:t>
            </a:r>
          </a:p>
          <a:p xmlns:a="http://schemas.openxmlformats.org/drawingml/2006/main">
            <a:r>
              <a:t>             ⚫    高速傳輸/介面           8028 昇陽半</a:t>
            </a:r>
          </a:p>
          <a:p xmlns:a="http://schemas.openxmlformats.org/drawingml/2006/main">
            <a:r>
              <a:t>             ⚫    載板                3443 創意</a:t>
            </a:r>
          </a:p>
          <a:p xmlns:a="http://schemas.openxmlformats.org/drawingml/2006/main">
            <a:r>
              <a:t>             零組件規格升級                2059 川湖</a:t>
            </a:r>
          </a:p>
          <a:p xmlns:a="http://schemas.openxmlformats.org/drawingml/2006/main">
            <a:r>
              <a:t>             ⚫    伺服器滑軌、連接器線材       3017 奇鋐</a:t>
            </a:r>
          </a:p>
          <a:p xmlns:a="http://schemas.openxmlformats.org/drawingml/2006/main">
            <a:r>
              <a:t>             ⚫    光通訊雷射             2455 全新</a:t>
            </a:r>
          </a:p>
          <a:p xmlns:a="http://schemas.openxmlformats.org/drawingml/2006/main">
            <a:r>
              <a:t>             ⚫    散熱                3665 貿聯-KY</a:t>
            </a:r>
          </a:p>
          <a:p xmlns:a="http://schemas.openxmlformats.org/drawingml/2006/main">
            <a:r>
              <a:t>             能源、殖利率                 1519 華城</a:t>
            </a:r>
          </a:p>
          <a:p xmlns:a="http://schemas.openxmlformats.org/drawingml/2006/main">
            <a:r>
              <a:t>             ⚫    重電設備              1303 南亞</a:t>
            </a:r>
          </a:p>
          <a:p xmlns:a="http://schemas.openxmlformats.org/drawingml/2006/main">
            <a:r>
              <a:t>             ⚫    特化                4749 新應材</a:t>
            </a:r>
          </a:p>
          <a:p xmlns:a="http://schemas.openxmlformats.org/drawingml/2006/main">
            <a:r>
              <a:t>             ⚫    金控類股              2882 國泰金</a:t>
            </a:r>
          </a:p>
          <a:p xmlns:a="http://schemas.openxmlformats.org/drawingml/2006/main">
            <a:r>
              <a:t>             資料來源：富邦投顧整理。</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2</a:t>
            </a:r>
          </a:p>
          <a:p xmlns:a="http://schemas.openxmlformats.org/drawingml/2006/main">
            <a:r>
              <a:t/>
            </a:r>
          </a:p>
          <a:p xmlns:a="http://schemas.openxmlformats.org/drawingml/2006/main">
            <a:r>
              <a:t>                                                                                                                       台灣股市 | 台股策略</a:t>
            </a:r>
          </a:p>
          <a:p xmlns:a="http://schemas.openxmlformats.org/drawingml/2006/main">
            <a:r>
              <a:t/>
            </a:r>
          </a:p>
          <a:p xmlns:a="http://schemas.openxmlformats.org/drawingml/2006/main">
            <a:r>
              <a:t>                                                                                                                       產業投資策略</a:t>
            </a:r>
          </a:p>
          <a:p xmlns:a="http://schemas.openxmlformats.org/drawingml/2006/main">
            <a:r>
              <a:t/>
            </a:r>
          </a:p>
          <a:p xmlns:a="http://schemas.openxmlformats.org/drawingml/2006/main">
            <a:r>
              <a:t/>
            </a:r>
          </a:p>
          <a:p xmlns:a="http://schemas.openxmlformats.org/drawingml/2006/main">
            <a:r>
              <a:t/>
            </a:r>
          </a:p>
          <a:p xmlns:a="http://schemas.openxmlformats.org/drawingml/2006/main">
            <a:r>
              <a:t>富邦投資組合及本期新增標的</a:t>
            </a:r>
          </a:p>
          <a:p xmlns:a="http://schemas.openxmlformats.org/drawingml/2006/main">
            <a:r>
              <a:t> 公司名稱      Company      Ticker      MV        Fubon     Current     Target       EPS (NT$)             PER(X)             PBR (X)          Div. Yield(%)   Portfolio   本期新增</a:t>
            </a:r>
          </a:p>
          <a:p xmlns:a="http://schemas.openxmlformats.org/drawingml/2006/main">
            <a:r>
              <a:t>                                 (m US$)      Rating     Price       Price     FY26       FY27      FY26     FY27      FY26       FY27     FY26    FY27</a:t>
            </a:r>
          </a:p>
          <a:p xmlns:a="http://schemas.openxmlformats.org/drawingml/2006/main">
            <a:r>
              <a:t>南亞      NPC            1303 TT      59,394   Buy          238.00      265.00    12.29      15.56     19.4     15.3       4.2        3.8     3.87    4.90     3%</a:t>
            </a:r>
          </a:p>
          <a:p xmlns:a="http://schemas.openxmlformats.org/drawingml/2006/main">
            <a:r>
              <a:t>華城      FE             1519 TT       7,643   Buy          699.00      918.54    18.65      22.17     37.5     31.5      17.0       13.9     1.85    2.20     4%         ★</a:t>
            </a:r>
          </a:p>
          <a:p xmlns:a="http://schemas.openxmlformats.org/drawingml/2006/main">
            <a:r>
              <a:t>川湖      king slide     2059 TT      37,035   Buy       12,350.00   13,850.00   376.24     554.03     32.8     22.3      19.9       12.1     1.21    1.78     6%</a:t>
            </a:r>
          </a:p>
          <a:p xmlns:a="http://schemas.openxmlformats.org/drawingml/2006/main">
            <a:r>
              <a:t>華通      COMPEQ MFG.    2313 TT       8,638   Buy          222.50      320.00     7.64      14.63     29.1     15.2       4.3        3.5     1.66    3.18     3%         ★</a:t>
            </a:r>
          </a:p>
          <a:p xmlns:a="http://schemas.openxmlformats.org/drawingml/2006/main">
            <a:r>
              <a:t>台積電     TSMC           2330 TT   2,019,594   Buy        2,475.00    3,500.00   108.82     155.42     22.7     15.9       9.1        6.3     1.01    1.17     28%</a:t>
            </a:r>
          </a:p>
          <a:p xmlns:a="http://schemas.openxmlformats.org/drawingml/2006/main">
            <a:r>
              <a:t>致茂      CHROMA         2360 TT      30,706   Buy        2,295.00    2,700.00    49.15      67.21     46.7     34.1      22.2       16.8     1.50    2.05      4%        ★</a:t>
            </a:r>
          </a:p>
          <a:p xmlns:a="http://schemas.openxmlformats.org/drawingml/2006/main">
            <a:r>
              <a:t>南亞科     NTC            2408 TT      54,608   Buy          503.00      548.00    65.87      81.88      7.6      6.1       3.5        2.5     4.97    5.96      5%        ★</a:t>
            </a:r>
          </a:p>
          <a:p xmlns:a="http://schemas.openxmlformats.org/drawingml/2006/main">
            <a:r>
              <a:t>聯發科     MTK            2454 TT     266,728   Buy        5,285.00    6,000.00    69.01     153.34     76.6     34.5      24.6       17.0     1.12    2.48      3%</a:t>
            </a:r>
          </a:p>
          <a:p xmlns:a="http://schemas.openxmlformats.org/drawingml/2006/main">
            <a:r>
              <a:t>全新      VPEC           2455 TT       3,274   Buy          554.00      710.00     5.84      10.92     94.8     50.7      31.4       31.0     0.84    1.58      3%</a:t>
            </a:r>
          </a:p>
          <a:p xmlns:a="http://schemas.openxmlformats.org/drawingml/2006/main">
            <a:r>
              <a:t>志聖      C SUN          2467 TT      2,692    Buy          529.00      750.00    19.85      26.57     26.6       19.9      7.7        5.5    2.55    3.41      4%</a:t>
            </a:r>
          </a:p>
          <a:p xmlns:a="http://schemas.openxmlformats.org/drawingml/2006/main">
            <a:r>
              <a:t>國泰金     CATHAY HOLDINGS2882 TT     56,337    Buy          110.50      125.00     9.06       9.53     12.2       11.6      1.4        1.2    4.95    4.20      4%</a:t>
            </a:r>
          </a:p>
          <a:p xmlns:a="http://schemas.openxmlformats.org/drawingml/2006/main">
            <a:r>
              <a:t>元大金     Yuanta Group   2885 TT     30,189    Buy           69.20       74.00     4.80       4.90     14.4       14.1      2.5        2.1    3.47    3.53      4%        ★</a:t>
            </a:r>
          </a:p>
          <a:p xmlns:a="http://schemas.openxmlformats.org/drawingml/2006/main">
            <a:r>
              <a:t>大立光     LARGAN         3008 TT     25,703    Buy        6,245.00    6,340.00   195.02     211.49     32.0       29.5      4.2        3.8    1.56    1.69      5%</a:t>
            </a:r>
          </a:p>
          <a:p xmlns:a="http://schemas.openxmlformats.org/drawingml/2006/main">
            <a:r>
              <a:t>奇鋐      AVC            3017 TT     43,917    Buy        3,555.00    3,800.00   105.53     155.35     33.7       22.9     17.9       11.7    1.41    2.11      4%</a:t>
            </a:r>
          </a:p>
          <a:p xmlns:a="http://schemas.openxmlformats.org/drawingml/2006/main">
            <a:r>
              <a:t>欣興      UNIMICRON      3037 TT     61,282    Buy        1,185.00    1,100.00    22.81      36.25     52.0       32.7     13.8       10.4    0.99    1.58      4%</a:t>
            </a:r>
          </a:p>
          <a:p xmlns:a="http://schemas.openxmlformats.org/drawingml/2006/main">
            <a:r>
              <a:t>創意      GUC            3443 TT     35,946    Buy        8,525.00    8,000.00    60.50     202.07    140.9       42.2     27.4        6.7    0.16    0.16      3%</a:t>
            </a:r>
          </a:p>
          <a:p xmlns:a="http://schemas.openxmlformats.org/drawingml/2006/main">
            <a:r>
              <a:t>貿聯-KY   BHI (BizLink)  3665 TT      2,200    Buy          720.00    3,100.00    69.16     114.53     19.9       18.2      8.3        7.5    4.29    4.67      3%</a:t>
            </a:r>
          </a:p>
          <a:p xmlns:a="http://schemas.openxmlformats.org/drawingml/2006/main">
            <a:r>
              <a:t>新應材     aemc           4749 TT      2,169    Buy          728.00      950.00    15.22      21.52     47.8       33.8      5.9        5.4    1.49    2.11      3%        ★</a:t>
            </a:r>
          </a:p>
          <a:p xmlns:a="http://schemas.openxmlformats.org/drawingml/2006/main">
            <a:r>
              <a:t>萬潤      ALL RING       6187 TT      3,689    Buy        1,195.00      800.00    20.62      33.47     58.0       35.7     14.0       10.9    1.18    1.91      3%        ★</a:t>
            </a:r>
          </a:p>
          <a:p xmlns:a="http://schemas.openxmlformats.org/drawingml/2006/main">
            <a:r>
              <a:t>昇陽半導體   PSI            8028 TT      1,563    Buy          269.00      400.00     7.56      11.58     35.6       23.2      7.8        6.6    1.71    2.55      4%        ★</a:t>
            </a:r>
          </a:p>
          <a:p xmlns:a="http://schemas.openxmlformats.org/drawingml/2006/main">
            <a:r>
              <a:t/>
            </a:r>
          </a:p>
          <a:p xmlns:a="http://schemas.openxmlformats.org/drawingml/2006/main">
            <a:r>
              <a:t>注：部分個股因除權息、增減資，造成本表 EPS 與最新出刊之個股報告有些微落差。</a:t>
            </a:r>
          </a:p>
          <a:p xmlns:a="http://schemas.openxmlformats.org/drawingml/2006/main">
            <a:r>
              <a:t/>
            </a:r>
          </a:p>
          <a:p xmlns:a="http://schemas.openxmlformats.org/drawingml/2006/main">
            <a:r>
              <a:t>資料來源：富邦投顧，2026.9.30。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Fubon portfolio vs. Market weight（內圈為富邦投資組合）</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Market Weight,</a:t>
            </a:r>
          </a:p>
          <a:p xmlns:a="http://schemas.openxmlformats.org/drawingml/2006/main">
            <a:r>
              <a:t>                                                                                            10.7%                 8.7%</a:t>
            </a:r>
          </a:p>
          <a:p xmlns:a="http://schemas.openxmlformats.org/drawingml/2006/main">
            <a:r>
              <a:t/>
            </a:r>
          </a:p>
          <a:p xmlns:a="http://schemas.openxmlformats.org/drawingml/2006/main">
            <a:r>
              <a:t>                                                                                                    Fubon 8.00%</a:t>
            </a:r>
          </a:p>
          <a:p xmlns:a="http://schemas.openxmlformats.org/drawingml/2006/main">
            <a:r>
              <a:t>                                                                                                   Portfolio,</a:t>
            </a:r>
          </a:p>
          <a:p xmlns:a="http://schemas.openxmlformats.org/drawingml/2006/main">
            <a:r>
              <a:t>                                                                                                    10.00%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82.00%</a:t>
            </a:r>
          </a:p>
          <a:p xmlns:a="http://schemas.openxmlformats.org/drawingml/2006/main">
            <a:r>
              <a:t/>
            </a:r>
          </a:p>
          <a:p xmlns:a="http://schemas.openxmlformats.org/drawingml/2006/main">
            <a:r>
              <a:t/>
            </a:r>
          </a:p>
          <a:p xmlns:a="http://schemas.openxmlformats.org/drawingml/2006/main">
            <a:r>
              <a:t/>
            </a:r>
          </a:p>
          <a:p xmlns:a="http://schemas.openxmlformats.org/drawingml/2006/main">
            <a:r>
              <a:t>                                                                                                            80.6%</a:t>
            </a:r>
          </a:p>
          <a:p xmlns:a="http://schemas.openxmlformats.org/drawingml/2006/main">
            <a:r>
              <a:t/>
            </a:r>
          </a:p>
          <a:p xmlns:a="http://schemas.openxmlformats.org/drawingml/2006/main">
            <a:r>
              <a:t>                                                                                    Financial               Tech                Non-tech</a:t>
            </a:r>
          </a:p>
          <a:p xmlns:a="http://schemas.openxmlformats.org/drawingml/2006/main">
            <a:r>
              <a:t/>
            </a:r>
          </a:p>
          <a:p xmlns:a="http://schemas.openxmlformats.org/drawingml/2006/main">
            <a:r>
              <a:t>                                                       資料來源：CMoney、富邦投顧，2026.9.30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請參閱末頁之免責宣言                                                                                                                                                                  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台灣股市 | 台股策略</a:t>
            </a:r>
            <a:endParaRPr/>
          </a:p>
          <a:p xmlns:a="http://schemas.openxmlformats.org/drawingml/2006/main">
            <a:r>
              <a:t/>
            </a:r>
            <a:endParaRPr/>
          </a:p>
          <a:p xmlns:a="http://schemas.openxmlformats.org/drawingml/2006/main">
            <a:r>
              <a:t>                                                                                                                              產業投資策略</a:t>
            </a:r>
            <a:endParaRPr/>
          </a:p>
          <a:p xmlns:a="http://schemas.openxmlformats.org/drawingml/2006/main">
            <a:r>
              <a:t/>
            </a:r>
            <a:endParaRPr/>
          </a:p>
          <a:p xmlns:a="http://schemas.openxmlformats.org/drawingml/2006/main">
            <a:r>
              <a:t/>
            </a:r>
            <a:endParaRPr/>
          </a:p>
          <a:p xmlns:a="http://schemas.openxmlformats.org/drawingml/2006/main">
            <a:r>
              <a:t>免責宣言</a:t>
            </a:r>
            <a:endParaRPr/>
          </a:p>
          <a:p xmlns:a="http://schemas.openxmlformats.org/drawingml/2006/main">
            <a:r>
              <a:t>分析師認證</a:t>
            </a:r>
            <a:endParaRPr/>
          </a:p>
          <a:p xmlns:a="http://schemas.openxmlformats.org/drawingml/2006/main">
            <a:r>
              <a:t>負責分析師（或者負責參與的分析師）確認：</a:t>
            </a:r>
            <a:endParaRPr/>
          </a:p>
          <a:p xmlns:a="http://schemas.openxmlformats.org/drawingml/2006/main">
            <a:r>
              <a:t>1. 本研究報告的內容係反映分析師對於相關證券的個人看法。</a:t>
            </a:r>
            <a:endParaRPr/>
          </a:p>
          <a:p xmlns:a="http://schemas.openxmlformats.org/drawingml/2006/main">
            <a:r>
              <a:t>2. 分析師的報酬與本研究報告內容表述的個別建議或觀點無關。</a:t>
            </a:r>
            <a:endParaRPr/>
          </a:p>
          <a:p xmlns:a="http://schemas.openxmlformats.org/drawingml/2006/main">
            <a:r>
              <a:t>免責聲明</a:t>
            </a:r>
            <a:endParaRPr/>
          </a:p>
          <a:p xmlns:a="http://schemas.openxmlformats.org/drawingml/2006/main">
            <a:r>
              <a:t>本研究報告所載資料僅供參考，並不構成要約、招攬、邀請、宣傳、誘使，或任何不論種類或形式之表示、建議或推薦買賣本研究報告所述的任何證券。所載資料</a:t>
            </a:r>
            <a:endParaRPr/>
          </a:p>
          <a:p xmlns:a="http://schemas.openxmlformats.org/drawingml/2006/main">
            <a:r>
              <a:t>乃秉持誠信原則所提供，並取自相信為可靠及準確之資料來源。然而，有關內容及看法並未考慮個別投資人之投資目標，財務狀況及特別需求。本研究報告所載述</a:t>
            </a:r>
            <a:endParaRPr/>
          </a:p>
          <a:p xmlns:a="http://schemas.openxmlformats.org/drawingml/2006/main">
            <a:r>
              <a:t>的意見可隨時予以更改或撤回，恕不另行通知。本公司及任何關係企業等，皆有可能持有報告中提及的證券。本公司或任何關係企業會提供或嘗試提供投資銀行或</a:t>
            </a:r>
            <a:endParaRPr/>
          </a:p>
          <a:p xmlns:a="http://schemas.openxmlformats.org/drawingml/2006/main">
            <a:r>
              <a:t>其他形式的服務給報告中提及的公司。富邦投顧保留報告內容之一切著作權，禁止以任何形式之抄襲及轉寄他人。</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富邦的股票評等標準</a:t>
            </a:r>
            <a:endParaRPr/>
          </a:p>
          <a:p xmlns:a="http://schemas.openxmlformats.org/drawingml/2006/main">
            <a:r>
              <a:t>評等                           定義</a:t>
            </a:r>
            <a:endParaRPr/>
          </a:p>
          <a:p xmlns:a="http://schemas.openxmlformats.org/drawingml/2006/main">
            <a:r>
              <a:t>買進                           預估未來6個月內的絕對報酬超過15%</a:t>
            </a:r>
            <a:endParaRPr/>
          </a:p>
          <a:p xmlns:a="http://schemas.openxmlformats.org/drawingml/2006/main">
            <a:r>
              <a:t>中立                           預估未來6個月內有絕對報酬介於15%與負15%之間</a:t>
            </a:r>
            <a:endParaRPr/>
          </a:p>
          <a:p xmlns:a="http://schemas.openxmlformats.org/drawingml/2006/main">
            <a:r>
              <a:t>賣出                           預估未來6個月內的絕對報酬高於負15%</a:t>
            </a:r>
            <a:endParaRPr/>
          </a:p>
          <a:p xmlns:a="http://schemas.openxmlformats.org/drawingml/2006/main">
            <a:r>
              <a:t>未評等                          由於富邦目前與該公司有特定交易或沒有足夠的基本資料判斷該公司評等</a:t>
            </a:r>
            <a:endParaRPr/>
          </a:p>
          <a:p xmlns:a="http://schemas.openxmlformats.org/drawingml/2006/main">
            <a:r>
              <a:t>評估中                          目前正在研議個股的投資評等，將於3到6個月內提供投資評等</a:t>
            </a:r>
            <a:endParaRPr/>
          </a:p>
          <a:p xmlns:a="http://schemas.openxmlformats.org/drawingml/2006/main">
            <a:r>
              <a:t/>
            </a:r>
            <a:endParaRPr/>
          </a:p>
          <a:p xmlns:a="http://schemas.openxmlformats.org/drawingml/2006/main">
            <a:r>
              <a:t/>
            </a:r>
            <a:endParaRPr/>
          </a:p>
          <a:p xmlns:a="http://schemas.openxmlformats.org/drawingml/2006/main">
            <a:r>
              <a:t>產業評等                         定義</a:t>
            </a:r>
            <a:endParaRPr/>
          </a:p>
          <a:p xmlns:a="http://schemas.openxmlformats.org/drawingml/2006/main">
            <a:r>
              <a:t>優於大盤                         預估該產業在未來6個月內會比大盤指數表現突出</a:t>
            </a:r>
            <a:endParaRPr/>
          </a:p>
          <a:p xmlns:a="http://schemas.openxmlformats.org/drawingml/2006/main">
            <a:r>
              <a:t>持平                           預估該產業在未來6個月內與大盤指數表現相較持平</a:t>
            </a:r>
            <a:endParaRPr/>
          </a:p>
          <a:p xmlns:a="http://schemas.openxmlformats.org/drawingml/2006/main">
            <a:r>
              <a:t>劣於大盤                         預估該產業在未來6個月內會比大盤指數表現較差</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Disclaimer</a:t>
            </a:r>
            <a:endParaRPr/>
          </a:p>
          <a:p xmlns:a="http://schemas.openxmlformats.org/drawingml/2006/main">
            <a:r>
              <a:t>Analyst Certification</a:t>
            </a:r>
            <a:endParaRPr/>
          </a:p>
          <a:p xmlns:a="http://schemas.openxmlformats.org/drawingml/2006/main">
            <a:r>
              <a:t>The research analyst responsible for this report hereby certifies (or, where multiple research analysts are primarily responsible for this report) that:</a:t>
            </a:r>
            <a:endParaRPr/>
          </a:p>
          <a:p xmlns:a="http://schemas.openxmlformats.org/drawingml/2006/main">
            <a:r>
              <a:t>(1) the views expressed in this research report accurately reflect the analyst’s personal views about the subject securities and issuers.</a:t>
            </a:r>
            <a:endParaRPr/>
          </a:p>
          <a:p xmlns:a="http://schemas.openxmlformats.org/drawingml/2006/main">
            <a:r>
              <a:t>(2) the analyst also certifies that no part of his/her compensation was, is, or will be, directly or indirectly, related to the specific recommendations or views expressed in this</a:t>
            </a:r>
            <a:endParaRPr/>
          </a:p>
          <a:p xmlns:a="http://schemas.openxmlformats.org/drawingml/2006/main">
            <a:r>
              <a:t>research report.</a:t>
            </a:r>
            <a:endParaRPr/>
          </a:p>
          <a:p xmlns:a="http://schemas.openxmlformats.org/drawingml/2006/main">
            <a:r>
              <a:t>Disclaimer</a:t>
            </a:r>
            <a:endParaRPr/>
          </a:p>
          <a:p xmlns:a="http://schemas.openxmlformats.org/drawingml/2006/main">
            <a:r>
              <a:t>This document is for informational purposes only and does not constitute a solicitation for the purchase or sale of any securities. The information contained herein was obtained</a:t>
            </a:r>
            <a:endParaRPr/>
          </a:p>
          <a:p xmlns:a="http://schemas.openxmlformats.org/drawingml/2006/main">
            <a:r>
              <a:t>from sources, which we believe to be reliable, but whose accuracy and completeness we do not guarantee. The opinions and recommendations herein do not take into account</a:t>
            </a:r>
            <a:endParaRPr/>
          </a:p>
          <a:p xmlns:a="http://schemas.openxmlformats.org/drawingml/2006/main">
            <a:r>
              <a:t>the investment objectives, financial situation and particular needs of the reader. Opinions expressed are subject to change without notice. Investors should assume that Fubon</a:t>
            </a:r>
            <a:endParaRPr/>
          </a:p>
          <a:p xmlns:a="http://schemas.openxmlformats.org/drawingml/2006/main">
            <a:r>
              <a:t>Securities or its subsidiaries or its affiliates is seeking or will seek investment banking or other business relationships with the companies in this report. Copyright 2025 Fubon</a:t>
            </a:r>
            <a:endParaRPr/>
          </a:p>
          <a:p xmlns:a="http://schemas.openxmlformats.org/drawingml/2006/main">
            <a:r>
              <a:t>Investment Service – All rights reserved. Any duplication or redistribution of this report is prohibited. Additional information is available upon request.</a:t>
            </a:r>
            <a:endParaRPr/>
          </a:p>
          <a:p xmlns:a="http://schemas.openxmlformats.org/drawingml/2006/main">
            <a:r>
              <a:t/>
            </a:r>
            <a:endParaRPr/>
          </a:p>
          <a:p xmlns:a="http://schemas.openxmlformats.org/drawingml/2006/main">
            <a:r>
              <a:t/>
            </a:r>
            <a:endParaRPr/>
          </a:p>
          <a:p xmlns:a="http://schemas.openxmlformats.org/drawingml/2006/main">
            <a:r>
              <a:t>This report has been produced in Chinese. In the event of questions regarding the accuracy of the translation, please refer to the original Chinese version.</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Fubon's Rating System</a:t>
            </a:r>
            <a:endParaRPr/>
          </a:p>
          <a:p xmlns:a="http://schemas.openxmlformats.org/drawingml/2006/main">
            <a:r>
              <a:t>Rating                       Definition</a:t>
            </a:r>
            <a:endParaRPr/>
          </a:p>
          <a:p xmlns:a="http://schemas.openxmlformats.org/drawingml/2006/main">
            <a:r>
              <a:t>Buy                          Expected absolute return to be over 15% within the next 6 months</a:t>
            </a:r>
            <a:endParaRPr/>
          </a:p>
          <a:p xmlns:a="http://schemas.openxmlformats.org/drawingml/2006/main">
            <a:r>
              <a:t>Neutral                      Expected absolute return to be level within the next 6 months</a:t>
            </a:r>
            <a:endParaRPr/>
          </a:p>
          <a:p xmlns:a="http://schemas.openxmlformats.org/drawingml/2006/main">
            <a:r>
              <a:t>Sell                         Expected absolute return to be over negative 15% within the next 6 months</a:t>
            </a:r>
            <a:endParaRPr/>
          </a:p>
          <a:p xmlns:a="http://schemas.openxmlformats.org/drawingml/2006/main">
            <a:r>
              <a:t>Not Rated (NR)               Pursuant to Fubon acting in deals involving the company or there is not a sufficient fundamental basis for determining an investment rating</a:t>
            </a:r>
            <a:endParaRPr/>
          </a:p>
          <a:p xmlns:a="http://schemas.openxmlformats.org/drawingml/2006/main">
            <a:r>
              <a:t>Under Review                 Fubon is in the process of determining an investment rating and will assign a rating within the 3- to 6-month horizon</a:t>
            </a:r>
            <a:endParaRPr/>
          </a:p>
          <a:p xmlns:a="http://schemas.openxmlformats.org/drawingml/2006/main">
            <a:r>
              <a:t/>
            </a:r>
            <a:endParaRPr/>
          </a:p>
          <a:p xmlns:a="http://schemas.openxmlformats.org/drawingml/2006/main">
            <a:r>
              <a:t/>
            </a:r>
            <a:endParaRPr/>
          </a:p>
          <a:p xmlns:a="http://schemas.openxmlformats.org/drawingml/2006/main">
            <a:r>
              <a:t>Sector Rating                Definition</a:t>
            </a:r>
            <a:endParaRPr/>
          </a:p>
          <a:p xmlns:a="http://schemas.openxmlformats.org/drawingml/2006/main">
            <a:r>
              <a:t>Overweight                   Sector expected to outperform the broader market indexes within the next 6-12 months</a:t>
            </a:r>
            <a:endParaRPr/>
          </a:p>
          <a:p xmlns:a="http://schemas.openxmlformats.org/drawingml/2006/main">
            <a:r>
              <a:t>Market Weight                Sector expected to perform in line with the broader market averages within the next 6-12 months</a:t>
            </a:r>
            <a:endParaRPr/>
          </a:p>
          <a:p xmlns:a="http://schemas.openxmlformats.org/drawingml/2006/main">
            <a:r>
              <a:t>Underweight                  Sector expected to underperform the broader market indexes within the next 6-12 months.</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
            </a:r>
            <a:endParaRPr/>
          </a:p>
          <a:p xmlns:a="http://schemas.openxmlformats.org/drawingml/2006/main">
            <a:r>
              <a:t>請參閱末頁之免責宣言                                                                                                                                                                      12</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55f98155234e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768fc0e03b41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58017bb5dd47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1527d51e894c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471c4a524f40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1060070279498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6fe95eb5f1848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8e83a9f30cf44e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d4ed6f8e414de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8ec4692515340b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287033fa608456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0d3e921da504d45" /><Relationship Type="http://schemas.openxmlformats.org/officeDocument/2006/relationships/image" Target="/ppt/media/image.jpeg" Id="Rb535d185c3034d3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3b50f1bda0c4b50" /><Relationship Type="http://schemas.openxmlformats.org/officeDocument/2006/relationships/image" Target="/ppt/media/image2.jpeg" Id="Rbbd63cc01a754173" /><Relationship Type="http://schemas.openxmlformats.org/officeDocument/2006/relationships/image" Target="/ppt/media/image.png" Id="R0dc5ac30fef4400d" /></Relationships>
</file>

<file path=ppt/slideLayouts/slideLayout1.xml><?xml version="1.0" encoding="utf-8"?>
<p:sldLayout xmlns:p="http://schemas.openxmlformats.org/presentationml/2006/main" type="title" preserve="1">
  <p:cSld name="標題投影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48F18B3B-C79A-D30A-9E8B-320D35103315}"/>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按一下以編輯母片標題樣式</a:t>
            </a:r>
          </a:p>
        </p:txBody>
      </p:sp>
      <p:sp>
        <p:nvSpPr>
          <p:cNvPr id="3" name="副標題 2">
            <a:extLst xmlns:a="http://schemas.openxmlformats.org/drawingml/2006/main">
              <a:ext uri="{FF2B5EF4-FFF2-40B4-BE49-F238E27FC236}">
                <a16:creationId xmlns:a16="http://schemas.microsoft.com/office/drawing/2014/main" id="{50433205-A250-C04A-19E1-9D36E9A6A13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按一下以編輯母片子標題樣式</a:t>
            </a:r>
          </a:p>
        </p:txBody>
      </p:sp>
      <p:sp>
        <p:nvSpPr>
          <p:cNvPr id="4" name="日期版面配置區 3">
            <a:extLst xmlns:a="http://schemas.openxmlformats.org/drawingml/2006/main">
              <a:ext uri="{FF2B5EF4-FFF2-40B4-BE49-F238E27FC236}">
                <a16:creationId xmlns:a16="http://schemas.microsoft.com/office/drawing/2014/main" id="{3C3D74FA-60E2-D317-0554-15C634B7A4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ADC23465-2136-CAB3-6129-F1A5EC39BE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D86AFDE9-5BF3-9071-ED63-0955BBE60D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2.xml><?xml version="1.0" encoding="utf-8"?>
<p:sldLayout xmlns:p="http://schemas.openxmlformats.org/presentationml/2006/main" type="obj" preserve="1">
  <p:cSld name="標題及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67875BE7-4E1C-2E0F-8266-89872CBCD7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2612F807-ED48-1C29-9C77-EEAC7890847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C6BF9AF9-30AD-A712-3304-37EF504C4C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4DCF142E-8734-3821-F4E1-3627E264E4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0D64D1C3-820E-D7C5-79E1-CFBE18BFCA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3.xml><?xml version="1.0" encoding="utf-8"?>
<p:sldLayout xmlns:p="http://schemas.openxmlformats.org/presentationml/2006/main" type="secHead" preserve="1">
  <p:cSld name="章節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DAC1A336-5B03-E061-CB74-A989C357337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98BCB916-9ED6-B1ED-DB30-4F7C8179497A}"/>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按一下以編輯母片文字樣式</a:t>
            </a:r>
          </a:p>
        </p:txBody>
      </p:sp>
      <p:sp>
        <p:nvSpPr>
          <p:cNvPr id="4" name="日期版面配置區 3">
            <a:extLst xmlns:a="http://schemas.openxmlformats.org/drawingml/2006/main">
              <a:ext uri="{FF2B5EF4-FFF2-40B4-BE49-F238E27FC236}">
                <a16:creationId xmlns:a16="http://schemas.microsoft.com/office/drawing/2014/main" id="{339482BC-D24D-48EE-A684-444E61E777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A0237CF6-7732-B956-7FFA-63F7E33F27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6236DD4A-8DDC-BC56-FDB8-6127B96731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4.xml><?xml version="1.0" encoding="utf-8"?>
<p:sldLayout xmlns:p="http://schemas.openxmlformats.org/presentationml/2006/main" type="twoObj" preserve="1">
  <p:cSld name="兩個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03B8AFB9-8911-2867-76A8-00829619BF3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5E3E4AFC-EBB4-C9AA-8EA7-456AA734E467}"/>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內容版面配置區 3">
            <a:extLst xmlns:a="http://schemas.openxmlformats.org/drawingml/2006/main">
              <a:ext uri="{FF2B5EF4-FFF2-40B4-BE49-F238E27FC236}">
                <a16:creationId xmlns:a16="http://schemas.microsoft.com/office/drawing/2014/main" id="{49B56454-9B54-3463-3048-4E3B466515A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5" name="日期版面配置區 4">
            <a:extLst xmlns:a="http://schemas.openxmlformats.org/drawingml/2006/main">
              <a:ext uri="{FF2B5EF4-FFF2-40B4-BE49-F238E27FC236}">
                <a16:creationId xmlns:a16="http://schemas.microsoft.com/office/drawing/2014/main" id="{D4169BFF-98B8-76A6-972D-E3E5264BD9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B697A390-A7BC-B145-5A37-CAE3DEACB9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F178FD82-3A14-FEDF-D9DA-A8294DE66C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F033680-5195-BB8E-6E18-92D83AB099AF}"/>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635A20DB-19E2-F190-DC0A-8E758AAE104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按一下以編輯母片文字樣式</a:t>
            </a:r>
          </a:p>
        </p:txBody>
      </p:sp>
      <p:sp>
        <p:nvSpPr>
          <p:cNvPr id="4" name="內容版面配置區 3">
            <a:extLst xmlns:a="http://schemas.openxmlformats.org/drawingml/2006/main">
              <a:ext uri="{FF2B5EF4-FFF2-40B4-BE49-F238E27FC236}">
                <a16:creationId xmlns:a16="http://schemas.microsoft.com/office/drawing/2014/main" id="{0CAF8388-C939-7F37-3BD7-A635018965EC}"/>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5" name="文字版面配置區 4">
            <a:extLst xmlns:a="http://schemas.openxmlformats.org/drawingml/2006/main">
              <a:ext uri="{FF2B5EF4-FFF2-40B4-BE49-F238E27FC236}">
                <a16:creationId xmlns:a16="http://schemas.microsoft.com/office/drawing/2014/main" id="{6F78B665-569E-FD60-10B0-9F5A6CDB519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按一下以編輯母片文字樣式</a:t>
            </a:r>
          </a:p>
        </p:txBody>
      </p:sp>
      <p:sp>
        <p:nvSpPr>
          <p:cNvPr id="6" name="內容版面配置區 5">
            <a:extLst xmlns:a="http://schemas.openxmlformats.org/drawingml/2006/main">
              <a:ext uri="{FF2B5EF4-FFF2-40B4-BE49-F238E27FC236}">
                <a16:creationId xmlns:a16="http://schemas.microsoft.com/office/drawing/2014/main" id="{136857E1-476E-0439-3C44-FDC2DA293BAF}"/>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7" name="日期版面配置區 6">
            <a:extLst xmlns:a="http://schemas.openxmlformats.org/drawingml/2006/main">
              <a:ext uri="{FF2B5EF4-FFF2-40B4-BE49-F238E27FC236}">
                <a16:creationId xmlns:a16="http://schemas.microsoft.com/office/drawing/2014/main" id="{642B7300-999F-E06A-0D11-3E53DC4552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8" name="頁尾版面配置區 7">
            <a:extLst xmlns:a="http://schemas.openxmlformats.org/drawingml/2006/main">
              <a:ext uri="{FF2B5EF4-FFF2-40B4-BE49-F238E27FC236}">
                <a16:creationId xmlns:a16="http://schemas.microsoft.com/office/drawing/2014/main" id="{EA7C6FDF-4C23-9B99-B35D-697C4725C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投影片編號版面配置區 8">
            <a:extLst xmlns:a="http://schemas.openxmlformats.org/drawingml/2006/main">
              <a:ext uri="{FF2B5EF4-FFF2-40B4-BE49-F238E27FC236}">
                <a16:creationId xmlns:a16="http://schemas.microsoft.com/office/drawing/2014/main" id="{2108BEF8-0F43-F8EF-1867-F003E8CDC0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6.xml><?xml version="1.0" encoding="utf-8"?>
<p:sldLayout xmlns:p="http://schemas.openxmlformats.org/presentationml/2006/main" type="titleOnly" preserve="1">
  <p:cSld name="只有標題">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D88C7A9-843D-1F49-AF04-F650570ACB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日期版面配置區 2">
            <a:extLst xmlns:a="http://schemas.openxmlformats.org/drawingml/2006/main">
              <a:ext uri="{FF2B5EF4-FFF2-40B4-BE49-F238E27FC236}">
                <a16:creationId xmlns:a16="http://schemas.microsoft.com/office/drawing/2014/main" id="{112FD71F-09C2-3F34-3E05-1D0C541C0E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4" name="頁尾版面配置區 3">
            <a:extLst xmlns:a="http://schemas.openxmlformats.org/drawingml/2006/main">
              <a:ext uri="{FF2B5EF4-FFF2-40B4-BE49-F238E27FC236}">
                <a16:creationId xmlns:a16="http://schemas.microsoft.com/office/drawing/2014/main" id="{7A2B6502-B9C3-EDF5-E1A4-0F6198029E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投影片編號版面配置區 4">
            <a:extLst xmlns:a="http://schemas.openxmlformats.org/drawingml/2006/main">
              <a:ext uri="{FF2B5EF4-FFF2-40B4-BE49-F238E27FC236}">
                <a16:creationId xmlns:a16="http://schemas.microsoft.com/office/drawing/2014/main" id="{C5558BF7-50A6-DD4B-FF8A-46E8E11C77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版面配置區 1">
            <a:extLst xmlns:a="http://schemas.openxmlformats.org/drawingml/2006/main">
              <a:ext uri="{FF2B5EF4-FFF2-40B4-BE49-F238E27FC236}">
                <a16:creationId xmlns:a16="http://schemas.microsoft.com/office/drawing/2014/main" id="{3C64C2DF-4284-BFD0-F3F1-FDE993179B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3" name="頁尾版面配置區 2">
            <a:extLst xmlns:a="http://schemas.openxmlformats.org/drawingml/2006/main">
              <a:ext uri="{FF2B5EF4-FFF2-40B4-BE49-F238E27FC236}">
                <a16:creationId xmlns:a16="http://schemas.microsoft.com/office/drawing/2014/main" id="{592C2337-0A5A-1D52-252E-2A47A02546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投影片編號版面配置區 3">
            <a:extLst xmlns:a="http://schemas.openxmlformats.org/drawingml/2006/main">
              <a:ext uri="{FF2B5EF4-FFF2-40B4-BE49-F238E27FC236}">
                <a16:creationId xmlns:a16="http://schemas.microsoft.com/office/drawing/2014/main" id="{38D476C5-04B7-17DA-3E97-1CA0703CC0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8.xml><?xml version="1.0" encoding="utf-8"?>
<p:sldLayout xmlns:p="http://schemas.openxmlformats.org/presentationml/2006/main" type="objTx" preserve="1">
  <p:cSld name="含輔助字幕的內容">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370F6F18-540D-5740-EEB2-02C48B0E8B9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內容版面配置區 2">
            <a:extLst xmlns:a="http://schemas.openxmlformats.org/drawingml/2006/main">
              <a:ext uri="{FF2B5EF4-FFF2-40B4-BE49-F238E27FC236}">
                <a16:creationId xmlns:a16="http://schemas.microsoft.com/office/drawing/2014/main" id="{3673054B-70D2-1076-375D-E767B3A3740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文字版面配置區 3">
            <a:extLst xmlns:a="http://schemas.openxmlformats.org/drawingml/2006/main">
              <a:ext uri="{FF2B5EF4-FFF2-40B4-BE49-F238E27FC236}">
                <a16:creationId xmlns:a16="http://schemas.microsoft.com/office/drawing/2014/main" id="{9B7533D9-D590-800E-0422-BF2E8D36B86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D5527908-F962-1353-1065-54BA574B91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56F9CD05-FB29-D84E-2486-AC5DC4E74B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69323C69-22F1-9A6B-0AFA-CFABA37556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9.xml><?xml version="1.0" encoding="utf-8"?>
<p:sldLayout xmlns:p="http://schemas.openxmlformats.org/presentationml/2006/main" type="picTx" preserve="1">
  <p:cSld name="含輔助字幕的圖片">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7D9D226E-CB6E-EF39-3ED2-98851F56E0B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按一下以編輯母片標題樣式</a:t>
            </a:r>
          </a:p>
        </p:txBody>
      </p:sp>
      <p:sp>
        <p:nvSpPr>
          <p:cNvPr id="3" name="圖片版面配置區 2">
            <a:extLst xmlns:a="http://schemas.openxmlformats.org/drawingml/2006/main">
              <a:ext uri="{FF2B5EF4-FFF2-40B4-BE49-F238E27FC236}">
                <a16:creationId xmlns:a16="http://schemas.microsoft.com/office/drawing/2014/main" id="{9EDC66BA-E2D1-C5ED-DF8E-5A62660173F5}"/>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字版面配置區 3">
            <a:extLst xmlns:a="http://schemas.openxmlformats.org/drawingml/2006/main">
              <a:ext uri="{FF2B5EF4-FFF2-40B4-BE49-F238E27FC236}">
                <a16:creationId xmlns:a16="http://schemas.microsoft.com/office/drawing/2014/main" id="{557C06E7-2FBF-CCE2-B6EB-078CED31501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按一下以編輯母片文字樣式</a:t>
            </a:r>
          </a:p>
        </p:txBody>
      </p:sp>
      <p:sp>
        <p:nvSpPr>
          <p:cNvPr id="5" name="日期版面配置區 4">
            <a:extLst xmlns:a="http://schemas.openxmlformats.org/drawingml/2006/main">
              <a:ext uri="{FF2B5EF4-FFF2-40B4-BE49-F238E27FC236}">
                <a16:creationId xmlns:a16="http://schemas.microsoft.com/office/drawing/2014/main" id="{02DF25A6-3B3E-D197-98D0-57EEB16EB6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6" name="頁尾版面配置區 5">
            <a:extLst xmlns:a="http://schemas.openxmlformats.org/drawingml/2006/main">
              <a:ext uri="{FF2B5EF4-FFF2-40B4-BE49-F238E27FC236}">
                <a16:creationId xmlns:a16="http://schemas.microsoft.com/office/drawing/2014/main" id="{AA3BEFD8-58B1-8032-E616-1517A6032E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投影片編號版面配置區 6">
            <a:extLst xmlns:a="http://schemas.openxmlformats.org/drawingml/2006/main">
              <a:ext uri="{FF2B5EF4-FFF2-40B4-BE49-F238E27FC236}">
                <a16:creationId xmlns:a16="http://schemas.microsoft.com/office/drawing/2014/main" id="{AD45CFE7-0AAB-47EC-5109-C314B6E2EA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0.xml><?xml version="1.0" encoding="utf-8"?>
<p:sldLayout xmlns:p="http://schemas.openxmlformats.org/presentationml/2006/main" type="vertTx" preserve="1">
  <p:cSld name="標題及直排文字">
    <p:spTree>
      <p:nvGrpSpPr>
        <p:cNvPr id="1" name=""/>
        <p:cNvGrpSpPr/>
        <p:nvPr/>
      </p:nvGrpSpPr>
      <p:grpSpPr>
        <a:xfrm xmlns:a="http://schemas.openxmlformats.org/drawingml/2006/main"/>
      </p:grpSpPr>
      <p:sp>
        <p:nvSpPr>
          <p:cNvPr id="2" name="標題 1">
            <a:extLst xmlns:a="http://schemas.openxmlformats.org/drawingml/2006/main">
              <a:ext uri="{FF2B5EF4-FFF2-40B4-BE49-F238E27FC236}">
                <a16:creationId xmlns:a16="http://schemas.microsoft.com/office/drawing/2014/main" id="{2BC67D65-338F-7646-02B7-E01FD32C2F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6C6774F0-FD16-07B8-0EBB-8753C6DF99C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E5E57050-B3D8-98B8-4786-BF412CF346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EC99B3F5-5643-EE5E-1DAC-94C8A18EED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CB94C950-7F11-92CD-8FB4-F565090878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1.xml><?xml version="1.0" encoding="utf-8"?>
<p:sldLayout xmlns:p="http://schemas.openxmlformats.org/presentationml/2006/main" type="vertTitleAndTx" preserve="1">
  <p:cSld name="直排標題及文字">
    <p:spTree>
      <p:nvGrpSpPr>
        <p:cNvPr id="1" name=""/>
        <p:cNvGrpSpPr/>
        <p:nvPr/>
      </p:nvGrpSpPr>
      <p:grpSpPr>
        <a:xfrm xmlns:a="http://schemas.openxmlformats.org/drawingml/2006/main"/>
      </p:grpSpPr>
      <p:sp>
        <p:nvSpPr>
          <p:cNvPr id="2" name="直排標題 1">
            <a:extLst xmlns:a="http://schemas.openxmlformats.org/drawingml/2006/main">
              <a:ext uri="{FF2B5EF4-FFF2-40B4-BE49-F238E27FC236}">
                <a16:creationId xmlns:a16="http://schemas.microsoft.com/office/drawing/2014/main" id="{FA67ED09-8233-2174-97BA-E0511DFCB42B}"/>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按一下以編輯母片標題樣式</a:t>
            </a:r>
          </a:p>
        </p:txBody>
      </p:sp>
      <p:sp>
        <p:nvSpPr>
          <p:cNvPr id="3" name="直排文字版面配置區 2">
            <a:extLst xmlns:a="http://schemas.openxmlformats.org/drawingml/2006/main">
              <a:ext uri="{FF2B5EF4-FFF2-40B4-BE49-F238E27FC236}">
                <a16:creationId xmlns:a16="http://schemas.microsoft.com/office/drawing/2014/main" id="{E0C5295C-8A98-EA5F-E60C-BEB45531AEB0}"/>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4B112FFF-8485-9BCF-5C4A-BCA10664DE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4A7519FE-F881-9918-F600-C8CAC6C901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7B10CD9E-3798-5B1B-D579-3622403407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72BD85-8AC9-4BB8-B432-562702328434}" type="slidenum">
              <a:t>‹#›</a:t>
            </a:fld>
            <a:endParaRPr/>
          </a:p>
        </p:txBody>
      </p:sp>
    </p:spTree>
  </p:cSld>
</p:sldLayout>
</file>

<file path=ppt/slideLayouts/slideLayout12.xml><?xml version="1.0" encoding="utf-8"?>
<p:sldLayout xmlns:p="http://schemas.openxmlformats.org/presentationml/2006/main">
  <p:cSld name="封面首頁">
    <p:bg>
      <p:bgPr>
        <a:blipFill xmlns:a="http://schemas.openxmlformats.org/drawingml/2006/main" rotWithShape="1">
          <a:blip xmlns:r="http://schemas.openxmlformats.org/officeDocument/2006/relationships" r:embed="Rb535d185c3034d3c">
            <a:lum/>
          </a:blip>
          <a:srcRect l="0" t="0" r="0" b="0"/>
          <a:stretch>
            <a:fillRect l="0" t="0" r="0" b="0"/>
          </a:stretch>
        </a:blipFill>
      </p:bgPr>
    </p:bg>
    <p:spTree>
      <p:nvGrpSpPr>
        <p:cNvPr id="1" name=""/>
        <p:cNvGrpSpPr/>
        <p:nvPr/>
      </p:nvGrpSpPr>
      <p:grpSpPr>
        <a:xfrm xmlns:a="http://schemas.openxmlformats.org/drawingml/2006/main"/>
      </p:grpSpPr>
      <p:sp>
        <p:nvSpPr>
          <p:cNvPr id="6" name="直線接點 5">
            <a:extLst xmlns:a="http://schemas.openxmlformats.org/drawingml/2006/main">
              <a:ext uri="{FF2B5EF4-FFF2-40B4-BE49-F238E27FC236}">
                <a16:creationId xmlns:a16="http://schemas.microsoft.com/office/drawing/2014/main" id="{DDF00634-8024-4457-A369-225164DAD17D}"/>
              </a:ext>
            </a:extLst>
          </p:cNvPr>
          <p:cNvSpPr>
            <a:spLocks xmlns:a="http://schemas.openxmlformats.org/drawingml/2006/main" noGrp="1"/>
          </p:cNvSpPr>
          <p:nvPr/>
        </p:nvSpPr>
        <p:spPr>
          <a:xfrm xmlns:a="http://schemas.openxmlformats.org/drawingml/2006/main">
            <a:off x="3965985" y="3026391"/>
            <a:ext cx="4260028" cy="0"/>
          </a:xfrm>
          <a:prstGeom xmlns:a="http://schemas.openxmlformats.org/drawingml/2006/main" prst="line">
            <a:avLst/>
          </a:prstGeom>
          <a:ln xmlns:a="http://schemas.openxmlformats.org/drawingml/2006/main" w="1270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投影片編號版面配置區 3">
            <a:extLst xmlns:a="http://schemas.openxmlformats.org/drawingml/2006/main">
              <a:ext uri="{FF2B5EF4-FFF2-40B4-BE49-F238E27FC236}">
                <a16:creationId xmlns:a16="http://schemas.microsoft.com/office/drawing/2014/main" id="{92333323-A73C-5064-B286-84C9CFCF172F}"/>
              </a:ext>
            </a:extLst>
          </p:cNvPr>
          <p:cNvSpPr>
            <a:spLocks xmlns:a="http://schemas.openxmlformats.org/drawingml/2006/main" noGrp="1"/>
          </p:cNvSpPr>
          <p:nvPr/>
        </p:nvSpPr>
        <p:spPr>
          <a:xfrm xmlns:a="http://schemas.openxmlformats.org/drawingml/2006/main">
            <a:off x="11706044" y="6519625"/>
            <a:ext cx="403891" cy="29728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defTabSz="914400">
              <a:buNone/>
              <a:defRPr sz="1200" kern="1200">
                <a:solidFill>
                  <a:schemeClr val="tx1">
                    <a:lumMod val="75000"/>
                    <a:lumOff val="25000"/>
                  </a:schemeClr>
                </a:solidFill>
                <a:latin typeface="微軟正黑體"/>
                <a:ea typeface="微軟正黑體"/>
                <a:cs typeface="微軟正黑體"/>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fld id="{D4094CE0-D024-4FC6-B25F-837FC5BFCD48}" type="slidenum">
              <a:rPr sz="1400">
                <a:solidFill>
                  <a:schemeClr val="bg1"/>
                </a:solidFill>
                <a:latin typeface="Arial"/>
                <a:ea typeface="Arial"/>
                <a:cs typeface="Arial"/>
              </a:rPr>
              <a:t>‹#›</a:t>
            </a:fld>
            <a:endParaRPr sz="1400">
              <a:solidFill>
                <a:schemeClr val="bg1"/>
              </a:solidFill>
              <a:latin typeface="Arial"/>
              <a:ea typeface="Arial"/>
              <a:cs typeface="Arial"/>
            </a:endParaRPr>
          </a:p>
        </p:txBody>
      </p:sp>
      <p:sp>
        <p:nvSpPr>
          <p:cNvPr id="12" name="文字版面配置區 5">
            <a:extLst xmlns:a="http://schemas.openxmlformats.org/drawingml/2006/main">
              <a:ext uri="{FF2B5EF4-FFF2-40B4-BE49-F238E27FC236}">
                <a16:creationId xmlns:a16="http://schemas.microsoft.com/office/drawing/2014/main" id="{55E25D0D-F2A1-450F-A736-49CA50F07239}"/>
              </a:ext>
            </a:extLst>
          </p:cNvPr>
          <p:cNvSpPr>
            <a:spLocks xmlns:a="http://schemas.openxmlformats.org/drawingml/2006/main" noGrp="1"/>
          </p:cNvSpPr>
          <p:nvPr>
            <p:ph type="body" idx="28" hasCustomPrompt="1"/>
          </p:nvPr>
        </p:nvSpPr>
        <p:spPr>
          <a:xfrm xmlns:a="http://schemas.openxmlformats.org/drawingml/2006/main">
            <a:off x="8000731" y="3404763"/>
            <a:ext cx="1006908" cy="329074"/>
          </a:xfrm>
          <a:prstGeom xmlns:a="http://schemas.openxmlformats.org/drawingml/2006/main" prst="rect">
            <a:avLst/>
          </a:prstGeom>
        </p:spPr>
        <p:txBody>
          <a:bodyPr xmlns:a="http://schemas.openxmlformats.org/drawingml/2006/main"/>
          <a:lstStyle xmlns:a="http://schemas.openxmlformats.org/drawingml/2006/main">
            <a:lvl1pPr marL="0" indent="0">
              <a:buNone/>
              <a:defRPr sz="1600" b="0">
                <a:solidFill>
                  <a:srgbClr val="3B99CB"/>
                </a:solidFill>
              </a:defRPr>
            </a:lvl1pPr>
          </a:lstStyle>
          <a:p xmlns:a="http://schemas.openxmlformats.org/drawingml/2006/main">
            <a:pPr lvl="0">
              <a:buNone/>
            </a:pPr>
            <a:r>
              <a:t>日期</a:t>
            </a:r>
          </a:p>
        </p:txBody>
      </p:sp>
      <p:sp>
        <p:nvSpPr>
          <p:cNvPr id="2" name="標題 1">
            <a:extLst xmlns:a="http://schemas.openxmlformats.org/drawingml/2006/main">
              <a:ext uri="{FF2B5EF4-FFF2-40B4-BE49-F238E27FC236}">
                <a16:creationId xmlns:a16="http://schemas.microsoft.com/office/drawing/2014/main" id="{7823FF69-4328-4C0F-E732-F62BA488011D}"/>
              </a:ext>
            </a:extLst>
          </p:cNvPr>
          <p:cNvSpPr>
            <a:spLocks xmlns:a="http://schemas.openxmlformats.org/drawingml/2006/main" noGrp="1"/>
          </p:cNvSpPr>
          <p:nvPr>
            <p:ph type="title" idx="0"/>
          </p:nvPr>
        </p:nvSpPr>
        <p:spPr>
          <a:xfrm xmlns:a="http://schemas.openxmlformats.org/drawingml/2006/main">
            <a:off x="2936396" y="2227456"/>
            <a:ext cx="6434027" cy="659975"/>
          </a:xfrm>
          <a:prstGeom xmlns:a="http://schemas.openxmlformats.org/drawingml/2006/main" prst="rect">
            <a:avLst/>
          </a:prstGeom>
        </p:spPr>
        <p:txBody>
          <a:bodyPr xmlns:a="http://schemas.openxmlformats.org/drawingml/2006/main"/>
          <a:lstStyle xmlns:a="http://schemas.openxmlformats.org/drawingml/2006/main">
            <a:lvl1pPr algn="l">
              <a:buNone/>
              <a:defRPr sz="4000">
                <a:solidFill>
                  <a:srgbClr val="008FC7"/>
                </a:solidFill>
              </a:defRPr>
            </a:lvl1pPr>
          </a:lstStyle>
          <a:p xmlns:a="http://schemas.openxmlformats.org/drawingml/2006/main">
            <a:r>
              <a:t>按一下以編輯母片標題樣式</a:t>
            </a:r>
            <a:endParaRPr/>
          </a:p>
        </p:txBody>
      </p:sp>
      <p:sp>
        <p:nvSpPr>
          <p:cNvPr id="7" name="圖片版面配置區 6">
            <a:extLst xmlns:a="http://schemas.openxmlformats.org/drawingml/2006/main">
              <a:ext uri="{FF2B5EF4-FFF2-40B4-BE49-F238E27FC236}">
                <a16:creationId xmlns:a16="http://schemas.microsoft.com/office/drawing/2014/main" id="{154672F5-9361-4F83-B8A3-DD9DDE7BD31A}"/>
              </a:ext>
            </a:extLst>
          </p:cNvPr>
          <p:cNvSpPr>
            <a:spLocks xmlns:a="http://schemas.openxmlformats.org/drawingml/2006/main" noGrp="1"/>
          </p:cNvSpPr>
          <p:nvPr>
            <p:ph type="pic" idx="29"/>
          </p:nvPr>
        </p:nvSpPr>
        <p:spPr>
          <a:xfrm xmlns:a="http://schemas.openxmlformats.org/drawingml/2006/main">
            <a:off x="9859963" y="241300"/>
            <a:ext cx="1992312" cy="569913"/>
          </a:xfrm>
          <a:prstGeom xmlns:a="http://schemas.openxmlformats.org/drawingml/2006/main" prst="rect">
            <a:avLst/>
          </a:prstGeom>
        </p:spPr>
        <p:txBody>
          <a:bodyPr xmlns:a="http://schemas.openxmlformats.org/drawingml/2006/main"/>
          <a:lstStyle xmlns:a="http://schemas.openxmlformats.org/drawingml/2006/main">
            <a:lvl1pPr marL="0" indent="0">
              <a:buNone/>
              <a:defRPr/>
            </a:lvl1pPr>
          </a:lstStyle>
          <a:p xmlns:a="http://schemas.openxmlformats.org/drawingml/2006/main">
            <a:r>
              <a:t>按一下圖示以新增圖片</a:t>
            </a:r>
          </a:p>
        </p:txBody>
      </p:sp>
      <p:sp>
        <p:nvSpPr>
          <p:cNvPr id="5" name="文字版面配置區 4">
            <a:extLst xmlns:a="http://schemas.openxmlformats.org/drawingml/2006/main">
              <a:ext uri="{FF2B5EF4-FFF2-40B4-BE49-F238E27FC236}">
                <a16:creationId xmlns:a16="http://schemas.microsoft.com/office/drawing/2014/main" id="{A8263612-F03C-9DA9-D88C-4746CC9739DA}"/>
              </a:ext>
            </a:extLst>
          </p:cNvPr>
          <p:cNvSpPr>
            <a:spLocks xmlns:a="http://schemas.openxmlformats.org/drawingml/2006/main" noGrp="1"/>
          </p:cNvSpPr>
          <p:nvPr>
            <p:ph type="body" idx="30"/>
          </p:nvPr>
        </p:nvSpPr>
        <p:spPr>
          <a:xfrm xmlns:a="http://schemas.openxmlformats.org/drawingml/2006/main">
            <a:off x="2936875" y="3300305"/>
            <a:ext cx="4818272" cy="432897"/>
          </a:xfrm>
          <a:prstGeom xmlns:a="http://schemas.openxmlformats.org/drawingml/2006/main" prst="rect">
            <a:avLst/>
          </a:prstGeom>
        </p:spPr>
        <p:txBody>
          <a:bodyPr xmlns:a="http://schemas.openxmlformats.org/drawingml/2006/main"/>
          <a:lstStyle xmlns:a="http://schemas.openxmlformats.org/drawingml/2006/main">
            <a:lvl1pPr marL="0" indent="0">
              <a:buNone/>
              <a:defRPr>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按一下以編輯母片文字樣式</a:t>
            </a:r>
          </a:p>
        </p:txBody>
      </p:sp>
    </p:spTree>
  </p:cSld>
</p:sldLayout>
</file>

<file path=ppt/slideLayouts/slideLayout13.xml><?xml version="1.0" encoding="utf-8"?>
<p:sldLayout xmlns:p="http://schemas.openxmlformats.org/presentationml/2006/main" userDrawn="1">
  <p:cSld name="內頁版型-有標題樣式">
    <p:bg>
      <p:bgPr>
        <a:blipFill xmlns:a="http://schemas.openxmlformats.org/drawingml/2006/main" rotWithShape="1">
          <a:blip xmlns:r="http://schemas.openxmlformats.org/officeDocument/2006/relationships" r:embed="Rbbd63cc01a754173">
            <a:lum/>
          </a:blip>
          <a:srcRect l="0" t="0" r="0" b="0"/>
          <a:stretch>
            <a:fillRect l="0" t="0" r="0" b="0"/>
          </a:stretch>
        </a:blipFill>
      </p:bgPr>
    </p:bg>
    <p:spTree>
      <p:nvGrpSpPr>
        <p:cNvPr id="1" name=""/>
        <p:cNvGrpSpPr/>
        <p:nvPr/>
      </p:nvGrpSpPr>
      <p:grpSpPr>
        <a:xfrm xmlns:a="http://schemas.openxmlformats.org/drawingml/2006/main"/>
      </p:grpSpPr>
      <p:sp>
        <p:nvSpPr>
          <p:cNvPr id="2" name="投影片編號版面配置區 3">
            <a:extLst xmlns:a="http://schemas.openxmlformats.org/drawingml/2006/main">
              <a:ext uri="{FF2B5EF4-FFF2-40B4-BE49-F238E27FC236}">
                <a16:creationId xmlns:a16="http://schemas.microsoft.com/office/drawing/2014/main" id="{23E32C13-15C5-88F2-E564-E878156F89C8}"/>
              </a:ext>
            </a:extLst>
          </p:cNvPr>
          <p:cNvSpPr>
            <a:spLocks xmlns:a="http://schemas.openxmlformats.org/drawingml/2006/main" noGrp="1"/>
          </p:cNvSpPr>
          <p:nvPr/>
        </p:nvSpPr>
        <p:spPr>
          <a:xfrm xmlns:a="http://schemas.openxmlformats.org/drawingml/2006/main">
            <a:off x="11706044" y="6519625"/>
            <a:ext cx="403891" cy="29728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marL="0" algn="r" defTabSz="914400">
              <a:buNone/>
              <a:defRPr sz="1200" kern="1200">
                <a:solidFill>
                  <a:schemeClr val="tx1">
                    <a:lumMod val="75000"/>
                    <a:lumOff val="25000"/>
                  </a:schemeClr>
                </a:solidFill>
                <a:latin typeface="微軟正黑體"/>
                <a:ea typeface="微軟正黑體"/>
                <a:cs typeface="微軟正黑體"/>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ctr">
              <a:buNone/>
            </a:pPr>
            <a:fld id="{D4094CE0-D024-4FC6-B25F-837FC5BFCD48}" type="slidenum">
              <a:rPr sz="1400">
                <a:solidFill>
                  <a:srgbClr val="1492C3"/>
                </a:solidFill>
                <a:latin typeface="Arial"/>
                <a:ea typeface="Arial"/>
                <a:cs typeface="Arial"/>
              </a:rPr>
              <a:t>‹#›</a:t>
            </a:fld>
            <a:endParaRPr sz="1400">
              <a:solidFill>
                <a:srgbClr val="1492C3"/>
              </a:solidFill>
              <a:latin typeface="Arial"/>
              <a:ea typeface="Arial"/>
              <a:cs typeface="Arial"/>
            </a:endParaRPr>
          </a:p>
        </p:txBody>
      </p:sp>
      <p:sp>
        <p:nvSpPr>
          <p:cNvPr id="7" name="矩形 6">
            <a:extLst xmlns:a="http://schemas.openxmlformats.org/drawingml/2006/main">
              <a:ext uri="{FF2B5EF4-FFF2-40B4-BE49-F238E27FC236}">
                <a16:creationId xmlns:a16="http://schemas.microsoft.com/office/drawing/2014/main" id="{EF30012B-FA25-A5CA-A709-692F4B4EFFA9}"/>
              </a:ext>
            </a:extLst>
          </p:cNvPr>
          <p:cNvSpPr>
            <a:spLocks xmlns:a="http://schemas.openxmlformats.org/drawingml/2006/main" noGrp="1"/>
          </p:cNvSpPr>
          <p:nvPr/>
        </p:nvSpPr>
        <p:spPr>
          <a:xfrm xmlns:a="http://schemas.openxmlformats.org/drawingml/2006/main" flipV="1">
            <a:off x="1972637" y="172789"/>
            <a:ext cx="10219363" cy="45719"/>
          </a:xfrm>
          <a:prstGeom xmlns:a="http://schemas.openxmlformats.org/drawingml/2006/main" prst="rect">
            <a:avLst/>
          </a:prstGeom>
          <a:gradFill xmlns:a="http://schemas.openxmlformats.org/drawingml/2006/main">
            <a:gsLst>
              <a:gs pos="0">
                <a:srgbClr val="00F9D3">
                  <a:alpha val="0"/>
                </a:srgbClr>
              </a:gs>
              <a:gs pos="9000">
                <a:srgbClr val="00F9D3"/>
              </a:gs>
              <a:gs pos="44000">
                <a:srgbClr val="00C3CD"/>
              </a:gs>
              <a:gs pos="100000">
                <a:srgbClr val="008FC7"/>
              </a:gs>
            </a:gsLst>
            <a:lin ang="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圖片 7"/>
          <p:cNvPicPr>
            <a:picLocks xmlns:a="http://schemas.openxmlformats.org/drawingml/2006/main" noChangeAspect="1"/>
          </p:cNvPicPr>
          <p:nvPr/>
        </p:nvPicPr>
        <p:blipFill>
          <a:blip xmlns:r="http://schemas.openxmlformats.org/officeDocument/2006/relationships" xmlns:a="http://schemas.openxmlformats.org/drawingml/2006/main" r:embed="R0dc5ac30fef4400d"/>
          <a:stretch xmlns:a="http://schemas.openxmlformats.org/drawingml/2006/main">
            <a:fillRect l="0" t="0" r="0" b="0"/>
          </a:stretch>
        </p:blipFill>
        <p:spPr>
          <a:xfrm xmlns:a="http://schemas.openxmlformats.org/drawingml/2006/main">
            <a:off x="321068" y="216276"/>
            <a:ext cx="517908" cy="537330"/>
          </a:xfrm>
          <a:prstGeom xmlns:a="http://schemas.openxmlformats.org/drawingml/2006/main" prst="rect">
            <a:avLst/>
          </a:prstGeom>
        </p:spPr>
      </p:pic>
      <p:sp>
        <p:nvSpPr>
          <p:cNvPr id="6" name="文字版面配置區 5">
            <a:extLst xmlns:a="http://schemas.openxmlformats.org/drawingml/2006/main">
              <a:ext uri="{FF2B5EF4-FFF2-40B4-BE49-F238E27FC236}">
                <a16:creationId xmlns:a16="http://schemas.microsoft.com/office/drawing/2014/main" id="{D613489B-F1F5-45B9-5E53-A14E9851EF53}"/>
              </a:ext>
            </a:extLst>
          </p:cNvPr>
          <p:cNvSpPr>
            <a:spLocks xmlns:a="http://schemas.openxmlformats.org/drawingml/2006/main" noGrp="1"/>
          </p:cNvSpPr>
          <p:nvPr>
            <p:ph type="body" idx="10" hasCustomPrompt="1"/>
          </p:nvPr>
        </p:nvSpPr>
        <p:spPr>
          <a:xfrm xmlns:a="http://schemas.openxmlformats.org/drawingml/2006/main">
            <a:off x="2427288" y="1229533"/>
            <a:ext cx="6319206" cy="438053"/>
          </a:xfrm>
          <a:prstGeom xmlns:a="http://schemas.openxmlformats.org/drawingml/2006/main" prst="rect">
            <a:avLst/>
          </a:prstGeom>
        </p:spPr>
        <p:txBody>
          <a:bodyPr xmlns:a="http://schemas.openxmlformats.org/drawingml/2006/main"/>
          <a:lstStyle xmlns:a="http://schemas.openxmlformats.org/drawingml/2006/main">
            <a:lvl1pPr marL="0" indent="0">
              <a:buFontTx/>
              <a:buNone/>
              <a:defRPr>
                <a:solidFill>
                  <a:schemeClr val="tx1">
                    <a:lumMod val="85000"/>
                    <a:lumOff val="15000"/>
                  </a:schemeClr>
                </a:solidFill>
              </a:defRPr>
            </a:lvl1pPr>
          </a:lstStyle>
          <a:p xmlns:a="http://schemas.openxmlformats.org/drawingml/2006/main">
            <a:pPr lvl="0">
              <a:buNone/>
            </a:pPr>
            <a:r>
              <a:t>按一下以編輯子標題樣式</a:t>
            </a:r>
          </a:p>
        </p:txBody>
      </p:sp>
      <p:sp>
        <p:nvSpPr>
          <p:cNvPr id="4" name="標題 1">
            <a:extLst xmlns:a="http://schemas.openxmlformats.org/drawingml/2006/main">
              <a:ext uri="{FF2B5EF4-FFF2-40B4-BE49-F238E27FC236}">
                <a16:creationId xmlns:a16="http://schemas.microsoft.com/office/drawing/2014/main" id="{F4A50BCB-0F6F-C499-0C3B-15E5EBB92095}"/>
              </a:ext>
            </a:extLst>
          </p:cNvPr>
          <p:cNvSpPr>
            <a:spLocks xmlns:a="http://schemas.openxmlformats.org/drawingml/2006/main" noGrp="1"/>
          </p:cNvSpPr>
          <p:nvPr>
            <p:ph type="title" idx="0" hasCustomPrompt="1"/>
          </p:nvPr>
        </p:nvSpPr>
        <p:spPr>
          <a:xfrm xmlns:a="http://schemas.openxmlformats.org/drawingml/2006/main">
            <a:off x="2427981" y="417269"/>
            <a:ext cx="6026904" cy="601289"/>
          </a:xfrm>
          <a:prstGeom xmlns:a="http://schemas.openxmlformats.org/drawingml/2006/main" prst="rect">
            <a:avLst/>
          </a:prstGeom>
        </p:spPr>
        <p:txBody>
          <a:bodyPr xmlns:a="http://schemas.openxmlformats.org/drawingml/2006/main"/>
          <a:lstStyle xmlns:a="http://schemas.openxmlformats.org/drawingml/2006/main">
            <a:lvl1pPr algn="l">
              <a:buNone/>
              <a:defRPr sz="4000">
                <a:solidFill>
                  <a:srgbClr val="008FC7"/>
                </a:solidFill>
              </a:defRPr>
            </a:lvl1pPr>
          </a:lstStyle>
          <a:p xmlns:a="http://schemas.openxmlformats.org/drawingml/2006/main">
            <a:r>
              <a:t>按一下以編輯標題樣式</a:t>
            </a:r>
          </a:p>
        </p:txBody>
      </p:sp>
      <p:sp>
        <p:nvSpPr>
          <p:cNvPr id="9" name="免責聲明">
            <a:extLst xmlns:a="http://schemas.openxmlformats.org/drawingml/2006/main">
              <a:ext uri="{FF2B5EF4-FFF2-40B4-BE49-F238E27FC236}">
                <a16:creationId xmlns:a16="http://schemas.microsoft.com/office/drawing/2014/main" id="{E3042F75-1908-3D2A-34DA-11D7A042B087}"/>
              </a:ext>
            </a:extLst>
          </p:cNvPr>
          <p:cNvSpPr>
            <a:spLocks xmlns:a="http://schemas.openxmlformats.org/drawingml/2006/main" noGrp="1"/>
          </p:cNvSpPr>
          <p:nvPr/>
        </p:nvSpPr>
        <p:spPr>
          <a:xfrm xmlns:a="http://schemas.openxmlformats.org/drawingml/2006/main">
            <a:off x="1700000" y="6561065"/>
            <a:ext cx="8200000" cy="2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90000" tIns="46800" rIns="90000" bIns="46800">
            <a:spAutoFit/>
          </a:bodyPr>
          <a:lstStyle xmlns:a="http://schemas.openxmlformats.org/drawingml/2006/main">
            <a:lvl1pPr>
              <a:buNone/>
              <a:defRPr sz="1400">
                <a:solidFill>
                  <a:srgbClr val="006666"/>
                </a:solidFill>
                <a:latin typeface="Arial"/>
                <a:ea typeface="Arial"/>
                <a:cs typeface="Arial"/>
              </a:defRPr>
            </a:lvl1pPr>
            <a:lvl2pPr marL="742950" indent="-285750">
              <a:buNone/>
              <a:defRPr sz="1400">
                <a:solidFill>
                  <a:srgbClr val="006666"/>
                </a:solidFill>
                <a:latin typeface="Arial"/>
                <a:ea typeface="Arial"/>
                <a:cs typeface="Arial"/>
              </a:defRPr>
            </a:lvl2pPr>
            <a:lvl3pPr marL="1143000" indent="-228600">
              <a:buNone/>
              <a:defRPr sz="1400">
                <a:solidFill>
                  <a:srgbClr val="006666"/>
                </a:solidFill>
                <a:latin typeface="Arial"/>
                <a:ea typeface="Arial"/>
                <a:cs typeface="Arial"/>
              </a:defRPr>
            </a:lvl3pPr>
            <a:lvl4pPr marL="1600200" indent="-228600">
              <a:buNone/>
              <a:defRPr sz="1400">
                <a:solidFill>
                  <a:srgbClr val="006666"/>
                </a:solidFill>
                <a:latin typeface="Arial"/>
                <a:ea typeface="Arial"/>
                <a:cs typeface="Arial"/>
              </a:defRPr>
            </a:lvl4pPr>
            <a:lvl5pPr marL="2057400" indent="-228600">
              <a:buNone/>
              <a:defRPr sz="1400">
                <a:solidFill>
                  <a:srgbClr val="006666"/>
                </a:solidFill>
                <a:latin typeface="Arial"/>
                <a:ea typeface="Arial"/>
                <a:cs typeface="Arial"/>
              </a:defRPr>
            </a:lvl5pPr>
            <a:lvl6pPr marL="2514600" indent="-228600" algn="ctr">
              <a:spcBef>
                <a:spcPct val="0"/>
              </a:spcBef>
              <a:spcAft>
                <a:spcPct val="0"/>
              </a:spcAft>
              <a:buNone/>
              <a:defRPr sz="1400">
                <a:solidFill>
                  <a:srgbClr val="006666"/>
                </a:solidFill>
                <a:latin typeface="Arial"/>
                <a:ea typeface="Arial"/>
                <a:cs typeface="Arial"/>
              </a:defRPr>
            </a:lvl6pPr>
            <a:lvl7pPr marL="2971800" indent="-228600" algn="ctr">
              <a:spcBef>
                <a:spcPct val="0"/>
              </a:spcBef>
              <a:spcAft>
                <a:spcPct val="0"/>
              </a:spcAft>
              <a:buNone/>
              <a:defRPr sz="1400">
                <a:solidFill>
                  <a:srgbClr val="006666"/>
                </a:solidFill>
                <a:latin typeface="Arial"/>
                <a:ea typeface="Arial"/>
                <a:cs typeface="Arial"/>
              </a:defRPr>
            </a:lvl7pPr>
            <a:lvl8pPr marL="3429000" indent="-228600" algn="ctr">
              <a:spcBef>
                <a:spcPct val="0"/>
              </a:spcBef>
              <a:spcAft>
                <a:spcPct val="0"/>
              </a:spcAft>
              <a:buNone/>
              <a:defRPr sz="1400">
                <a:solidFill>
                  <a:srgbClr val="006666"/>
                </a:solidFill>
                <a:latin typeface="Arial"/>
                <a:ea typeface="Arial"/>
                <a:cs typeface="Arial"/>
              </a:defRPr>
            </a:lvl8pPr>
            <a:lvl9pPr marL="3886200" indent="-228600" algn="ctr">
              <a:spcBef>
                <a:spcPct val="0"/>
              </a:spcBef>
              <a:spcAft>
                <a:spcPct val="0"/>
              </a:spcAft>
              <a:buNone/>
              <a:defRPr sz="1400">
                <a:solidFill>
                  <a:srgbClr val="006666"/>
                </a:solidFill>
                <a:latin typeface="Arial"/>
                <a:ea typeface="Arial"/>
                <a:cs typeface="Arial"/>
              </a:defRPr>
            </a:lvl9pPr>
          </a:lstStyle>
          <a:p xmlns:a="http://schemas.openxmlformats.org/drawingml/2006/main">
            <a:pPr algn="l">
              <a:spcBef>
                <a:spcPct val="50000"/>
              </a:spcBef>
              <a:buNone/>
            </a:pPr>
            <a:r>
              <a:rPr sz="1000">
                <a:solidFill>
                  <a:schemeClr val="bg1"/>
                </a:solidFill>
                <a:latin typeface="微軟正黑體"/>
                <a:ea typeface="微軟正黑體"/>
                <a:cs typeface="微軟正黑體"/>
              </a:rPr>
              <a:t>本文內容僅供參考之用，本公司已審慎研究並提供合理依據，恕不負任何法律責任亦不作任何保證。</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c86aa6910a4080" /><Relationship Type="http://schemas.openxmlformats.org/officeDocument/2006/relationships/slideLayout" Target="/ppt/slideLayouts/slideLayout1.xml" Id="R836b37d199c744ee" /><Relationship Type="http://schemas.openxmlformats.org/officeDocument/2006/relationships/slideLayout" Target="/ppt/slideLayouts/slideLayout2.xml" Id="Rb51ce55c84b14793" /><Relationship Type="http://schemas.openxmlformats.org/officeDocument/2006/relationships/slideLayout" Target="/ppt/slideLayouts/slideLayout3.xml" Id="Ra835c2d679334c50" /><Relationship Type="http://schemas.openxmlformats.org/officeDocument/2006/relationships/slideLayout" Target="/ppt/slideLayouts/slideLayout4.xml" Id="R36c70ada8e744af5" /><Relationship Type="http://schemas.openxmlformats.org/officeDocument/2006/relationships/slideLayout" Target="/ppt/slideLayouts/slideLayout5.xml" Id="Rec9426b9236f4aea" /><Relationship Type="http://schemas.openxmlformats.org/officeDocument/2006/relationships/slideLayout" Target="/ppt/slideLayouts/slideLayout6.xml" Id="R88d72b93402144d4" /><Relationship Type="http://schemas.openxmlformats.org/officeDocument/2006/relationships/slideLayout" Target="/ppt/slideLayouts/slideLayout7.xml" Id="R55e6b0474c714923" /><Relationship Type="http://schemas.openxmlformats.org/officeDocument/2006/relationships/slideLayout" Target="/ppt/slideLayouts/slideLayout8.xml" Id="R4fc1fbe404e14696" /><Relationship Type="http://schemas.openxmlformats.org/officeDocument/2006/relationships/slideLayout" Target="/ppt/slideLayouts/slideLayout9.xml" Id="Rf01ab5ac932d446f" /><Relationship Type="http://schemas.openxmlformats.org/officeDocument/2006/relationships/slideLayout" Target="/ppt/slideLayouts/slideLayout10.xml" Id="Rbd69421149484777" /><Relationship Type="http://schemas.openxmlformats.org/officeDocument/2006/relationships/slideLayout" Target="/ppt/slideLayouts/slideLayout11.xml" Id="R9a4a5733950542f6" /><Relationship Type="http://schemas.openxmlformats.org/officeDocument/2006/relationships/slideLayout" Target="/ppt/slideLayouts/slideLayout12.xml" Id="R1e014efc52024d0b" /><Relationship Type="http://schemas.openxmlformats.org/officeDocument/2006/relationships/slideLayout" Target="/ppt/slideLayouts/slideLayout13.xml" Id="R205ac0d0af4d46d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標題版面配置區 1">
            <a:extLst xmlns:a="http://schemas.openxmlformats.org/drawingml/2006/main">
              <a:ext uri="{FF2B5EF4-FFF2-40B4-BE49-F238E27FC236}">
                <a16:creationId xmlns:a16="http://schemas.microsoft.com/office/drawing/2014/main" id="{931EFEEE-B6A7-B5D3-7EB2-408B8B45245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按一下以編輯母片標題樣式</a:t>
            </a:r>
          </a:p>
        </p:txBody>
      </p:sp>
      <p:sp>
        <p:nvSpPr>
          <p:cNvPr id="3" name="文字版面配置區 2">
            <a:extLst xmlns:a="http://schemas.openxmlformats.org/drawingml/2006/main">
              <a:ext uri="{FF2B5EF4-FFF2-40B4-BE49-F238E27FC236}">
                <a16:creationId xmlns:a16="http://schemas.microsoft.com/office/drawing/2014/main" id="{E6F6D7B9-63A2-A5BC-5736-C19617C6BA3B}"/>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按一下以編輯母片文字樣式</a:t>
            </a:r>
          </a:p>
          <a:p xmlns:a="http://schemas.openxmlformats.org/drawingml/2006/main">
            <a:pPr lvl="1">
              <a:buNone/>
            </a:pPr>
            <a:r>
              <a:t>第二層</a:t>
            </a:r>
          </a:p>
          <a:p xmlns:a="http://schemas.openxmlformats.org/drawingml/2006/main">
            <a:pPr lvl="2">
              <a:buNone/>
            </a:pPr>
            <a:r>
              <a:t>第三層</a:t>
            </a:r>
          </a:p>
          <a:p xmlns:a="http://schemas.openxmlformats.org/drawingml/2006/main">
            <a:pPr lvl="3">
              <a:buNone/>
            </a:pPr>
            <a:r>
              <a:t>第四層</a:t>
            </a:r>
          </a:p>
          <a:p xmlns:a="http://schemas.openxmlformats.org/drawingml/2006/main">
            <a:pPr lvl="4">
              <a:buNone/>
            </a:pPr>
            <a:r>
              <a:t>第五層</a:t>
            </a:r>
          </a:p>
        </p:txBody>
      </p:sp>
      <p:sp>
        <p:nvSpPr>
          <p:cNvPr id="4" name="日期版面配置區 3">
            <a:extLst xmlns:a="http://schemas.openxmlformats.org/drawingml/2006/main">
              <a:ext uri="{FF2B5EF4-FFF2-40B4-BE49-F238E27FC236}">
                <a16:creationId xmlns:a16="http://schemas.microsoft.com/office/drawing/2014/main" id="{6656AF37-6E33-EFFA-597D-45061989950E}"/>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D0907213-1547-4AC0-9970-4C4853B08BEC}" type="datetimeFigureOut">
              <a:t>2026/9/30</a:t>
            </a:fld>
            <a:endParaRPr/>
          </a:p>
        </p:txBody>
      </p:sp>
      <p:sp>
        <p:nvSpPr>
          <p:cNvPr id="5" name="頁尾版面配置區 4">
            <a:extLst xmlns:a="http://schemas.openxmlformats.org/drawingml/2006/main">
              <a:ext uri="{FF2B5EF4-FFF2-40B4-BE49-F238E27FC236}">
                <a16:creationId xmlns:a16="http://schemas.microsoft.com/office/drawing/2014/main" id="{8AFF2156-CA50-A4D4-D4E3-92282AB4B90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投影片編號版面配置區 5">
            <a:extLst xmlns:a="http://schemas.openxmlformats.org/drawingml/2006/main">
              <a:ext uri="{FF2B5EF4-FFF2-40B4-BE49-F238E27FC236}">
                <a16:creationId xmlns:a16="http://schemas.microsoft.com/office/drawing/2014/main" id="{A64265DF-1961-72CA-FA58-E5021F07DAB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072BD85-8AC9-4BB8-B432-5627023284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6b37d199c744ee"/>
    <p:sldLayoutId xmlns:r="http://schemas.openxmlformats.org/officeDocument/2006/relationships" id="2147483650" r:id="Rb51ce55c84b14793"/>
    <p:sldLayoutId xmlns:r="http://schemas.openxmlformats.org/officeDocument/2006/relationships" id="2147483651" r:id="Ra835c2d679334c50"/>
    <p:sldLayoutId xmlns:r="http://schemas.openxmlformats.org/officeDocument/2006/relationships" id="2147483652" r:id="R36c70ada8e744af5"/>
    <p:sldLayoutId xmlns:r="http://schemas.openxmlformats.org/officeDocument/2006/relationships" id="2147483653" r:id="Rec9426b9236f4aea"/>
    <p:sldLayoutId xmlns:r="http://schemas.openxmlformats.org/officeDocument/2006/relationships" id="2147483654" r:id="R88d72b93402144d4"/>
    <p:sldLayoutId xmlns:r="http://schemas.openxmlformats.org/officeDocument/2006/relationships" id="2147483655" r:id="R55e6b0474c714923"/>
    <p:sldLayoutId xmlns:r="http://schemas.openxmlformats.org/officeDocument/2006/relationships" id="2147483656" r:id="R4fc1fbe404e14696"/>
    <p:sldLayoutId xmlns:r="http://schemas.openxmlformats.org/officeDocument/2006/relationships" id="2147483657" r:id="Rf01ab5ac932d446f"/>
    <p:sldLayoutId xmlns:r="http://schemas.openxmlformats.org/officeDocument/2006/relationships" id="2147483658" r:id="Rbd69421149484777"/>
    <p:sldLayoutId xmlns:r="http://schemas.openxmlformats.org/officeDocument/2006/relationships" id="2147483659" r:id="R9a4a5733950542f6"/>
    <p:sldLayoutId xmlns:r="http://schemas.openxmlformats.org/officeDocument/2006/relationships" id="2147483660" r:id="R1e014efc52024d0b"/>
    <p:sldLayoutId xmlns:r="http://schemas.openxmlformats.org/officeDocument/2006/relationships" id="2147483661" r:id="R205ac0d0af4d46d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19fcccb25c5242c0" /><Relationship Type="http://schemas.openxmlformats.org/officeDocument/2006/relationships/notesSlide" Target="/ppt/notesSlides/notesSlide1.xml" Id="Raed50d22bdd14c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3.xml" Id="R2a0538119f59442e" /><Relationship Type="http://schemas.openxmlformats.org/officeDocument/2006/relationships/notesSlide" Target="/ppt/notesSlides/notesSlide2.xml" Id="Rc8db91cb6b764f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3.xml" Id="R0d8afdc7abf74c8b" /><Relationship Type="http://schemas.openxmlformats.org/officeDocument/2006/relationships/image" Target="/ppt/media/image2.png" Id="R003f4e9af76e46cd" /><Relationship Type="http://schemas.openxmlformats.org/officeDocument/2006/relationships/notesSlide" Target="/ppt/notesSlides/notesSlide3.xml" Id="R3d04714e41b349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3.xml" Id="R3589c64d4ec1498d" /><Relationship Type="http://schemas.openxmlformats.org/officeDocument/2006/relationships/image" Target="/ppt/media/image3.png" Id="Rd9bf17ebd2654264" /><Relationship Type="http://schemas.openxmlformats.org/officeDocument/2006/relationships/notesSlide" Target="/ppt/notesSlides/notesSlide4.xml" Id="R7fc006fa1b7f4d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755b38e51f8d49a4" /><Relationship Type="http://schemas.openxmlformats.org/officeDocument/2006/relationships/image" Target="/ppt/media/image4.png" Id="Rfec05ae7b2b849cf" /><Relationship Type="http://schemas.openxmlformats.org/officeDocument/2006/relationships/notesSlide" Target="/ppt/notesSlides/notesSlide5.xml" Id="R7210f36e72194e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a8e8ac19932a470a" /><Relationship Type="http://schemas.openxmlformats.org/officeDocument/2006/relationships/chart" Target="/ppt/slides/charts/chart1.xml" Id="R823d07ad09044e1e" /><Relationship Type="http://schemas.openxmlformats.org/officeDocument/2006/relationships/notesSlide" Target="/ppt/notesSlides/notesSlide6.xml" Id="Rcb0c05e7970249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0f75c190c2da43f4" /><Relationship Type="http://schemas.openxmlformats.org/officeDocument/2006/relationships/notesSlide" Target="/ppt/notesSlides/notesSlide7.xml" Id="Rf8230f982bd54c7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富邦投資組合</c:v>
          </c:tx>
          <c:spPr>
            <a:solidFill xmlns:a="http://schemas.openxmlformats.org/drawingml/2006/main">
              <a:srgbClr val="009DBB"/>
            </a:solidFill>
          </c:spPr>
          <c:dLbls>
            <c:dLbl>
              <c:idx val="0"/>
              <c:tx>
                <c:rich>
                  <a:bodyPr xmlns:a="http://schemas.openxmlformats.org/drawingml/2006/main"/>
                  <a:lstStyle xmlns:a="http://schemas.openxmlformats.org/drawingml/2006/main"/>
                  <a:p xmlns:a="http://schemas.openxmlformats.org/drawingml/2006/main">
                    <a:r>
                      <a:rPr/>
                      <a:t>82%</a:t>
                    </a:r>
                  </a:p>
                </c:rich>
              </c:tx>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8%</a:t>
                    </a:r>
                  </a:p>
                </c:rich>
              </c:tx>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a:t>10%</a:t>
                    </a:r>
                  </a:p>
                </c:rich>
              </c:tx>
              <c:dLblPos val="outEnd"/>
              <c:showLegendKey val="0"/>
              <c:showVal val="0"/>
              <c:showCatName val="0"/>
              <c:showSerName val="0"/>
              <c:showPercent val="0"/>
              <c:showBubbleSize val="0"/>
            </c:dLbl>
          </c:dLbls>
          <c:cat>
            <c:strRef>
              <c:f>'Chart Data'!$A$2:$A$4</c:f>
              <c:strCache>
                <c:ptCount val="3"/>
                <c:pt idx="0">
                  <c:v>科技</c:v>
                </c:pt>
                <c:pt idx="1">
                  <c:v>金融</c:v>
                </c:pt>
                <c:pt idx="2">
                  <c:v>非科技</c:v>
                </c:pt>
              </c:strCache>
            </c:strRef>
          </c:cat>
          <c:val>
            <c:numRef>
              <c:f>'Chart Data'!$B$2:$B$4</c:f>
              <c:numCache>
                <c:formatCode>0%</c:formatCode>
                <c:ptCount val="3"/>
                <c:pt idx="0">
                  <c:v>0.82</c:v>
                </c:pt>
                <c:pt idx="1">
                  <c:v>0.08</c:v>
                </c:pt>
                <c:pt idx="2">
                  <c:v>0.1</c:v>
                </c:pt>
              </c:numCache>
            </c:numRef>
          </c:val>
        </c:ser>
        <c:dLbls>
          <c:txPr>
            <a:bodyPr xmlns:a="http://schemas.openxmlformats.org/drawingml/2006/main" anchorCtr="1"/>
            <a:lstStyle xmlns:a="http://schemas.openxmlformats.org/drawingml/2006/main"/>
            <a:p xmlns:a="http://schemas.openxmlformats.org/drawingml/2006/main">
              <a:pPr>
                <a:defRPr>
                  <a:latin typeface="微軟正黑體"/>
                  <a:ea typeface="微軟正黑體"/>
                  <a:cs typeface="微軟正黑體"/>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微軟正黑體"/>
                <a:ea typeface="微軟正黑體"/>
                <a:cs typeface="微軟正黑體"/>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微軟正黑體"/>
                <a:ea typeface="微軟正黑體"/>
                <a:cs typeface="微軟正黑體"/>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文字版面配置區 7">
            <a:extLst xmlns:a="http://schemas.openxmlformats.org/drawingml/2006/main">
              <a:ext uri="{FF2B5EF4-FFF2-40B4-BE49-F238E27FC236}">
                <a16:creationId xmlns:a16="http://schemas.microsoft.com/office/drawing/2014/main" id="{F9F467B6-2FDC-0D5F-9344-767407FE0E46}"/>
              </a:ext>
            </a:extLst>
          </p:cNvPr>
          <p:cNvSpPr>
            <a:spLocks xmlns:a="http://schemas.openxmlformats.org/drawingml/2006/main" noGrp="1"/>
          </p:cNvSpPr>
          <p:nvPr>
            <p:ph type="body" idx="28"/>
          </p:nvPr>
        </p:nvSpPr>
        <p:spPr>
          <a:xfrm xmlns:a="http://schemas.openxmlformats.org/drawingml/2006/main">
            <a:off x="9077325" y="3371850"/>
            <a:ext cx="1714500" cy="381000"/>
          </a:xfrm>
        </p:spPr>
        <p:txBody>
          <a:bodyPr xmlns:a="http://schemas.openxmlformats.org/drawingml/2006/main"/>
          <a:lstStyle xmlns:a="http://schemas.openxmlformats.org/drawingml/2006/main"/>
          <a:p xmlns:a="http://schemas.openxmlformats.org/drawingml/2006/main">
            <a:pPr algn="r">
              <a:buNone/>
            </a:pPr>
            <a:r>
              <a:rPr sz="1500"/>
              <a:t>2026.09.30</a:t>
            </a:r>
            <a:endParaRPr sz="1500"/>
          </a:p>
        </p:txBody>
      </p:sp>
      <p:sp>
        <p:nvSpPr>
          <p:cNvPr id="4" name="圖片版面配置區 3">
            <a:extLst xmlns:a="http://schemas.openxmlformats.org/drawingml/2006/main">
              <a:ext uri="{FF2B5EF4-FFF2-40B4-BE49-F238E27FC236}">
                <a16:creationId xmlns:a16="http://schemas.microsoft.com/office/drawing/2014/main" id="{C54C4412-1D3B-6EB2-91CB-E16B5E6E6898}"/>
              </a:ext>
            </a:extLst>
          </p:cNvPr>
          <p:cNvSpPr>
            <a:spLocks xmlns:a="http://schemas.openxmlformats.org/drawingml/2006/main" noGrp="1"/>
          </p:cNvSpPr>
          <p:nvPr>
            <p:ph type="pic" idx="29"/>
          </p:nvPr>
        </p:nvSpPr>
        <p:spPr/>
        <p:txBody>
          <a:bodyPr xmlns:a="http://schemas.openxmlformats.org/drawingml/2006/main"/>
          <a:lstStyle xmlns:a="http://schemas.openxmlformats.org/drawingml/2006/main"/>
          <a:p xmlns:a="http://schemas.openxmlformats.org/drawingml/2006/main">
            <a:endParaRPr/>
          </a:p>
        </p:txBody>
      </p:sp>
      <p:sp>
        <p:nvSpPr>
          <p:cNvPr id="9" name="文字版面配置區 8">
            <a:extLst xmlns:a="http://schemas.openxmlformats.org/drawingml/2006/main">
              <a:ext uri="{FF2B5EF4-FFF2-40B4-BE49-F238E27FC236}">
                <a16:creationId xmlns:a16="http://schemas.microsoft.com/office/drawing/2014/main" id="{F6DB5FD7-24E0-69F1-5553-087A8308110E}"/>
              </a:ext>
            </a:extLst>
          </p:cNvPr>
          <p:cNvSpPr>
            <a:spLocks xmlns:a="http://schemas.openxmlformats.org/drawingml/2006/main" noGrp="1"/>
          </p:cNvSpPr>
          <p:nvPr>
            <p:ph type="body" idx="30"/>
          </p:nvPr>
        </p:nvSpPr>
        <p:spPr>
          <a:xfrm xmlns:a="http://schemas.openxmlformats.org/drawingml/2006/main">
            <a:off x="1883246" y="2316197"/>
            <a:ext cx="8409509" cy="432897"/>
          </a:xfrm>
        </p:spPr>
        <p:txBody>
          <a:bodyPr xmlns:a="http://schemas.openxmlformats.org/drawingml/2006/main">
            <a:noAutofit/>
          </a:bodyPr>
          <a:lstStyle xmlns:a="http://schemas.openxmlformats.org/drawingml/2006/main"/>
          <a:p xmlns:a="http://schemas.openxmlformats.org/drawingml/2006/main">
            <a:pPr algn="ctr" defTabSz="914400">
              <a:lnSpc>
                <a:spcPct val="120000"/>
              </a:lnSpc>
              <a:spcBef>
                <a:spcPct val="0"/>
              </a:spcBef>
              <a:spcAft>
                <a:spcPct val="0"/>
              </a:spcAft>
              <a:buNone/>
            </a:pPr>
            <a:r>
              <a:rPr sz="3600" b="1">
                <a:solidFill>
                  <a:srgbClr val="0093C1"/>
                </a:solidFill>
                <a:latin typeface="微軟正黑體"/>
                <a:ea typeface="微軟正黑體"/>
                <a:cs typeface="微軟正黑體"/>
              </a:rPr>
              <a:t>2026年10月產業投資策略</a:t>
            </a:r>
            <a:endParaRPr sz="3600" b="1">
              <a:latin typeface="微軟正黑體"/>
              <a:ea typeface="微軟正黑體"/>
              <a:cs typeface="微軟正黑體"/>
            </a:endParaRPr>
          </a:p>
        </p:txBody>
      </p:sp>
      <p:sp>
        <p:nvSpPr>
          <p:cNvPr id="7" name="副標題 6">
            <a:extLst xmlns:a="http://schemas.openxmlformats.org/drawingml/2006/main">
              <a:ext uri="{FF2B5EF4-FFF2-40B4-BE49-F238E27FC236}">
                <a16:creationId xmlns:a16="http://schemas.microsoft.com/office/drawing/2014/main" id="{A0BCB0EA-A6C4-B323-C12E-9E1ABB07A4F7}"/>
              </a:ext>
            </a:extLst>
          </p:cNvPr>
          <p:cNvSpPr>
            <a:spLocks xmlns:a="http://schemas.openxmlformats.org/drawingml/2006/main" noGrp="1"/>
          </p:cNvSpPr>
          <p:nvPr>
            <p:ph type="subTitle" idx="4294967295"/>
          </p:nvPr>
        </p:nvSpPr>
        <p:spPr>
          <a:xfrm xmlns:a="http://schemas.openxmlformats.org/drawingml/2006/main">
            <a:off x="3619500" y="3190875"/>
            <a:ext cx="5429250" cy="8572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marL="0" indent="0" algn="ctr">
              <a:buNone/>
            </a:pPr>
            <a:r>
              <a:rPr sz="2400" b="1">
                <a:latin typeface="微軟正黑體"/>
                <a:ea typeface="微軟正黑體"/>
                <a:cs typeface="微軟正黑體"/>
              </a:rPr>
              <a:t>AI主軸延續｜聚焦外溢與升規</a:t>
            </a:r>
          </a:p>
        </p:txBody>
      </p:sp>
    </p:spTree>
    <p:extLst>
      <p:ext uri="{BB962C8B-B14F-4D97-AF65-F5344CB8AC3E}">
        <p14:creationId xmlns:p14="http://schemas.microsoft.com/office/powerpoint/2010/main" val="26870725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十月策略：AI主軸延續，選股轉向升規</a:t>
            </a:r>
          </a:p>
        </p:txBody>
      </p:sp>
      <p:sp>
        <p:nvSpPr>
          <p:cNvPr id="15363" name="">
            <a:extLst xmlns:a="http://schemas.openxmlformats.org/drawingml/2006/main">
              <a:ext uri="{FF2B5EF4-FFF2-40B4-BE49-F238E27FC236}">
                <a16:creationId xmlns:a16="http://schemas.microsoft.com/office/drawing/2014/main" id="{D377AE87-AAA8-46C8-807B-150B1C576506}"/>
              </a:ext>
            </a:extLst>
          </p:cNvPr>
          <p:cNvSpPr>
            <a:spLocks xmlns:a="http://schemas.openxmlformats.org/drawingml/2006/main" noGrp="1"/>
          </p:cNvSpPr>
          <p:nvPr/>
        </p:nvSpPr>
        <p:spPr>
          <a:xfrm xmlns:a="http://schemas.openxmlformats.org/drawingml/2006/main">
            <a:off x="619125" y="61912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06B72"/>
                </a:solidFill>
                <a:latin typeface="微軟正黑體"/>
                <a:ea typeface="微軟正黑體"/>
                <a:cs typeface="微軟正黑體"/>
              </a:defRPr>
            </a:pPr>
            <a:r>
              <a:rPr sz="1125" b="0">
                <a:solidFill>
                  <a:srgbClr val="606B72"/>
                </a:solidFill>
                <a:latin typeface="微軟正黑體"/>
                <a:ea typeface="微軟正黑體"/>
                <a:cs typeface="微軟正黑體"/>
              </a:rPr>
              <a:t>資料來源：富邦投顧，2026/9/30，原報告第1、2、3頁</a:t>
            </a:r>
          </a:p>
        </p:txBody>
      </p:sp>
      <p:sp>
        <p:nvSpPr>
          <p:cNvPr id="15364" name="">
            <a:extLst xmlns:a="http://schemas.openxmlformats.org/drawingml/2006/main">
              <a:ext uri="{FF2B5EF4-FFF2-40B4-BE49-F238E27FC236}">
                <a16:creationId xmlns:a16="http://schemas.microsoft.com/office/drawing/2014/main" id="{C3E0F84E-8B7A-4FA3-8E02-C3FAA8FC21E6}"/>
              </a:ext>
            </a:extLst>
          </p:cNvPr>
          <p:cNvSpPr>
            <a:spLocks xmlns:a="http://schemas.openxmlformats.org/drawingml/2006/main" noGrp="1"/>
          </p:cNvSpPr>
          <p:nvPr/>
        </p:nvSpPr>
        <p:spPr>
          <a:xfrm xmlns:a="http://schemas.openxmlformats.org/drawingml/2006/main">
            <a:off x="790575" y="11430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0094BD"/>
                </a:solidFill>
                <a:latin typeface="微軟正黑體"/>
                <a:ea typeface="微軟正黑體"/>
                <a:cs typeface="微軟正黑體"/>
              </a:defRPr>
            </a:pPr>
            <a:r>
              <a:rPr sz="2250" b="1">
                <a:solidFill>
                  <a:srgbClr val="0094BD"/>
                </a:solidFill>
                <a:latin typeface="微軟正黑體"/>
                <a:ea typeface="微軟正黑體"/>
                <a:cs typeface="微軟正黑體"/>
              </a:rPr>
              <a:t>核心判斷</a:t>
            </a:r>
          </a:p>
        </p:txBody>
      </p:sp>
      <p:sp>
        <p:nvSpPr>
          <p:cNvPr id="15365" name="">
            <a:extLst xmlns:a="http://schemas.openxmlformats.org/drawingml/2006/main">
              <a:ext uri="{FF2B5EF4-FFF2-40B4-BE49-F238E27FC236}">
                <a16:creationId xmlns:a16="http://schemas.microsoft.com/office/drawing/2014/main" id="{E097682F-8F10-459E-BE4F-08177E9DA5E3}"/>
              </a:ext>
            </a:extLst>
          </p:cNvPr>
          <p:cNvSpPr>
            <a:spLocks xmlns:a="http://schemas.openxmlformats.org/drawingml/2006/main" noGrp="1"/>
          </p:cNvSpPr>
          <p:nvPr/>
        </p:nvSpPr>
        <p:spPr>
          <a:xfrm xmlns:a="http://schemas.openxmlformats.org/drawingml/2006/main">
            <a:off x="790575" y="16287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7242A"/>
                </a:solidFill>
                <a:latin typeface="微軟正黑體"/>
                <a:ea typeface="微軟正黑體"/>
                <a:cs typeface="微軟正黑體"/>
              </a:defRPr>
            </a:pPr>
            <a:r>
              <a:rPr sz="2250" b="0">
                <a:solidFill>
                  <a:srgbClr val="17242A"/>
                </a:solidFill>
                <a:latin typeface="微軟正黑體"/>
                <a:ea typeface="微軟正黑體"/>
                <a:cs typeface="微軟正黑體"/>
              </a:rPr>
              <a:t>財報與產業需求提供支撐，仍需留意高利率帶來的估值壓力。</a:t>
            </a:r>
          </a:p>
        </p:txBody>
      </p:sp>
      <p:sp>
        <p:nvSpPr>
          <p:cNvPr id="15366" name="">
            <a:extLst xmlns:a="http://schemas.openxmlformats.org/drawingml/2006/main">
              <a:ext uri="{FF2B5EF4-FFF2-40B4-BE49-F238E27FC236}">
                <a16:creationId xmlns:a16="http://schemas.microsoft.com/office/drawing/2014/main" id="{6587A80B-3E22-4CD2-A4D3-249409BE7EA7}"/>
              </a:ext>
            </a:extLst>
          </p:cNvPr>
          <p:cNvSpPr>
            <a:spLocks xmlns:a="http://schemas.openxmlformats.org/drawingml/2006/main" noGrp="1"/>
          </p:cNvSpPr>
          <p:nvPr/>
        </p:nvSpPr>
        <p:spPr>
          <a:xfrm xmlns:a="http://schemas.openxmlformats.org/drawingml/2006/main">
            <a:off x="790575" y="2571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科技：聚焦能轉化為獲利的升級需求</a:t>
            </a:r>
          </a:p>
        </p:txBody>
      </p:sp>
      <p:sp>
        <p:nvSpPr>
          <p:cNvPr id="15367" name="">
            <a:extLst xmlns:a="http://schemas.openxmlformats.org/drawingml/2006/main">
              <a:ext uri="{FF2B5EF4-FFF2-40B4-BE49-F238E27FC236}">
                <a16:creationId xmlns:a16="http://schemas.microsoft.com/office/drawing/2014/main" id="{F9B08BF7-202B-4C45-A83E-6F62A51E39F1}"/>
              </a:ext>
            </a:extLst>
          </p:cNvPr>
          <p:cNvSpPr>
            <a:spLocks xmlns:a="http://schemas.openxmlformats.org/drawingml/2006/main" noGrp="1"/>
          </p:cNvSpPr>
          <p:nvPr/>
        </p:nvSpPr>
        <p:spPr>
          <a:xfrm xmlns:a="http://schemas.openxmlformats.org/drawingml/2006/main">
            <a:off x="790575" y="30099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42A"/>
                </a:solidFill>
                <a:latin typeface="微軟正黑體"/>
                <a:ea typeface="微軟正黑體"/>
                <a:cs typeface="微軟正黑體"/>
              </a:defRPr>
            </a:pPr>
            <a:r>
              <a:rPr sz="1950" b="0">
                <a:solidFill>
                  <a:srgbClr val="17242A"/>
                </a:solidFill>
                <a:latin typeface="微軟正黑體"/>
                <a:ea typeface="微軟正黑體"/>
                <a:cs typeface="微軟正黑體"/>
              </a:rPr>
              <a:t>台積電訂單外溢與AI基建延續；零組件選股由漲價轉向技術門檻、量產能力及產品組合。</a:t>
            </a:r>
          </a:p>
        </p:txBody>
      </p:sp>
      <p:sp>
        <p:nvSpPr>
          <p:cNvPr id="15368" name="">
            <a:extLst xmlns:a="http://schemas.openxmlformats.org/drawingml/2006/main">
              <a:ext uri="{FF2B5EF4-FFF2-40B4-BE49-F238E27FC236}">
                <a16:creationId xmlns:a16="http://schemas.microsoft.com/office/drawing/2014/main" id="{D16DA881-ED08-4443-A82C-3D305261CDA1}"/>
              </a:ext>
            </a:extLst>
          </p:cNvPr>
          <p:cNvSpPr>
            <a:spLocks xmlns:a="http://schemas.openxmlformats.org/drawingml/2006/main" noGrp="1"/>
          </p:cNvSpPr>
          <p:nvPr/>
        </p:nvSpPr>
        <p:spPr>
          <a:xfrm xmlns:a="http://schemas.openxmlformats.org/drawingml/2006/main">
            <a:off x="790575" y="4000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配置：成長主軸搭配能源與股息</a:t>
            </a:r>
          </a:p>
        </p:txBody>
      </p:sp>
      <p:sp>
        <p:nvSpPr>
          <p:cNvPr id="15369" name="">
            <a:extLst xmlns:a="http://schemas.openxmlformats.org/drawingml/2006/main">
              <a:ext uri="{FF2B5EF4-FFF2-40B4-BE49-F238E27FC236}">
                <a16:creationId xmlns:a16="http://schemas.microsoft.com/office/drawing/2014/main" id="{451668D2-CEB2-4E07-AAA0-29958FB318BC}"/>
              </a:ext>
            </a:extLst>
          </p:cNvPr>
          <p:cNvSpPr>
            <a:spLocks xmlns:a="http://schemas.openxmlformats.org/drawingml/2006/main" noGrp="1"/>
          </p:cNvSpPr>
          <p:nvPr/>
        </p:nvSpPr>
        <p:spPr>
          <a:xfrm xmlns:a="http://schemas.openxmlformats.org/drawingml/2006/main">
            <a:off x="790575" y="44386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7242A"/>
                </a:solidFill>
                <a:latin typeface="微軟正黑體"/>
                <a:ea typeface="微軟正黑體"/>
                <a:cs typeface="微軟正黑體"/>
              </a:defRPr>
            </a:pPr>
            <a:r>
              <a:rPr sz="1950" b="0">
                <a:solidFill>
                  <a:srgbClr val="17242A"/>
                </a:solidFill>
                <a:latin typeface="微軟正黑體"/>
                <a:ea typeface="微軟正黑體"/>
                <a:cs typeface="微軟正黑體"/>
              </a:rPr>
              <a:t>重電與特化掌握擴廠商機，傳產留意旺季與轉型，金融關注中期配息能力。</a:t>
            </a:r>
          </a:p>
        </p:txBody>
      </p:sp>
      <p:sp>
        <p:nvSpPr>
          <p:cNvPr id="15370" name="">
            <a:extLst xmlns:a="http://schemas.openxmlformats.org/drawingml/2006/main">
              <a:ext uri="{FF2B5EF4-FFF2-40B4-BE49-F238E27FC236}">
                <a16:creationId xmlns:a16="http://schemas.microsoft.com/office/drawing/2014/main" id="{5A7D8D7D-E026-4E71-9879-A416799127A2}"/>
              </a:ext>
            </a:extLst>
          </p:cNvPr>
          <p:cNvSpPr>
            <a:spLocks xmlns:a="http://schemas.openxmlformats.org/drawingml/2006/main" noGrp="1"/>
          </p:cNvSpPr>
          <p:nvPr/>
        </p:nvSpPr>
        <p:spPr>
          <a:xfrm xmlns:a="http://schemas.openxmlformats.org/drawingml/2006/main">
            <a:off x="790575" y="5476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36875"/>
                </a:solidFill>
                <a:latin typeface="微軟正黑體"/>
                <a:ea typeface="微軟正黑體"/>
                <a:cs typeface="微軟正黑體"/>
              </a:defRPr>
            </a:pPr>
            <a:r>
              <a:rPr sz="1875" b="0">
                <a:solidFill>
                  <a:srgbClr val="536875"/>
                </a:solidFill>
                <a:latin typeface="微軟正黑體"/>
                <a:ea typeface="微軟正黑體"/>
                <a:cs typeface="微軟正黑體"/>
              </a:rPr>
              <a:t>追蹤：財報展望、資本支出、訂單轉換與量產時程</a:t>
            </a:r>
          </a:p>
        </p:txBody>
      </p:sp>
    </p:spTree>
    <p:extLst>
      <p:ext uri="{BB962C8B-B14F-4D97-AF65-F5344CB8AC3E}">
        <p14:creationId xmlns:p14="http://schemas.microsoft.com/office/powerpoint/2010/main" val="251261530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台積電訂單外溢，擴散至封測與設備</a:t>
            </a:r>
          </a:p>
        </p:txBody>
      </p:sp>
      <p:sp>
        <p:nvSpPr>
          <p:cNvPr id="15363" name="">
            <a:extLst xmlns:a="http://schemas.openxmlformats.org/drawingml/2006/main">
              <a:ext uri="{FF2B5EF4-FFF2-40B4-BE49-F238E27FC236}">
                <a16:creationId xmlns:a16="http://schemas.microsoft.com/office/drawing/2014/main" id="{62B0C55B-E799-4A2D-BEBB-04520F646A97}"/>
              </a:ext>
            </a:extLst>
          </p:cNvPr>
          <p:cNvSpPr>
            <a:spLocks xmlns:a="http://schemas.openxmlformats.org/drawingml/2006/main" noGrp="1"/>
          </p:cNvSpPr>
          <p:nvPr/>
        </p:nvSpPr>
        <p:spPr>
          <a:xfrm xmlns:a="http://schemas.openxmlformats.org/drawingml/2006/main">
            <a:off x="619125" y="61912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06B72"/>
                </a:solidFill>
                <a:latin typeface="微軟正黑體"/>
                <a:ea typeface="微軟正黑體"/>
                <a:cs typeface="微軟正黑體"/>
              </a:defRPr>
            </a:pPr>
            <a:r>
              <a:rPr sz="1125" b="0">
                <a:solidFill>
                  <a:srgbClr val="606B72"/>
                </a:solidFill>
                <a:latin typeface="微軟正黑體"/>
                <a:ea typeface="微軟正黑體"/>
                <a:cs typeface="微軟正黑體"/>
              </a:rPr>
              <a:t>資料來源：富邦投顧，2026/9/30，原報告第1、3、5頁</a:t>
            </a:r>
          </a:p>
        </p:txBody>
      </p:sp>
      <p:pic>
        <p:nvPicPr>
          <p:cNvPr id="15375" name=""/>
          <p:cNvPicPr>
            <a:picLocks xmlns:a="http://schemas.openxmlformats.org/drawingml/2006/main" noChangeAspect="1"/>
          </p:cNvPicPr>
          <p:nvPr/>
        </p:nvPicPr>
        <p:blipFill>
          <a:blip xmlns:r="http://schemas.openxmlformats.org/officeDocument/2006/relationships" xmlns:a="http://schemas.openxmlformats.org/drawingml/2006/main" r:embed="R003f4e9af76e46cd"/>
          <a:stretch xmlns:a="http://schemas.openxmlformats.org/drawingml/2006/main"/>
        </p:blipFill>
        <p:spPr>
          <a:xfrm xmlns:a="http://schemas.openxmlformats.org/drawingml/2006/main">
            <a:off x="627063" y="1390650"/>
            <a:ext cx="5080000" cy="3810000"/>
          </a:xfrm>
          <a:prstGeom xmlns:a="http://schemas.openxmlformats.org/drawingml/2006/main" prst="rect">
            <a:avLst/>
          </a:prstGeom>
        </p:spPr>
      </p:pic>
      <p:sp>
        <p:nvSpPr>
          <p:cNvPr id="15365" name="">
            <a:extLst xmlns:a="http://schemas.openxmlformats.org/drawingml/2006/main">
              <a:ext uri="{FF2B5EF4-FFF2-40B4-BE49-F238E27FC236}">
                <a16:creationId xmlns:a16="http://schemas.microsoft.com/office/drawing/2014/main" id="{959C7303-3D29-4167-B586-BB1B97AD4EF0}"/>
              </a:ext>
            </a:extLst>
          </p:cNvPr>
          <p:cNvSpPr>
            <a:spLocks xmlns:a="http://schemas.openxmlformats.org/drawingml/2006/main" noGrp="1"/>
          </p:cNvSpPr>
          <p:nvPr/>
        </p:nvSpPr>
        <p:spPr>
          <a:xfrm xmlns:a="http://schemas.openxmlformats.org/drawingml/2006/main">
            <a:off x="876300" y="5295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8EB2"/>
                </a:solidFill>
                <a:latin typeface="微軟正黑體"/>
                <a:ea typeface="微軟正黑體"/>
                <a:cs typeface="微軟正黑體"/>
              </a:defRPr>
            </a:pPr>
            <a:r>
              <a:rPr sz="1875" b="1">
                <a:solidFill>
                  <a:srgbClr val="008EB2"/>
                </a:solidFill>
                <a:latin typeface="微軟正黑體"/>
                <a:ea typeface="微軟正黑體"/>
                <a:cs typeface="微軟正黑體"/>
              </a:rPr>
              <a:t>先進製程與封裝整合</a:t>
            </a:r>
          </a:p>
        </p:txBody>
      </p:sp>
      <p:sp>
        <p:nvSpPr>
          <p:cNvPr id="15366" name="">
            <a:extLst xmlns:a="http://schemas.openxmlformats.org/drawingml/2006/main">
              <a:ext uri="{FF2B5EF4-FFF2-40B4-BE49-F238E27FC236}">
                <a16:creationId xmlns:a16="http://schemas.microsoft.com/office/drawing/2014/main" id="{3357D5AA-5718-444B-9A31-89F83C9069D6}"/>
              </a:ext>
            </a:extLst>
          </p:cNvPr>
          <p:cNvSpPr>
            <a:spLocks xmlns:a="http://schemas.openxmlformats.org/drawingml/2006/main" noGrp="1"/>
          </p:cNvSpPr>
          <p:nvPr/>
        </p:nvSpPr>
        <p:spPr>
          <a:xfrm xmlns:a="http://schemas.openxmlformats.org/drawingml/2006/main">
            <a:off x="876300" y="57054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78858B"/>
                </a:solidFill>
                <a:latin typeface="微軟正黑體"/>
                <a:ea typeface="微軟正黑體"/>
                <a:cs typeface="微軟正黑體"/>
              </a:defRPr>
            </a:pPr>
            <a:r>
              <a:rPr sz="1200" b="0">
                <a:solidFill>
                  <a:srgbClr val="78858B"/>
                </a:solidFill>
                <a:latin typeface="微軟正黑體"/>
                <a:ea typeface="微軟正黑體"/>
                <a:cs typeface="微軟正黑體"/>
              </a:rPr>
              <a:t>產業示意</a:t>
            </a:r>
          </a:p>
        </p:txBody>
      </p:sp>
      <p:sp>
        <p:nvSpPr>
          <p:cNvPr id="15367" name="">
            <a:extLst xmlns:a="http://schemas.openxmlformats.org/drawingml/2006/main">
              <a:ext uri="{FF2B5EF4-FFF2-40B4-BE49-F238E27FC236}">
                <a16:creationId xmlns:a16="http://schemas.microsoft.com/office/drawing/2014/main" id="{5CAFB6C3-0D22-479C-846E-3D7A2A96BD1F}"/>
              </a:ext>
            </a:extLst>
          </p:cNvPr>
          <p:cNvSpPr>
            <a:spLocks xmlns:a="http://schemas.openxmlformats.org/drawingml/2006/main" noGrp="1"/>
          </p:cNvSpPr>
          <p:nvPr/>
        </p:nvSpPr>
        <p:spPr>
          <a:xfrm xmlns:a="http://schemas.openxmlformats.org/drawingml/2006/main">
            <a:off x="6115050" y="120015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需求延伸</a:t>
            </a:r>
          </a:p>
        </p:txBody>
      </p:sp>
      <p:sp>
        <p:nvSpPr>
          <p:cNvPr id="15368" name="">
            <a:extLst xmlns:a="http://schemas.openxmlformats.org/drawingml/2006/main">
              <a:ext uri="{FF2B5EF4-FFF2-40B4-BE49-F238E27FC236}">
                <a16:creationId xmlns:a16="http://schemas.microsoft.com/office/drawing/2014/main" id="{8DCE7079-6639-4DED-B5CD-87D36D485041}"/>
              </a:ext>
            </a:extLst>
          </p:cNvPr>
          <p:cNvSpPr>
            <a:spLocks xmlns:a="http://schemas.openxmlformats.org/drawingml/2006/main" noGrp="1"/>
          </p:cNvSpPr>
          <p:nvPr/>
        </p:nvSpPr>
        <p:spPr>
          <a:xfrm xmlns:a="http://schemas.openxmlformats.org/drawingml/2006/main">
            <a:off x="6115050" y="162877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GPU、ASIC與HBM需求推升先進封裝，成長動能由單一晶片延伸至製程、封裝與測試。</a:t>
            </a:r>
          </a:p>
        </p:txBody>
      </p:sp>
      <p:sp>
        <p:nvSpPr>
          <p:cNvPr id="15369" name="">
            <a:extLst xmlns:a="http://schemas.openxmlformats.org/drawingml/2006/main">
              <a:ext uri="{FF2B5EF4-FFF2-40B4-BE49-F238E27FC236}">
                <a16:creationId xmlns:a16="http://schemas.microsoft.com/office/drawing/2014/main" id="{CD0D6F6F-2270-44B1-AC35-6010BA7EF90F}"/>
              </a:ext>
            </a:extLst>
          </p:cNvPr>
          <p:cNvSpPr>
            <a:spLocks xmlns:a="http://schemas.openxmlformats.org/drawingml/2006/main" noGrp="1"/>
          </p:cNvSpPr>
          <p:nvPr/>
        </p:nvSpPr>
        <p:spPr>
          <a:xfrm xmlns:a="http://schemas.openxmlformats.org/drawingml/2006/main">
            <a:off x="6115050" y="27527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外溢機會</a:t>
            </a:r>
          </a:p>
        </p:txBody>
      </p:sp>
      <p:sp>
        <p:nvSpPr>
          <p:cNvPr id="15370" name="">
            <a:extLst xmlns:a="http://schemas.openxmlformats.org/drawingml/2006/main">
              <a:ext uri="{FF2B5EF4-FFF2-40B4-BE49-F238E27FC236}">
                <a16:creationId xmlns:a16="http://schemas.microsoft.com/office/drawing/2014/main" id="{AC9CB0D8-44D9-49C1-B261-2D26A4ACC98D}"/>
              </a:ext>
            </a:extLst>
          </p:cNvPr>
          <p:cNvSpPr>
            <a:spLocks xmlns:a="http://schemas.openxmlformats.org/drawingml/2006/main" noGrp="1"/>
          </p:cNvSpPr>
          <p:nvPr/>
        </p:nvSpPr>
        <p:spPr>
          <a:xfrm xmlns:a="http://schemas.openxmlformats.org/drawingml/2006/main">
            <a:off x="6115050" y="3181350"/>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原報告認為台積電產能仍偏緊，自研晶片方案可能尋求其他供應鏈支援，帶動設備與材料需求。</a:t>
            </a:r>
          </a:p>
        </p:txBody>
      </p:sp>
      <p:sp>
        <p:nvSpPr>
          <p:cNvPr id="15371" name="">
            <a:extLst xmlns:a="http://schemas.openxmlformats.org/drawingml/2006/main">
              <a:ext uri="{FF2B5EF4-FFF2-40B4-BE49-F238E27FC236}">
                <a16:creationId xmlns:a16="http://schemas.microsoft.com/office/drawing/2014/main" id="{24D5F9D8-9B2C-4534-B416-CE92203F9412}"/>
              </a:ext>
            </a:extLst>
          </p:cNvPr>
          <p:cNvSpPr>
            <a:spLocks xmlns:a="http://schemas.openxmlformats.org/drawingml/2006/main" noGrp="1"/>
          </p:cNvSpPr>
          <p:nvPr/>
        </p:nvSpPr>
        <p:spPr>
          <a:xfrm xmlns:a="http://schemas.openxmlformats.org/drawingml/2006/main">
            <a:off x="6115050" y="430530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觀察重點</a:t>
            </a:r>
          </a:p>
        </p:txBody>
      </p:sp>
      <p:sp>
        <p:nvSpPr>
          <p:cNvPr id="15372" name="">
            <a:extLst xmlns:a="http://schemas.openxmlformats.org/drawingml/2006/main">
              <a:ext uri="{FF2B5EF4-FFF2-40B4-BE49-F238E27FC236}">
                <a16:creationId xmlns:a16="http://schemas.microsoft.com/office/drawing/2014/main" id="{1FDFB74C-3258-4A1B-ABBB-1E86B4A0365E}"/>
              </a:ext>
            </a:extLst>
          </p:cNvPr>
          <p:cNvSpPr>
            <a:spLocks xmlns:a="http://schemas.openxmlformats.org/drawingml/2006/main" noGrp="1"/>
          </p:cNvSpPr>
          <p:nvPr/>
        </p:nvSpPr>
        <p:spPr>
          <a:xfrm xmlns:a="http://schemas.openxmlformats.org/drawingml/2006/main">
            <a:off x="6115050" y="473392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留意獨立封測廠、上游製程設備，以及具垂直整合與策略聯盟優勢的供應商。</a:t>
            </a:r>
          </a:p>
        </p:txBody>
      </p:sp>
    </p:spTree>
    <p:extLst>
      <p:ext uri="{BB962C8B-B14F-4D97-AF65-F5344CB8AC3E}">
        <p14:creationId xmlns:p14="http://schemas.microsoft.com/office/powerpoint/2010/main" val="251261530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AI基建升級，零組件迎來規格商機</a:t>
            </a:r>
          </a:p>
        </p:txBody>
      </p:sp>
      <p:sp>
        <p:nvSpPr>
          <p:cNvPr id="15363" name="">
            <a:extLst xmlns:a="http://schemas.openxmlformats.org/drawingml/2006/main">
              <a:ext uri="{FF2B5EF4-FFF2-40B4-BE49-F238E27FC236}">
                <a16:creationId xmlns:a16="http://schemas.microsoft.com/office/drawing/2014/main" id="{497C4C37-9960-4F9E-9A2B-FC3B49F7D829}"/>
              </a:ext>
            </a:extLst>
          </p:cNvPr>
          <p:cNvSpPr>
            <a:spLocks xmlns:a="http://schemas.openxmlformats.org/drawingml/2006/main" noGrp="1"/>
          </p:cNvSpPr>
          <p:nvPr/>
        </p:nvSpPr>
        <p:spPr>
          <a:xfrm xmlns:a="http://schemas.openxmlformats.org/drawingml/2006/main">
            <a:off x="619125" y="61912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06B72"/>
                </a:solidFill>
                <a:latin typeface="微軟正黑體"/>
                <a:ea typeface="微軟正黑體"/>
                <a:cs typeface="微軟正黑體"/>
              </a:defRPr>
            </a:pPr>
            <a:r>
              <a:rPr sz="1125" b="0">
                <a:solidFill>
                  <a:srgbClr val="606B72"/>
                </a:solidFill>
                <a:latin typeface="微軟正黑體"/>
                <a:ea typeface="微軟正黑體"/>
                <a:cs typeface="微軟正黑體"/>
              </a:rPr>
              <a:t>資料來源：富邦投顧，2026/9/30，原報告第1、3、5、6頁</a:t>
            </a:r>
          </a:p>
        </p:txBody>
      </p:sp>
      <p:pic>
        <p:nvPicPr>
          <p:cNvPr id="15375" name=""/>
          <p:cNvPicPr>
            <a:picLocks xmlns:a="http://schemas.openxmlformats.org/drawingml/2006/main" noChangeAspect="1"/>
          </p:cNvPicPr>
          <p:nvPr/>
        </p:nvPicPr>
        <p:blipFill>
          <a:blip xmlns:r="http://schemas.openxmlformats.org/officeDocument/2006/relationships" xmlns:a="http://schemas.openxmlformats.org/drawingml/2006/main" r:embed="Rd9bf17ebd2654264"/>
          <a:stretch xmlns:a="http://schemas.openxmlformats.org/drawingml/2006/main"/>
        </p:blipFill>
        <p:spPr>
          <a:xfrm xmlns:a="http://schemas.openxmlformats.org/drawingml/2006/main">
            <a:off x="627063" y="1390650"/>
            <a:ext cx="5080000" cy="3810000"/>
          </a:xfrm>
          <a:prstGeom xmlns:a="http://schemas.openxmlformats.org/drawingml/2006/main" prst="rect">
            <a:avLst/>
          </a:prstGeom>
        </p:spPr>
      </p:pic>
      <p:sp>
        <p:nvSpPr>
          <p:cNvPr id="15365" name="">
            <a:extLst xmlns:a="http://schemas.openxmlformats.org/drawingml/2006/main">
              <a:ext uri="{FF2B5EF4-FFF2-40B4-BE49-F238E27FC236}">
                <a16:creationId xmlns:a16="http://schemas.microsoft.com/office/drawing/2014/main" id="{ED54DCEF-9108-47F7-83A1-EA1AEA5EA009}"/>
              </a:ext>
            </a:extLst>
          </p:cNvPr>
          <p:cNvSpPr>
            <a:spLocks xmlns:a="http://schemas.openxmlformats.org/drawingml/2006/main" noGrp="1"/>
          </p:cNvSpPr>
          <p:nvPr/>
        </p:nvSpPr>
        <p:spPr>
          <a:xfrm xmlns:a="http://schemas.openxmlformats.org/drawingml/2006/main">
            <a:off x="876300" y="5295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8EB2"/>
                </a:solidFill>
                <a:latin typeface="微軟正黑體"/>
                <a:ea typeface="微軟正黑體"/>
                <a:cs typeface="微軟正黑體"/>
              </a:defRPr>
            </a:pPr>
            <a:r>
              <a:rPr sz="1875" b="1">
                <a:solidFill>
                  <a:srgbClr val="008EB2"/>
                </a:solidFill>
                <a:latin typeface="微軟正黑體"/>
                <a:ea typeface="微軟正黑體"/>
                <a:cs typeface="微軟正黑體"/>
              </a:rPr>
              <a:t>高速傳輸、散熱與供電升規</a:t>
            </a:r>
          </a:p>
        </p:txBody>
      </p:sp>
      <p:sp>
        <p:nvSpPr>
          <p:cNvPr id="15366" name="">
            <a:extLst xmlns:a="http://schemas.openxmlformats.org/drawingml/2006/main">
              <a:ext uri="{FF2B5EF4-FFF2-40B4-BE49-F238E27FC236}">
                <a16:creationId xmlns:a16="http://schemas.microsoft.com/office/drawing/2014/main" id="{8ED21C52-806B-4395-98F5-914FFA21FE41}"/>
              </a:ext>
            </a:extLst>
          </p:cNvPr>
          <p:cNvSpPr>
            <a:spLocks xmlns:a="http://schemas.openxmlformats.org/drawingml/2006/main" noGrp="1"/>
          </p:cNvSpPr>
          <p:nvPr/>
        </p:nvSpPr>
        <p:spPr>
          <a:xfrm xmlns:a="http://schemas.openxmlformats.org/drawingml/2006/main">
            <a:off x="876300" y="57054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78858B"/>
                </a:solidFill>
                <a:latin typeface="微軟正黑體"/>
                <a:ea typeface="微軟正黑體"/>
                <a:cs typeface="微軟正黑體"/>
              </a:defRPr>
            </a:pPr>
            <a:r>
              <a:rPr sz="1200" b="0">
                <a:solidFill>
                  <a:srgbClr val="78858B"/>
                </a:solidFill>
                <a:latin typeface="微軟正黑體"/>
                <a:ea typeface="微軟正黑體"/>
                <a:cs typeface="微軟正黑體"/>
              </a:rPr>
              <a:t>產業示意</a:t>
            </a:r>
          </a:p>
        </p:txBody>
      </p:sp>
      <p:sp>
        <p:nvSpPr>
          <p:cNvPr id="15367" name="">
            <a:extLst xmlns:a="http://schemas.openxmlformats.org/drawingml/2006/main">
              <a:ext uri="{FF2B5EF4-FFF2-40B4-BE49-F238E27FC236}">
                <a16:creationId xmlns:a16="http://schemas.microsoft.com/office/drawing/2014/main" id="{55C0AFB8-C12C-41BB-A2F3-B2D14D07E232}"/>
              </a:ext>
            </a:extLst>
          </p:cNvPr>
          <p:cNvSpPr>
            <a:spLocks xmlns:a="http://schemas.openxmlformats.org/drawingml/2006/main" noGrp="1"/>
          </p:cNvSpPr>
          <p:nvPr/>
        </p:nvSpPr>
        <p:spPr>
          <a:xfrm xmlns:a="http://schemas.openxmlformats.org/drawingml/2006/main">
            <a:off x="6115050" y="120015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算力與互連</a:t>
            </a:r>
          </a:p>
        </p:txBody>
      </p:sp>
      <p:sp>
        <p:nvSpPr>
          <p:cNvPr id="15368" name="">
            <a:extLst xmlns:a="http://schemas.openxmlformats.org/drawingml/2006/main">
              <a:ext uri="{FF2B5EF4-FFF2-40B4-BE49-F238E27FC236}">
                <a16:creationId xmlns:a16="http://schemas.microsoft.com/office/drawing/2014/main" id="{BBC43C41-9CCC-4574-B2D6-5E9F58589BB1}"/>
              </a:ext>
            </a:extLst>
          </p:cNvPr>
          <p:cNvSpPr>
            <a:spLocks xmlns:a="http://schemas.openxmlformats.org/drawingml/2006/main" noGrp="1"/>
          </p:cNvSpPr>
          <p:nvPr/>
        </p:nvSpPr>
        <p:spPr>
          <a:xfrm xmlns:a="http://schemas.openxmlformats.org/drawingml/2006/main">
            <a:off x="6115050" y="162877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AI伺服器及大型機櫃帶動高速光通訊，CPO商機涵蓋晶片、封裝、雷射與光學零組件。</a:t>
            </a:r>
          </a:p>
        </p:txBody>
      </p:sp>
      <p:sp>
        <p:nvSpPr>
          <p:cNvPr id="15369" name="">
            <a:extLst xmlns:a="http://schemas.openxmlformats.org/drawingml/2006/main">
              <a:ext uri="{FF2B5EF4-FFF2-40B4-BE49-F238E27FC236}">
                <a16:creationId xmlns:a16="http://schemas.microsoft.com/office/drawing/2014/main" id="{061DFEDE-6ED1-4438-98AE-E3850E1FF769}"/>
              </a:ext>
            </a:extLst>
          </p:cNvPr>
          <p:cNvSpPr>
            <a:spLocks xmlns:a="http://schemas.openxmlformats.org/drawingml/2006/main" noGrp="1"/>
          </p:cNvSpPr>
          <p:nvPr/>
        </p:nvSpPr>
        <p:spPr>
          <a:xfrm xmlns:a="http://schemas.openxmlformats.org/drawingml/2006/main">
            <a:off x="6115050" y="27527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規格升級</a:t>
            </a:r>
          </a:p>
        </p:txBody>
      </p:sp>
      <p:sp>
        <p:nvSpPr>
          <p:cNvPr id="15370" name="">
            <a:extLst xmlns:a="http://schemas.openxmlformats.org/drawingml/2006/main">
              <a:ext uri="{FF2B5EF4-FFF2-40B4-BE49-F238E27FC236}">
                <a16:creationId xmlns:a16="http://schemas.microsoft.com/office/drawing/2014/main" id="{9822F35C-EB43-4150-8713-D831F15EF3F1}"/>
              </a:ext>
            </a:extLst>
          </p:cNvPr>
          <p:cNvSpPr>
            <a:spLocks xmlns:a="http://schemas.openxmlformats.org/drawingml/2006/main" noGrp="1"/>
          </p:cNvSpPr>
          <p:nvPr/>
        </p:nvSpPr>
        <p:spPr>
          <a:xfrm xmlns:a="http://schemas.openxmlformats.org/drawingml/2006/main">
            <a:off x="6115050" y="3181350"/>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選股焦點由單純漲價，轉向CCL M8／M9、高壓電容、連接器線材與散熱升規。</a:t>
            </a:r>
          </a:p>
        </p:txBody>
      </p:sp>
      <p:sp>
        <p:nvSpPr>
          <p:cNvPr id="15371" name="">
            <a:extLst xmlns:a="http://schemas.openxmlformats.org/drawingml/2006/main">
              <a:ext uri="{FF2B5EF4-FFF2-40B4-BE49-F238E27FC236}">
                <a16:creationId xmlns:a16="http://schemas.microsoft.com/office/drawing/2014/main" id="{C1BE787C-26D2-4E14-B0D5-06733A48EC7E}"/>
              </a:ext>
            </a:extLst>
          </p:cNvPr>
          <p:cNvSpPr>
            <a:spLocks xmlns:a="http://schemas.openxmlformats.org/drawingml/2006/main" noGrp="1"/>
          </p:cNvSpPr>
          <p:nvPr/>
        </p:nvSpPr>
        <p:spPr>
          <a:xfrm xmlns:a="http://schemas.openxmlformats.org/drawingml/2006/main">
            <a:off x="6115050" y="430530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供電與量產</a:t>
            </a:r>
          </a:p>
        </p:txBody>
      </p:sp>
      <p:sp>
        <p:nvSpPr>
          <p:cNvPr id="15372" name="">
            <a:extLst xmlns:a="http://schemas.openxmlformats.org/drawingml/2006/main">
              <a:ext uri="{FF2B5EF4-FFF2-40B4-BE49-F238E27FC236}">
                <a16:creationId xmlns:a16="http://schemas.microsoft.com/office/drawing/2014/main" id="{04DBA3F9-2121-490F-B66C-BE17A0602475}"/>
              </a:ext>
            </a:extLst>
          </p:cNvPr>
          <p:cNvSpPr>
            <a:spLocks xmlns:a="http://schemas.openxmlformats.org/drawingml/2006/main" noGrp="1"/>
          </p:cNvSpPr>
          <p:nvPr/>
        </p:nvSpPr>
        <p:spPr>
          <a:xfrm xmlns:a="http://schemas.openxmlformats.org/drawingml/2006/main">
            <a:off x="6115050" y="473392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高功耗機櫃推升高壓直流供電需求；追蹤客戶導入時程、量產良率與高階產品占比。</a:t>
            </a:r>
          </a:p>
        </p:txBody>
      </p:sp>
    </p:spTree>
    <p:extLst>
      <p:ext uri="{BB962C8B-B14F-4D97-AF65-F5344CB8AC3E}">
        <p14:creationId xmlns:p14="http://schemas.microsoft.com/office/powerpoint/2010/main" val="25126153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能源與傳產，兼顧成長與股息防禦</a:t>
            </a:r>
          </a:p>
        </p:txBody>
      </p:sp>
      <p:sp>
        <p:nvSpPr>
          <p:cNvPr id="15363" name="">
            <a:extLst xmlns:a="http://schemas.openxmlformats.org/drawingml/2006/main">
              <a:ext uri="{FF2B5EF4-FFF2-40B4-BE49-F238E27FC236}">
                <a16:creationId xmlns:a16="http://schemas.microsoft.com/office/drawing/2014/main" id="{9424EBE9-0B25-45C5-BE18-EA3334A4D357}"/>
              </a:ext>
            </a:extLst>
          </p:cNvPr>
          <p:cNvSpPr>
            <a:spLocks xmlns:a="http://schemas.openxmlformats.org/drawingml/2006/main" noGrp="1"/>
          </p:cNvSpPr>
          <p:nvPr/>
        </p:nvSpPr>
        <p:spPr>
          <a:xfrm xmlns:a="http://schemas.openxmlformats.org/drawingml/2006/main">
            <a:off x="619125" y="61912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06B72"/>
                </a:solidFill>
                <a:latin typeface="微軟正黑體"/>
                <a:ea typeface="微軟正黑體"/>
                <a:cs typeface="微軟正黑體"/>
              </a:defRPr>
            </a:pPr>
            <a:r>
              <a:rPr sz="1125" b="0">
                <a:solidFill>
                  <a:srgbClr val="606B72"/>
                </a:solidFill>
                <a:latin typeface="微軟正黑體"/>
                <a:ea typeface="微軟正黑體"/>
                <a:cs typeface="微軟正黑體"/>
              </a:rPr>
              <a:t>資料來源：富邦投顧，2026/9/30，原報告第2、3、7、8頁</a:t>
            </a:r>
          </a:p>
        </p:txBody>
      </p:sp>
      <p:pic>
        <p:nvPicPr>
          <p:cNvPr id="15375" name=""/>
          <p:cNvPicPr>
            <a:picLocks xmlns:a="http://schemas.openxmlformats.org/drawingml/2006/main" noChangeAspect="1"/>
          </p:cNvPicPr>
          <p:nvPr/>
        </p:nvPicPr>
        <p:blipFill>
          <a:blip xmlns:r="http://schemas.openxmlformats.org/officeDocument/2006/relationships" xmlns:a="http://schemas.openxmlformats.org/drawingml/2006/main" r:embed="Rfec05ae7b2b849cf"/>
          <a:stretch xmlns:a="http://schemas.openxmlformats.org/drawingml/2006/main"/>
        </p:blipFill>
        <p:spPr>
          <a:xfrm xmlns:a="http://schemas.openxmlformats.org/drawingml/2006/main">
            <a:off x="627063" y="1390650"/>
            <a:ext cx="5080000" cy="3810000"/>
          </a:xfrm>
          <a:prstGeom xmlns:a="http://schemas.openxmlformats.org/drawingml/2006/main" prst="rect">
            <a:avLst/>
          </a:prstGeom>
        </p:spPr>
      </p:pic>
      <p:sp>
        <p:nvSpPr>
          <p:cNvPr id="15365" name="">
            <a:extLst xmlns:a="http://schemas.openxmlformats.org/drawingml/2006/main">
              <a:ext uri="{FF2B5EF4-FFF2-40B4-BE49-F238E27FC236}">
                <a16:creationId xmlns:a16="http://schemas.microsoft.com/office/drawing/2014/main" id="{6F8D9F17-5170-49A5-AD1E-CFEDE604F52D}"/>
              </a:ext>
            </a:extLst>
          </p:cNvPr>
          <p:cNvSpPr>
            <a:spLocks xmlns:a="http://schemas.openxmlformats.org/drawingml/2006/main" noGrp="1"/>
          </p:cNvSpPr>
          <p:nvPr/>
        </p:nvSpPr>
        <p:spPr>
          <a:xfrm xmlns:a="http://schemas.openxmlformats.org/drawingml/2006/main">
            <a:off x="876300" y="5295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8EB2"/>
                </a:solidFill>
                <a:latin typeface="微軟正黑體"/>
                <a:ea typeface="微軟正黑體"/>
                <a:cs typeface="微軟正黑體"/>
              </a:defRPr>
            </a:pPr>
            <a:r>
              <a:rPr sz="1875" b="1">
                <a:solidFill>
                  <a:srgbClr val="008EB2"/>
                </a:solidFill>
                <a:latin typeface="微軟正黑體"/>
                <a:ea typeface="微軟正黑體"/>
                <a:cs typeface="微軟正黑體"/>
              </a:rPr>
              <a:t>電網更新與資料中心用電需求</a:t>
            </a:r>
          </a:p>
        </p:txBody>
      </p:sp>
      <p:sp>
        <p:nvSpPr>
          <p:cNvPr id="15366" name="">
            <a:extLst xmlns:a="http://schemas.openxmlformats.org/drawingml/2006/main">
              <a:ext uri="{FF2B5EF4-FFF2-40B4-BE49-F238E27FC236}">
                <a16:creationId xmlns:a16="http://schemas.microsoft.com/office/drawing/2014/main" id="{6B979EE2-9763-4B80-8140-2A276ADA75CD}"/>
              </a:ext>
            </a:extLst>
          </p:cNvPr>
          <p:cNvSpPr>
            <a:spLocks xmlns:a="http://schemas.openxmlformats.org/drawingml/2006/main" noGrp="1"/>
          </p:cNvSpPr>
          <p:nvPr/>
        </p:nvSpPr>
        <p:spPr>
          <a:xfrm xmlns:a="http://schemas.openxmlformats.org/drawingml/2006/main">
            <a:off x="876300" y="57054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78858B"/>
                </a:solidFill>
                <a:latin typeface="微軟正黑體"/>
                <a:ea typeface="微軟正黑體"/>
                <a:cs typeface="微軟正黑體"/>
              </a:defRPr>
            </a:pPr>
            <a:r>
              <a:rPr sz="1200" b="0">
                <a:solidFill>
                  <a:srgbClr val="78858B"/>
                </a:solidFill>
                <a:latin typeface="微軟正黑體"/>
                <a:ea typeface="微軟正黑體"/>
                <a:cs typeface="微軟正黑體"/>
              </a:rPr>
              <a:t>產業示意</a:t>
            </a:r>
          </a:p>
        </p:txBody>
      </p:sp>
      <p:sp>
        <p:nvSpPr>
          <p:cNvPr id="15367" name="">
            <a:extLst xmlns:a="http://schemas.openxmlformats.org/drawingml/2006/main">
              <a:ext uri="{FF2B5EF4-FFF2-40B4-BE49-F238E27FC236}">
                <a16:creationId xmlns:a16="http://schemas.microsoft.com/office/drawing/2014/main" id="{701A89C8-81EE-4C44-A350-384B6D533699}"/>
              </a:ext>
            </a:extLst>
          </p:cNvPr>
          <p:cNvSpPr>
            <a:spLocks xmlns:a="http://schemas.openxmlformats.org/drawingml/2006/main" noGrp="1"/>
          </p:cNvSpPr>
          <p:nvPr/>
        </p:nvSpPr>
        <p:spPr>
          <a:xfrm xmlns:a="http://schemas.openxmlformats.org/drawingml/2006/main">
            <a:off x="6115050" y="120015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重電與特化</a:t>
            </a:r>
          </a:p>
        </p:txBody>
      </p:sp>
      <p:sp>
        <p:nvSpPr>
          <p:cNvPr id="15368" name="">
            <a:extLst xmlns:a="http://schemas.openxmlformats.org/drawingml/2006/main">
              <a:ext uri="{FF2B5EF4-FFF2-40B4-BE49-F238E27FC236}">
                <a16:creationId xmlns:a16="http://schemas.microsoft.com/office/drawing/2014/main" id="{8EAED425-7E51-47DA-9722-1B81D5BE22D1}"/>
              </a:ext>
            </a:extLst>
          </p:cNvPr>
          <p:cNvSpPr>
            <a:spLocks xmlns:a="http://schemas.openxmlformats.org/drawingml/2006/main" noGrp="1"/>
          </p:cNvSpPr>
          <p:nvPr/>
        </p:nvSpPr>
        <p:spPr>
          <a:xfrm xmlns:a="http://schemas.openxmlformats.org/drawingml/2006/main">
            <a:off x="6115050" y="162877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電網更新及AI擴廠支撐重電需求。先進製程材料則重視技術門檻與客戶認證。</a:t>
            </a:r>
          </a:p>
        </p:txBody>
      </p:sp>
      <p:sp>
        <p:nvSpPr>
          <p:cNvPr id="15369" name="">
            <a:extLst xmlns:a="http://schemas.openxmlformats.org/drawingml/2006/main">
              <a:ext uri="{FF2B5EF4-FFF2-40B4-BE49-F238E27FC236}">
                <a16:creationId xmlns:a16="http://schemas.microsoft.com/office/drawing/2014/main" id="{824040C6-328B-40C3-B404-436C27E34986}"/>
              </a:ext>
            </a:extLst>
          </p:cNvPr>
          <p:cNvSpPr>
            <a:spLocks xmlns:a="http://schemas.openxmlformats.org/drawingml/2006/main" noGrp="1"/>
          </p:cNvSpPr>
          <p:nvPr/>
        </p:nvSpPr>
        <p:spPr>
          <a:xfrm xmlns:a="http://schemas.openxmlformats.org/drawingml/2006/main">
            <a:off x="6115050" y="27527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傳產旺季</a:t>
            </a:r>
          </a:p>
        </p:txBody>
      </p:sp>
      <p:sp>
        <p:nvSpPr>
          <p:cNvPr id="15370" name="">
            <a:extLst xmlns:a="http://schemas.openxmlformats.org/drawingml/2006/main">
              <a:ext uri="{FF2B5EF4-FFF2-40B4-BE49-F238E27FC236}">
                <a16:creationId xmlns:a16="http://schemas.microsoft.com/office/drawing/2014/main" id="{069FD10D-E8D3-4829-BB12-730496016A7C}"/>
              </a:ext>
            </a:extLst>
          </p:cNvPr>
          <p:cNvSpPr>
            <a:spLocks xmlns:a="http://schemas.openxmlformats.org/drawingml/2006/main" noGrp="1"/>
          </p:cNvSpPr>
          <p:nvPr/>
        </p:nvSpPr>
        <p:spPr>
          <a:xfrm xmlns:a="http://schemas.openxmlformats.org/drawingml/2006/main">
            <a:off x="6115050" y="3181350"/>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散裝、鋼鐵與零售留意季節性需求；塑化優先觀察成本轉嫁與轉型，貨櫃及水泥仍審慎。</a:t>
            </a:r>
          </a:p>
        </p:txBody>
      </p:sp>
      <p:sp>
        <p:nvSpPr>
          <p:cNvPr id="15371" name="">
            <a:extLst xmlns:a="http://schemas.openxmlformats.org/drawingml/2006/main">
              <a:ext uri="{FF2B5EF4-FFF2-40B4-BE49-F238E27FC236}">
                <a16:creationId xmlns:a16="http://schemas.microsoft.com/office/drawing/2014/main" id="{9DEEE338-A0B2-4470-9253-CDE52D0261ED}"/>
              </a:ext>
            </a:extLst>
          </p:cNvPr>
          <p:cNvSpPr>
            <a:spLocks xmlns:a="http://schemas.openxmlformats.org/drawingml/2006/main" noGrp="1"/>
          </p:cNvSpPr>
          <p:nvPr/>
        </p:nvSpPr>
        <p:spPr>
          <a:xfrm xmlns:a="http://schemas.openxmlformats.org/drawingml/2006/main">
            <a:off x="6115050" y="430530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94BD"/>
                </a:solidFill>
                <a:latin typeface="微軟正黑體"/>
                <a:ea typeface="微軟正黑體"/>
                <a:cs typeface="微軟正黑體"/>
              </a:defRPr>
            </a:pPr>
            <a:r>
              <a:rPr sz="2100" b="1">
                <a:solidFill>
                  <a:srgbClr val="0094BD"/>
                </a:solidFill>
                <a:latin typeface="微軟正黑體"/>
                <a:ea typeface="微軟正黑體"/>
                <a:cs typeface="微軟正黑體"/>
              </a:rPr>
              <a:t>金融股息</a:t>
            </a:r>
          </a:p>
        </p:txBody>
      </p:sp>
      <p:sp>
        <p:nvSpPr>
          <p:cNvPr id="15372" name="">
            <a:extLst xmlns:a="http://schemas.openxmlformats.org/drawingml/2006/main">
              <a:ext uri="{FF2B5EF4-FFF2-40B4-BE49-F238E27FC236}">
                <a16:creationId xmlns:a16="http://schemas.microsoft.com/office/drawing/2014/main" id="{47D9C1CF-8976-401F-8012-7626434BCE3F}"/>
              </a:ext>
            </a:extLst>
          </p:cNvPr>
          <p:cNvSpPr>
            <a:spLocks xmlns:a="http://schemas.openxmlformats.org/drawingml/2006/main" noGrp="1"/>
          </p:cNvSpPr>
          <p:nvPr/>
        </p:nvSpPr>
        <p:spPr>
          <a:xfrm xmlns:a="http://schemas.openxmlformats.org/drawingml/2006/main">
            <a:off x="6115050" y="4733925"/>
            <a:ext cx="5286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銀行、證券與壽險業務支撐獲利。中期關注配息能力，短期留意年底提存與股息旺季已過。</a:t>
            </a:r>
          </a:p>
        </p:txBody>
      </p:sp>
    </p:spTree>
    <p:extLst>
      <p:ext uri="{BB962C8B-B14F-4D97-AF65-F5344CB8AC3E}">
        <p14:creationId xmlns:p14="http://schemas.microsoft.com/office/powerpoint/2010/main" val="251261530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5362" name="標題 3">
            <a:extLst xmlns:a="http://schemas.openxmlformats.org/drawingml/2006/main">
              <a:ext uri="{FF2B5EF4-FFF2-40B4-BE49-F238E27FC236}">
                <a16:creationId xmlns:a16="http://schemas.microsoft.com/office/drawing/2014/main" id="{D0052553-414B-0149-5353-CA3A7D03E857}"/>
              </a:ext>
            </a:extLst>
          </p:cNvPr>
          <p:cNvSpPr>
            <a:spLocks xmlns:a="http://schemas.openxmlformats.org/drawingml/2006/main" noGrp="1"/>
          </p:cNvSpPr>
          <p:nvPr>
            <p:ph type="title" idx="0"/>
          </p:nvPr>
        </p:nvSpPr>
        <p:spPr>
          <a:xfrm xmlns:a="http://schemas.openxmlformats.org/drawingml/2006/main">
            <a:off x="935999" y="288000"/>
            <a:ext cx="10463999" cy="430887"/>
          </a:xfrm>
        </p:spPr>
        <p:txBody>
          <a:bodyPr xmlns:a="http://schemas.openxmlformats.org/drawingml/2006/main">
            <a:noAutofit/>
          </a:bodyPr>
          <a:lstStyle xmlns:a="http://schemas.openxmlformats.org/drawingml/2006/main"/>
          <a:p xmlns:a="http://schemas.openxmlformats.org/drawingml/2006/main">
            <a:r>
              <a:rPr sz="2800" b="1">
                <a:latin typeface="微軟正黑體"/>
                <a:ea typeface="微軟正黑體"/>
                <a:cs typeface="微軟正黑體"/>
              </a:rPr>
              <a:t>科技配置為主，聚焦四大投資議題</a:t>
            </a:r>
          </a:p>
        </p:txBody>
      </p:sp>
      <p:sp>
        <p:nvSpPr>
          <p:cNvPr id="15363" name="">
            <a:extLst xmlns:a="http://schemas.openxmlformats.org/drawingml/2006/main">
              <a:ext uri="{FF2B5EF4-FFF2-40B4-BE49-F238E27FC236}">
                <a16:creationId xmlns:a16="http://schemas.microsoft.com/office/drawing/2014/main" id="{51D1BB4E-E8B0-4D66-9FE1-274D35B19B11}"/>
              </a:ext>
            </a:extLst>
          </p:cNvPr>
          <p:cNvSpPr>
            <a:spLocks xmlns:a="http://schemas.openxmlformats.org/drawingml/2006/main" noGrp="1"/>
          </p:cNvSpPr>
          <p:nvPr/>
        </p:nvSpPr>
        <p:spPr>
          <a:xfrm xmlns:a="http://schemas.openxmlformats.org/drawingml/2006/main">
            <a:off x="619125" y="61912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06B72"/>
                </a:solidFill>
                <a:latin typeface="微軟正黑體"/>
                <a:ea typeface="微軟正黑體"/>
                <a:cs typeface="微軟正黑體"/>
              </a:defRPr>
            </a:pPr>
            <a:r>
              <a:rPr sz="1125" b="0">
                <a:solidFill>
                  <a:srgbClr val="606B72"/>
                </a:solidFill>
                <a:latin typeface="微軟正黑體"/>
                <a:ea typeface="微軟正黑體"/>
                <a:cs typeface="微軟正黑體"/>
              </a:rPr>
              <a:t>資料來源：富邦投顧，2026/9/30，原報告第2、4頁</a:t>
            </a:r>
          </a:p>
        </p:txBody>
      </p:sp>
      <p:sp>
        <p:nvSpPr>
          <p:cNvPr id="15364" name="">
            <a:extLst xmlns:a="http://schemas.openxmlformats.org/drawingml/2006/main">
              <a:ext uri="{FF2B5EF4-FFF2-40B4-BE49-F238E27FC236}">
                <a16:creationId xmlns:a16="http://schemas.microsoft.com/office/drawing/2014/main" id="{F6EDFE83-3B99-446D-97DF-8EA647191E65}"/>
              </a:ext>
            </a:extLst>
          </p:cNvPr>
          <p:cNvSpPr>
            <a:spLocks xmlns:a="http://schemas.openxmlformats.org/drawingml/2006/main" noGrp="1"/>
          </p:cNvSpPr>
          <p:nvPr/>
        </p:nvSpPr>
        <p:spPr>
          <a:xfrm xmlns:a="http://schemas.openxmlformats.org/drawingml/2006/main">
            <a:off x="714375" y="11525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94BD"/>
                </a:solidFill>
                <a:latin typeface="微軟正黑體"/>
                <a:ea typeface="微軟正黑體"/>
                <a:cs typeface="微軟正黑體"/>
              </a:defRPr>
            </a:pPr>
            <a:r>
              <a:rPr sz="2025" b="1">
                <a:solidFill>
                  <a:srgbClr val="0094BD"/>
                </a:solidFill>
                <a:latin typeface="微軟正黑體"/>
                <a:ea typeface="微軟正黑體"/>
                <a:cs typeface="微軟正黑體"/>
              </a:rPr>
              <a:t>原報告投資組合權重</a:t>
            </a:r>
          </a:p>
        </p:txBody>
      </p:sp>
      <p:graphicFrame>
        <p:nvGraphicFramePr>
          <p:cNvPr id="15379" name="Chart"/>
          <p:cNvGraphicFramePr/>
          <p:nvPr/>
        </p:nvGraphicFramePr>
        <p:xfrm>
          <a:off xmlns:a="http://schemas.openxmlformats.org/drawingml/2006/main" x="685800" y="1828800"/>
          <a:ext xmlns:a="http://schemas.openxmlformats.org/drawingml/2006/main" cx="5000625" cy="3619500"/>
        </p:xfrm>
        <a:graphic xmlns:a="http://schemas.openxmlformats.org/drawingml/2006/main">
          <a:graphicData uri="http://schemas.openxmlformats.org/drawingml/2006/chart">
            <c:chart xmlns:r="http://schemas.openxmlformats.org/officeDocument/2006/relationships" xmlns:c="http://schemas.openxmlformats.org/drawingml/2006/chart" r:id="R823d07ad09044e1e"/>
          </a:graphicData>
        </a:graphic>
      </p:graphicFrame>
      <p:sp>
        <p:nvSpPr>
          <p:cNvPr id="15366" name="">
            <a:extLst xmlns:a="http://schemas.openxmlformats.org/drawingml/2006/main">
              <a:ext uri="{FF2B5EF4-FFF2-40B4-BE49-F238E27FC236}">
                <a16:creationId xmlns:a16="http://schemas.microsoft.com/office/drawing/2014/main" id="{1DEB871F-8B1A-4401-A336-214582AE9D1B}"/>
              </a:ext>
            </a:extLst>
          </p:cNvPr>
          <p:cNvSpPr>
            <a:spLocks xmlns:a="http://schemas.openxmlformats.org/drawingml/2006/main" noGrp="1"/>
          </p:cNvSpPr>
          <p:nvPr/>
        </p:nvSpPr>
        <p:spPr>
          <a:xfrm xmlns:a="http://schemas.openxmlformats.org/drawingml/2006/main">
            <a:off x="809625" y="55530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42A"/>
                </a:solidFill>
                <a:latin typeface="微軟正黑體"/>
                <a:ea typeface="微軟正黑體"/>
                <a:cs typeface="微軟正黑體"/>
              </a:defRPr>
            </a:pPr>
            <a:r>
              <a:rPr sz="1800" b="0">
                <a:solidFill>
                  <a:srgbClr val="17242A"/>
                </a:solidFill>
                <a:latin typeface="微軟正黑體"/>
                <a:ea typeface="微軟正黑體"/>
                <a:cs typeface="微軟正黑體"/>
              </a:rPr>
              <a:t>20檔組合，台積電權重28%</a:t>
            </a:r>
          </a:p>
        </p:txBody>
      </p:sp>
      <p:sp>
        <p:nvSpPr>
          <p:cNvPr id="15367" name="">
            <a:extLst xmlns:a="http://schemas.openxmlformats.org/drawingml/2006/main">
              <a:ext uri="{FF2B5EF4-FFF2-40B4-BE49-F238E27FC236}">
                <a16:creationId xmlns:a16="http://schemas.microsoft.com/office/drawing/2014/main" id="{97C0F250-D91A-4183-ABFF-4EF55EC78371}"/>
              </a:ext>
            </a:extLst>
          </p:cNvPr>
          <p:cNvSpPr>
            <a:spLocks xmlns:a="http://schemas.openxmlformats.org/drawingml/2006/main" noGrp="1"/>
          </p:cNvSpPr>
          <p:nvPr/>
        </p:nvSpPr>
        <p:spPr>
          <a:xfrm xmlns:a="http://schemas.openxmlformats.org/drawingml/2006/main">
            <a:off x="6229350" y="11811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94BD"/>
                </a:solidFill>
                <a:latin typeface="微軟正黑體"/>
                <a:ea typeface="微軟正黑體"/>
                <a:cs typeface="微軟正黑體"/>
              </a:defRPr>
            </a:pPr>
            <a:r>
              <a:rPr sz="2025" b="1">
                <a:solidFill>
                  <a:srgbClr val="0094BD"/>
                </a:solidFill>
                <a:latin typeface="微軟正黑體"/>
                <a:ea typeface="微軟正黑體"/>
                <a:cs typeface="微軟正黑體"/>
              </a:rPr>
              <a:t>訂單外溢</a:t>
            </a:r>
          </a:p>
        </p:txBody>
      </p:sp>
      <p:sp>
        <p:nvSpPr>
          <p:cNvPr id="15368" name="">
            <a:extLst xmlns:a="http://schemas.openxmlformats.org/drawingml/2006/main">
              <a:ext uri="{FF2B5EF4-FFF2-40B4-BE49-F238E27FC236}">
                <a16:creationId xmlns:a16="http://schemas.microsoft.com/office/drawing/2014/main" id="{E8654A44-B83C-4295-BBFD-D3F9B6340660}"/>
              </a:ext>
            </a:extLst>
          </p:cNvPr>
          <p:cNvSpPr>
            <a:spLocks xmlns:a="http://schemas.openxmlformats.org/drawingml/2006/main" noGrp="1"/>
          </p:cNvSpPr>
          <p:nvPr/>
        </p:nvSpPr>
        <p:spPr>
          <a:xfrm xmlns:a="http://schemas.openxmlformats.org/drawingml/2006/main">
            <a:off x="6229350" y="15716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42A"/>
                </a:solidFill>
                <a:latin typeface="微軟正黑體"/>
                <a:ea typeface="微軟正黑體"/>
                <a:cs typeface="微軟正黑體"/>
              </a:defRPr>
            </a:pPr>
            <a:r>
              <a:rPr sz="1875" b="0">
                <a:solidFill>
                  <a:srgbClr val="17242A"/>
                </a:solidFill>
                <a:latin typeface="微軟正黑體"/>
                <a:ea typeface="微軟正黑體"/>
                <a:cs typeface="微軟正黑體"/>
              </a:rPr>
              <a:t>聯發科2454、志聖2467</a:t>
            </a:r>
          </a:p>
        </p:txBody>
      </p:sp>
      <p:sp>
        <p:nvSpPr>
          <p:cNvPr id="15369" name="">
            <a:extLst xmlns:a="http://schemas.openxmlformats.org/drawingml/2006/main">
              <a:ext uri="{FF2B5EF4-FFF2-40B4-BE49-F238E27FC236}">
                <a16:creationId xmlns:a16="http://schemas.microsoft.com/office/drawing/2014/main" id="{F2FEFF12-BCC3-4114-A8AC-228AA93824D8}"/>
              </a:ext>
            </a:extLst>
          </p:cNvPr>
          <p:cNvSpPr>
            <a:spLocks xmlns:a="http://schemas.openxmlformats.org/drawingml/2006/main" noGrp="1"/>
          </p:cNvSpPr>
          <p:nvPr/>
        </p:nvSpPr>
        <p:spPr>
          <a:xfrm xmlns:a="http://schemas.openxmlformats.org/drawingml/2006/main">
            <a:off x="6229350" y="22479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94BD"/>
                </a:solidFill>
                <a:latin typeface="微軟正黑體"/>
                <a:ea typeface="微軟正黑體"/>
                <a:cs typeface="微軟正黑體"/>
              </a:defRPr>
            </a:pPr>
            <a:r>
              <a:rPr sz="2025" b="1">
                <a:solidFill>
                  <a:srgbClr val="0094BD"/>
                </a:solidFill>
                <a:latin typeface="微軟正黑體"/>
                <a:ea typeface="微軟正黑體"/>
                <a:cs typeface="微軟正黑體"/>
              </a:rPr>
              <a:t>AI基建</a:t>
            </a:r>
          </a:p>
        </p:txBody>
      </p:sp>
      <p:sp>
        <p:nvSpPr>
          <p:cNvPr id="15370" name="">
            <a:extLst xmlns:a="http://schemas.openxmlformats.org/drawingml/2006/main">
              <a:ext uri="{FF2B5EF4-FFF2-40B4-BE49-F238E27FC236}">
                <a16:creationId xmlns:a16="http://schemas.microsoft.com/office/drawing/2014/main" id="{E10EC22D-1720-42BC-9772-1293DE93E14C}"/>
              </a:ext>
            </a:extLst>
          </p:cNvPr>
          <p:cNvSpPr>
            <a:spLocks xmlns:a="http://schemas.openxmlformats.org/drawingml/2006/main" noGrp="1"/>
          </p:cNvSpPr>
          <p:nvPr/>
        </p:nvSpPr>
        <p:spPr>
          <a:xfrm xmlns:a="http://schemas.openxmlformats.org/drawingml/2006/main">
            <a:off x="6229350" y="26384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42A"/>
                </a:solidFill>
                <a:latin typeface="微軟正黑體"/>
                <a:ea typeface="微軟正黑體"/>
                <a:cs typeface="微軟正黑體"/>
              </a:defRPr>
            </a:pPr>
            <a:r>
              <a:rPr sz="1875" b="0">
                <a:solidFill>
                  <a:srgbClr val="17242A"/>
                </a:solidFill>
                <a:latin typeface="微軟正黑體"/>
                <a:ea typeface="微軟正黑體"/>
                <a:cs typeface="微軟正黑體"/>
              </a:rPr>
              <a:t>台積電2330、欣興3037</a:t>
            </a:r>
          </a:p>
        </p:txBody>
      </p:sp>
      <p:sp>
        <p:nvSpPr>
          <p:cNvPr id="15371" name="">
            <a:extLst xmlns:a="http://schemas.openxmlformats.org/drawingml/2006/main">
              <a:ext uri="{FF2B5EF4-FFF2-40B4-BE49-F238E27FC236}">
                <a16:creationId xmlns:a16="http://schemas.microsoft.com/office/drawing/2014/main" id="{3DDDF431-A8CC-4685-AFF4-2C4DF906DBC8}"/>
              </a:ext>
            </a:extLst>
          </p:cNvPr>
          <p:cNvSpPr>
            <a:spLocks xmlns:a="http://schemas.openxmlformats.org/drawingml/2006/main" noGrp="1"/>
          </p:cNvSpPr>
          <p:nvPr/>
        </p:nvSpPr>
        <p:spPr>
          <a:xfrm xmlns:a="http://schemas.openxmlformats.org/drawingml/2006/main">
            <a:off x="6229350" y="33147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94BD"/>
                </a:solidFill>
                <a:latin typeface="微軟正黑體"/>
                <a:ea typeface="微軟正黑體"/>
                <a:cs typeface="微軟正黑體"/>
              </a:defRPr>
            </a:pPr>
            <a:r>
              <a:rPr sz="2025" b="1">
                <a:solidFill>
                  <a:srgbClr val="0094BD"/>
                </a:solidFill>
                <a:latin typeface="微軟正黑體"/>
                <a:ea typeface="微軟正黑體"/>
                <a:cs typeface="微軟正黑體"/>
              </a:rPr>
              <a:t>零組件升規</a:t>
            </a:r>
          </a:p>
        </p:txBody>
      </p:sp>
      <p:sp>
        <p:nvSpPr>
          <p:cNvPr id="15372" name="">
            <a:extLst xmlns:a="http://schemas.openxmlformats.org/drawingml/2006/main">
              <a:ext uri="{FF2B5EF4-FFF2-40B4-BE49-F238E27FC236}">
                <a16:creationId xmlns:a16="http://schemas.microsoft.com/office/drawing/2014/main" id="{D5C8582B-FD6F-4BED-BF29-806254C6D8B7}"/>
              </a:ext>
            </a:extLst>
          </p:cNvPr>
          <p:cNvSpPr>
            <a:spLocks xmlns:a="http://schemas.openxmlformats.org/drawingml/2006/main" noGrp="1"/>
          </p:cNvSpPr>
          <p:nvPr/>
        </p:nvSpPr>
        <p:spPr>
          <a:xfrm xmlns:a="http://schemas.openxmlformats.org/drawingml/2006/main">
            <a:off x="6229350" y="37052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42A"/>
                </a:solidFill>
                <a:latin typeface="微軟正黑體"/>
                <a:ea typeface="微軟正黑體"/>
                <a:cs typeface="微軟正黑體"/>
              </a:defRPr>
            </a:pPr>
            <a:r>
              <a:rPr sz="1875" b="0">
                <a:solidFill>
                  <a:srgbClr val="17242A"/>
                </a:solidFill>
                <a:latin typeface="微軟正黑體"/>
                <a:ea typeface="微軟正黑體"/>
                <a:cs typeface="微軟正黑體"/>
              </a:rPr>
              <a:t>奇鋐3017、貿聯-KY3665</a:t>
            </a:r>
          </a:p>
        </p:txBody>
      </p:sp>
      <p:sp>
        <p:nvSpPr>
          <p:cNvPr id="15373" name="">
            <a:extLst xmlns:a="http://schemas.openxmlformats.org/drawingml/2006/main">
              <a:ext uri="{FF2B5EF4-FFF2-40B4-BE49-F238E27FC236}">
                <a16:creationId xmlns:a16="http://schemas.microsoft.com/office/drawing/2014/main" id="{C737FD4E-77DF-44DA-87BC-80DC1111B892}"/>
              </a:ext>
            </a:extLst>
          </p:cNvPr>
          <p:cNvSpPr>
            <a:spLocks xmlns:a="http://schemas.openxmlformats.org/drawingml/2006/main" noGrp="1"/>
          </p:cNvSpPr>
          <p:nvPr/>
        </p:nvSpPr>
        <p:spPr>
          <a:xfrm xmlns:a="http://schemas.openxmlformats.org/drawingml/2006/main">
            <a:off x="6229350" y="43815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94BD"/>
                </a:solidFill>
                <a:latin typeface="微軟正黑體"/>
                <a:ea typeface="微軟正黑體"/>
                <a:cs typeface="微軟正黑體"/>
              </a:defRPr>
            </a:pPr>
            <a:r>
              <a:rPr sz="2025" b="1">
                <a:solidFill>
                  <a:srgbClr val="0094BD"/>
                </a:solidFill>
                <a:latin typeface="微軟正黑體"/>
                <a:ea typeface="微軟正黑體"/>
                <a:cs typeface="微軟正黑體"/>
              </a:rPr>
              <a:t>能源與殖利率</a:t>
            </a:r>
          </a:p>
        </p:txBody>
      </p:sp>
      <p:sp>
        <p:nvSpPr>
          <p:cNvPr id="15374" name="">
            <a:extLst xmlns:a="http://schemas.openxmlformats.org/drawingml/2006/main">
              <a:ext uri="{FF2B5EF4-FFF2-40B4-BE49-F238E27FC236}">
                <a16:creationId xmlns:a16="http://schemas.microsoft.com/office/drawing/2014/main" id="{AC1981E6-9D2A-4B59-A17E-069FD82C631D}"/>
              </a:ext>
            </a:extLst>
          </p:cNvPr>
          <p:cNvSpPr>
            <a:spLocks xmlns:a="http://schemas.openxmlformats.org/drawingml/2006/main" noGrp="1"/>
          </p:cNvSpPr>
          <p:nvPr/>
        </p:nvSpPr>
        <p:spPr>
          <a:xfrm xmlns:a="http://schemas.openxmlformats.org/drawingml/2006/main">
            <a:off x="6229350" y="47720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7242A"/>
                </a:solidFill>
                <a:latin typeface="微軟正黑體"/>
                <a:ea typeface="微軟正黑體"/>
                <a:cs typeface="微軟正黑體"/>
              </a:defRPr>
            </a:pPr>
            <a:r>
              <a:rPr sz="1875" b="0">
                <a:solidFill>
                  <a:srgbClr val="17242A"/>
                </a:solidFill>
                <a:latin typeface="微軟正黑體"/>
                <a:ea typeface="微軟正黑體"/>
                <a:cs typeface="微軟正黑體"/>
              </a:rPr>
              <a:t>華城1519、國泰金2882</a:t>
            </a:r>
          </a:p>
        </p:txBody>
      </p:sp>
      <p:sp>
        <p:nvSpPr>
          <p:cNvPr id="15375" name="">
            <a:extLst xmlns:a="http://schemas.openxmlformats.org/drawingml/2006/main">
              <a:ext uri="{FF2B5EF4-FFF2-40B4-BE49-F238E27FC236}">
                <a16:creationId xmlns:a16="http://schemas.microsoft.com/office/drawing/2014/main" id="{C551205D-444C-456B-A8AF-1A2F20303CA8}"/>
              </a:ext>
            </a:extLst>
          </p:cNvPr>
          <p:cNvSpPr>
            <a:spLocks xmlns:a="http://schemas.openxmlformats.org/drawingml/2006/main" noGrp="1"/>
          </p:cNvSpPr>
          <p:nvPr/>
        </p:nvSpPr>
        <p:spPr>
          <a:xfrm xmlns:a="http://schemas.openxmlformats.org/drawingml/2006/main">
            <a:off x="6229350" y="56197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6747D"/>
                </a:solidFill>
                <a:latin typeface="微軟正黑體"/>
                <a:ea typeface="微軟正黑體"/>
                <a:cs typeface="微軟正黑體"/>
              </a:defRPr>
            </a:pPr>
            <a:r>
              <a:rPr sz="1275" b="0">
                <a:solidFill>
                  <a:srgbClr val="66747D"/>
                </a:solidFill>
                <a:latin typeface="微軟正黑體"/>
                <a:ea typeface="微軟正黑體"/>
                <a:cs typeface="微軟正黑體"/>
              </a:rPr>
              <a:t>原報告推薦標的節選；非完整投資組合</a:t>
            </a:r>
          </a:p>
        </p:txBody>
      </p:sp>
    </p:spTree>
    <p:extLst>
      <p:ext uri="{BB962C8B-B14F-4D97-AF65-F5344CB8AC3E}">
        <p14:creationId xmlns:p14="http://schemas.microsoft.com/office/powerpoint/2010/main" val="251261530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標題 2">
            <a:extLst xmlns:a="http://schemas.openxmlformats.org/drawingml/2006/main">
              <a:ext uri="{FF2B5EF4-FFF2-40B4-BE49-F238E27FC236}">
                <a16:creationId xmlns:a16="http://schemas.microsoft.com/office/drawing/2014/main" id="{5F5E8134-2E7A-048E-6975-EE607471C23C}"/>
              </a:ext>
            </a:extLst>
          </p:cNvPr>
          <p:cNvSpPr>
            <a:spLocks xmlns:a="http://schemas.openxmlformats.org/drawingml/2006/main" noGrp="1"/>
          </p:cNvSpPr>
          <p:nvPr>
            <p:ph type="title" idx="0"/>
          </p:nvPr>
        </p:nvSpPr>
        <p:spPr>
          <a:xfrm xmlns:a="http://schemas.openxmlformats.org/drawingml/2006/main">
            <a:off x="3986783" y="2282320"/>
            <a:ext cx="4233673" cy="659975"/>
          </a:xfrm>
        </p:spPr>
        <p:txBody>
          <a:bodyPr xmlns:a="http://schemas.openxmlformats.org/drawingml/2006/main">
            <a:normAutofit/>
          </a:bodyPr>
          <a:lstStyle xmlns:a="http://schemas.openxmlformats.org/drawingml/2006/main"/>
          <a:p xmlns:a="http://schemas.openxmlformats.org/drawingml/2006/main">
            <a:pPr algn="ctr">
              <a:buNone/>
            </a:pPr>
            <a:r>
              <a:rPr sz="3600" b="1">
                <a:latin typeface="微軟正黑體"/>
                <a:ea typeface="微軟正黑體"/>
                <a:cs typeface="微軟正黑體"/>
              </a:rPr>
              <a:t>簡報完畢  敬請指教</a:t>
            </a:r>
            <a:endParaRPr sz="3600" b="1"/>
          </a:p>
        </p:txBody>
      </p:sp>
      <p:sp>
        <p:nvSpPr>
          <p:cNvPr id="4" name="圖片版面配置區 3">
            <a:extLst xmlns:a="http://schemas.openxmlformats.org/drawingml/2006/main">
              <a:ext uri="{FF2B5EF4-FFF2-40B4-BE49-F238E27FC236}">
                <a16:creationId xmlns:a16="http://schemas.microsoft.com/office/drawing/2014/main" id="{C4A876E1-7180-4B16-51D5-0B64EBEF3340}"/>
              </a:ext>
            </a:extLst>
          </p:cNvPr>
          <p:cNvSpPr>
            <a:spLocks xmlns:a="http://schemas.openxmlformats.org/drawingml/2006/main" noGrp="1"/>
          </p:cNvSpPr>
          <p:nvPr>
            <p:ph type="pic" idx="29"/>
          </p:nvPr>
        </p:nvSpPr>
        <p:spPr/>
        <p:txBody>
          <a:bodyPr xmlns:a="http://schemas.openxmlformats.org/drawingml/2006/main"/>
          <a:lstStyle xmlns:a="http://schemas.openxmlformats.org/drawingml/2006/main"/>
          <a:p xmlns:a="http://schemas.openxmlformats.org/drawingml/2006/main">
            <a:endParaRPr/>
          </a:p>
        </p:txBody>
      </p:sp>
      <p:sp>
        <p:nvSpPr>
          <p:cNvPr id="5" name="">
            <a:extLst xmlns:a="http://schemas.openxmlformats.org/drawingml/2006/main">
              <a:ext uri="{FF2B5EF4-FFF2-40B4-BE49-F238E27FC236}">
                <a16:creationId xmlns:a16="http://schemas.microsoft.com/office/drawing/2014/main" id="{80F3CE60-8091-4467-9C9A-3996FFB2B1C8}"/>
              </a:ext>
            </a:extLst>
          </p:cNvPr>
          <p:cNvSpPr>
            <a:spLocks xmlns:a="http://schemas.openxmlformats.org/drawingml/2006/main" noGrp="1"/>
          </p:cNvSpPr>
          <p:nvPr/>
        </p:nvSpPr>
        <p:spPr>
          <a:xfrm xmlns:a="http://schemas.openxmlformats.org/drawingml/2006/main">
            <a:off x="3524250" y="33718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8EB2"/>
                </a:solidFill>
                <a:latin typeface="微軟正黑體"/>
                <a:ea typeface="微軟正黑體"/>
                <a:cs typeface="微軟正黑體"/>
              </a:defRPr>
            </a:pPr>
            <a:r>
              <a:rPr sz="1950" b="1">
                <a:solidFill>
                  <a:srgbClr val="008EB2"/>
                </a:solidFill>
                <a:latin typeface="微軟正黑體"/>
                <a:ea typeface="微軟正黑體"/>
                <a:cs typeface="微軟正黑體"/>
              </a:rPr>
              <a:t>報告觀點截至2026年9月30日</a:t>
            </a:r>
          </a:p>
        </p:txBody>
      </p:sp>
      <p:sp>
        <p:nvSpPr>
          <p:cNvPr id="6" name="">
            <a:extLst xmlns:a="http://schemas.openxmlformats.org/drawingml/2006/main">
              <a:ext uri="{FF2B5EF4-FFF2-40B4-BE49-F238E27FC236}">
                <a16:creationId xmlns:a16="http://schemas.microsoft.com/office/drawing/2014/main" id="{1D49EB38-3785-4078-92D9-2A719CB508EF}"/>
              </a:ext>
            </a:extLst>
          </p:cNvPr>
          <p:cNvSpPr>
            <a:spLocks xmlns:a="http://schemas.openxmlformats.org/drawingml/2006/main" noGrp="1"/>
          </p:cNvSpPr>
          <p:nvPr/>
        </p:nvSpPr>
        <p:spPr>
          <a:xfrm xmlns:a="http://schemas.openxmlformats.org/drawingml/2006/main">
            <a:off x="3524250" y="3876675"/>
            <a:ext cx="781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26574"/>
                </a:solidFill>
                <a:latin typeface="微軟正黑體"/>
                <a:ea typeface="微軟正黑體"/>
                <a:cs typeface="微軟正黑體"/>
              </a:defRPr>
            </a:pPr>
            <a:r>
              <a:rPr sz="1650" b="0">
                <a:solidFill>
                  <a:srgbClr val="526574"/>
                </a:solidFill>
                <a:latin typeface="微軟正黑體"/>
                <a:ea typeface="微軟正黑體"/>
                <a:cs typeface="微軟正黑體"/>
              </a:rPr>
              <a:t>內容僅供參考，不構成個別投資建議。</a:t>
            </a:r>
          </a:p>
          <a:p xmlns:a="http://schemas.openxmlformats.org/drawingml/2006/main">
            <a:pPr>
              <a:defRPr sz="1650" b="0">
                <a:solidFill>
                  <a:srgbClr val="526574"/>
                </a:solidFill>
                <a:latin typeface="微軟正黑體"/>
                <a:ea typeface="微軟正黑體"/>
                <a:cs typeface="微軟正黑體"/>
              </a:defRPr>
            </a:pPr>
            <a:r>
              <a:rPr sz="1650" b="0">
                <a:solidFill>
                  <a:srgbClr val="526574"/>
                </a:solidFill>
                <a:latin typeface="微軟正黑體"/>
                <a:ea typeface="微軟正黑體"/>
                <a:cs typeface="微軟正黑體"/>
              </a:rPr>
              <a:t>未考量個別投資目標與財務狀況；預測不保證實現。</a:t>
            </a:r>
          </a:p>
          <a:p xmlns:a="http://schemas.openxmlformats.org/drawingml/2006/main">
            <a:pPr>
              <a:defRPr sz="1650" b="0">
                <a:solidFill>
                  <a:srgbClr val="526574"/>
                </a:solidFill>
                <a:latin typeface="微軟正黑體"/>
                <a:ea typeface="微軟正黑體"/>
                <a:cs typeface="微軟正黑體"/>
              </a:defRPr>
            </a:pPr>
            <a:r>
              <a:rPr sz="1650" b="0">
                <a:solidFill>
                  <a:srgbClr val="526574"/>
                </a:solidFill>
                <a:latin typeface="微軟正黑體"/>
                <a:ea typeface="微軟正黑體"/>
                <a:cs typeface="微軟正黑體"/>
              </a:rPr>
              <a:t>本公司及關係企業可能持有所述證券或提供相關服務。</a:t>
            </a:r>
          </a:p>
          <a:p xmlns:a="http://schemas.openxmlformats.org/drawingml/2006/main">
            <a:pPr>
              <a:defRPr sz="1650" b="0">
                <a:solidFill>
                  <a:srgbClr val="526574"/>
                </a:solidFill>
                <a:latin typeface="微軟正黑體"/>
                <a:ea typeface="微軟正黑體"/>
                <a:cs typeface="微軟正黑體"/>
              </a:defRPr>
            </a:pPr>
            <a:r>
              <a:rPr sz="1650" b="0">
                <a:solidFill>
                  <a:srgbClr val="526574"/>
                </a:solidFill>
                <a:latin typeface="微軟正黑體"/>
                <a:ea typeface="微軟正黑體"/>
                <a:cs typeface="微軟正黑體"/>
              </a:rPr>
              <a:t>富邦投顧保留著作權，未經授權不得轉載或轉寄。</a:t>
            </a:r>
          </a:p>
        </p:txBody>
      </p:sp>
    </p:spTree>
    <p:extLst>
      <p:ext uri="{BB962C8B-B14F-4D97-AF65-F5344CB8AC3E}">
        <p14:creationId xmlns:p14="http://schemas.microsoft.com/office/powerpoint/2010/main" val="2197915281"/>
      </p:ext>
    </p:extLst>
  </p:cSld>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2026-10-06T00:53:25.6360000Z</dcterms:created>
  <dcterms:modified xsi:type="dcterms:W3CDTF">2026-10-06T00:53:25.6360000Z</dcterms:modified>
</coreProperties>
</file>